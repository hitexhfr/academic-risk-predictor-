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embeddedFontLst>
    <p:embeddedFont>
      <p:font typeface="Play" panose="020B0604020202020204" charset="0"/>
      <p:regular r:id="rId18"/>
      <p:bold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3" roundtripDataSignature="AMtx7mgUjLHjg5Ww669CzF2YAF6lFhFT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4660"/>
  </p:normalViewPr>
  <p:slideViewPr>
    <p:cSldViewPr snapToGrid="0">
      <p:cViewPr varScale="1">
        <p:scale>
          <a:sx n="78" d="100"/>
          <a:sy n="78" d="100"/>
        </p:scale>
        <p:origin x="103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font" Target="fonts/font2.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43"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 name="Google Shape;10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2" name="Google Shape;302;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3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0" name="Google Shape;20;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34"/>
          <p:cNvSpPr txBox="1">
            <a:spLocks noGrp="1"/>
          </p:cNvSpPr>
          <p:nvPr>
            <p:ph type="title"/>
          </p:nvPr>
        </p:nvSpPr>
        <p:spPr>
          <a:xfrm>
            <a:off x="838199" y="932659"/>
            <a:ext cx="10914195"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34"/>
          <p:cNvSpPr txBox="1">
            <a:spLocks noGrp="1"/>
          </p:cNvSpPr>
          <p:nvPr>
            <p:ph type="body" idx="1"/>
          </p:nvPr>
        </p:nvSpPr>
        <p:spPr>
          <a:xfrm>
            <a:off x="836425" y="2297668"/>
            <a:ext cx="10914195" cy="40586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29" name="Google Shape;29;p34" descr="Top Private University in India | MBA, BBA, B.Tech ..."/>
          <p:cNvPicPr preferRelativeResize="0"/>
          <p:nvPr/>
        </p:nvPicPr>
        <p:blipFill rotWithShape="1">
          <a:blip r:embed="rId2">
            <a:alphaModFix/>
          </a:blip>
          <a:srcRect/>
          <a:stretch/>
        </p:blipFill>
        <p:spPr>
          <a:xfrm>
            <a:off x="144017" y="208994"/>
            <a:ext cx="2347573" cy="781607"/>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8"/>
        <p:cNvGrpSpPr/>
        <p:nvPr/>
      </p:nvGrpSpPr>
      <p:grpSpPr>
        <a:xfrm>
          <a:off x="0" y="0"/>
          <a:ext cx="0" cy="0"/>
          <a:chOff x="0" y="0"/>
          <a:chExt cx="0" cy="0"/>
        </a:xfrm>
      </p:grpSpPr>
      <p:sp>
        <p:nvSpPr>
          <p:cNvPr id="39" name="Google Shape;39;p3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3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41" name="Google Shape;41;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44" name="Google Shape;44;p36" descr="Top Private University in India | MBA, BBA, B.Tech ..."/>
          <p:cNvPicPr preferRelativeResize="0"/>
          <p:nvPr/>
        </p:nvPicPr>
        <p:blipFill rotWithShape="1">
          <a:blip r:embed="rId2">
            <a:alphaModFix/>
          </a:blip>
          <a:srcRect/>
          <a:stretch/>
        </p:blipFill>
        <p:spPr>
          <a:xfrm>
            <a:off x="144017" y="208994"/>
            <a:ext cx="2347573" cy="781607"/>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37"/>
          <p:cNvSpPr txBox="1">
            <a:spLocks noGrp="1"/>
          </p:cNvSpPr>
          <p:nvPr>
            <p:ph type="title"/>
          </p:nvPr>
        </p:nvSpPr>
        <p:spPr>
          <a:xfrm>
            <a:off x="839788" y="747899"/>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3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8" name="Google Shape;48;p3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3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0" name="Google Shape;50;p3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54" name="Google Shape;54;p37" descr="Top Private University in India | MBA, BBA, B.Tech ..."/>
          <p:cNvPicPr preferRelativeResize="0"/>
          <p:nvPr/>
        </p:nvPicPr>
        <p:blipFill rotWithShape="1">
          <a:blip r:embed="rId2">
            <a:alphaModFix/>
          </a:blip>
          <a:srcRect/>
          <a:stretch/>
        </p:blipFill>
        <p:spPr>
          <a:xfrm>
            <a:off x="144017" y="208994"/>
            <a:ext cx="2347573" cy="781607"/>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38"/>
          <p:cNvSpPr txBox="1">
            <a:spLocks noGrp="1"/>
          </p:cNvSpPr>
          <p:nvPr>
            <p:ph type="title"/>
          </p:nvPr>
        </p:nvSpPr>
        <p:spPr>
          <a:xfrm>
            <a:off x="838199" y="932659"/>
            <a:ext cx="10914195"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60" name="Google Shape;60;p38" descr="Top Private University in India | MBA, BBA, B.Tech ..."/>
          <p:cNvPicPr preferRelativeResize="0"/>
          <p:nvPr/>
        </p:nvPicPr>
        <p:blipFill rotWithShape="1">
          <a:blip r:embed="rId2">
            <a:alphaModFix/>
          </a:blip>
          <a:srcRect/>
          <a:stretch/>
        </p:blipFill>
        <p:spPr>
          <a:xfrm>
            <a:off x="144017" y="208994"/>
            <a:ext cx="2347573" cy="781607"/>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1"/>
        <p:cNvGrpSpPr/>
        <p:nvPr/>
      </p:nvGrpSpPr>
      <p:grpSpPr>
        <a:xfrm>
          <a:off x="0" y="0"/>
          <a:ext cx="0" cy="0"/>
          <a:chOff x="0" y="0"/>
          <a:chExt cx="0" cy="0"/>
        </a:xfrm>
      </p:grpSpPr>
      <p:sp>
        <p:nvSpPr>
          <p:cNvPr id="62" name="Google Shape;62;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65" name="Google Shape;65;p39" descr="Top Private University in India | MBA, BBA, B.Tech ..."/>
          <p:cNvPicPr preferRelativeResize="0"/>
          <p:nvPr/>
        </p:nvPicPr>
        <p:blipFill rotWithShape="1">
          <a:blip r:embed="rId2">
            <a:alphaModFix/>
          </a:blip>
          <a:srcRect/>
          <a:stretch/>
        </p:blipFill>
        <p:spPr>
          <a:xfrm>
            <a:off x="144017" y="208994"/>
            <a:ext cx="2347573" cy="781607"/>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6"/>
        <p:cNvGrpSpPr/>
        <p:nvPr/>
      </p:nvGrpSpPr>
      <p:grpSpPr>
        <a:xfrm>
          <a:off x="0" y="0"/>
          <a:ext cx="0" cy="0"/>
          <a:chOff x="0" y="0"/>
          <a:chExt cx="0" cy="0"/>
        </a:xfrm>
      </p:grpSpPr>
      <p:sp>
        <p:nvSpPr>
          <p:cNvPr id="67" name="Google Shape;67;p40"/>
          <p:cNvSpPr txBox="1">
            <a:spLocks noGrp="1"/>
          </p:cNvSpPr>
          <p:nvPr>
            <p:ph type="title"/>
          </p:nvPr>
        </p:nvSpPr>
        <p:spPr>
          <a:xfrm>
            <a:off x="839788" y="987424"/>
            <a:ext cx="3932237" cy="106997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4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9" name="Google Shape;69;p4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73" name="Google Shape;73;p40" descr="Top Private University in India | MBA, BBA, B.Tech ..."/>
          <p:cNvPicPr preferRelativeResize="0"/>
          <p:nvPr/>
        </p:nvPicPr>
        <p:blipFill rotWithShape="1">
          <a:blip r:embed="rId2">
            <a:alphaModFix/>
          </a:blip>
          <a:srcRect/>
          <a:stretch/>
        </p:blipFill>
        <p:spPr>
          <a:xfrm>
            <a:off x="144017" y="208994"/>
            <a:ext cx="2347573" cy="781607"/>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4"/>
        <p:cNvGrpSpPr/>
        <p:nvPr/>
      </p:nvGrpSpPr>
      <p:grpSpPr>
        <a:xfrm>
          <a:off x="0" y="0"/>
          <a:ext cx="0" cy="0"/>
          <a:chOff x="0" y="0"/>
          <a:chExt cx="0" cy="0"/>
        </a:xfrm>
      </p:grpSpPr>
      <p:sp>
        <p:nvSpPr>
          <p:cNvPr id="75" name="Google Shape;75;p41"/>
          <p:cNvSpPr txBox="1">
            <a:spLocks noGrp="1"/>
          </p:cNvSpPr>
          <p:nvPr>
            <p:ph type="title"/>
          </p:nvPr>
        </p:nvSpPr>
        <p:spPr>
          <a:xfrm>
            <a:off x="839788" y="987424"/>
            <a:ext cx="3932237" cy="106997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41"/>
          <p:cNvSpPr>
            <a:spLocks noGrp="1"/>
          </p:cNvSpPr>
          <p:nvPr>
            <p:ph type="pic" idx="2"/>
          </p:nvPr>
        </p:nvSpPr>
        <p:spPr>
          <a:xfrm>
            <a:off x="5183188" y="987425"/>
            <a:ext cx="6172200" cy="4873625"/>
          </a:xfrm>
          <a:prstGeom prst="rect">
            <a:avLst/>
          </a:prstGeom>
          <a:noFill/>
          <a:ln>
            <a:noFill/>
          </a:ln>
        </p:spPr>
      </p:sp>
      <p:sp>
        <p:nvSpPr>
          <p:cNvPr id="77" name="Google Shape;77;p4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8" name="Google Shape;78;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81" name="Google Shape;81;p41" descr="Top Private University in India | MBA, BBA, B.Tech ..."/>
          <p:cNvPicPr preferRelativeResize="0"/>
          <p:nvPr/>
        </p:nvPicPr>
        <p:blipFill rotWithShape="1">
          <a:blip r:embed="rId2">
            <a:alphaModFix/>
          </a:blip>
          <a:srcRect/>
          <a:stretch/>
        </p:blipFill>
        <p:spPr>
          <a:xfrm>
            <a:off x="144017" y="208994"/>
            <a:ext cx="2347573" cy="781607"/>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2"/>
        <p:cNvGrpSpPr/>
        <p:nvPr/>
      </p:nvGrpSpPr>
      <p:grpSpPr>
        <a:xfrm>
          <a:off x="0" y="0"/>
          <a:ext cx="0" cy="0"/>
          <a:chOff x="0" y="0"/>
          <a:chExt cx="0" cy="0"/>
        </a:xfrm>
      </p:grpSpPr>
      <p:sp>
        <p:nvSpPr>
          <p:cNvPr id="83" name="Google Shape;83;p42"/>
          <p:cNvSpPr txBox="1">
            <a:spLocks noGrp="1"/>
          </p:cNvSpPr>
          <p:nvPr>
            <p:ph type="title"/>
          </p:nvPr>
        </p:nvSpPr>
        <p:spPr>
          <a:xfrm>
            <a:off x="838199" y="932659"/>
            <a:ext cx="10914195"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42"/>
          <p:cNvSpPr txBox="1">
            <a:spLocks noGrp="1"/>
          </p:cNvSpPr>
          <p:nvPr>
            <p:ph type="body" idx="1"/>
          </p:nvPr>
        </p:nvSpPr>
        <p:spPr>
          <a:xfrm rot="5400000">
            <a:off x="4264182" y="-1130089"/>
            <a:ext cx="4058682" cy="1091419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88" name="Google Shape;88;p42" descr="Top Private University in India | MBA, BBA, B.Tech ..."/>
          <p:cNvPicPr preferRelativeResize="0"/>
          <p:nvPr/>
        </p:nvPicPr>
        <p:blipFill rotWithShape="1">
          <a:blip r:embed="rId2">
            <a:alphaModFix/>
          </a:blip>
          <a:srcRect/>
          <a:stretch/>
        </p:blipFill>
        <p:spPr>
          <a:xfrm>
            <a:off x="144017" y="208994"/>
            <a:ext cx="2347573" cy="781607"/>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9"/>
        <p:cNvGrpSpPr/>
        <p:nvPr/>
      </p:nvGrpSpPr>
      <p:grpSpPr>
        <a:xfrm>
          <a:off x="0" y="0"/>
          <a:ext cx="0" cy="0"/>
          <a:chOff x="0" y="0"/>
          <a:chExt cx="0" cy="0"/>
        </a:xfrm>
      </p:grpSpPr>
      <p:sp>
        <p:nvSpPr>
          <p:cNvPr id="90" name="Google Shape;90;p43"/>
          <p:cNvSpPr txBox="1">
            <a:spLocks noGrp="1"/>
          </p:cNvSpPr>
          <p:nvPr>
            <p:ph type="title"/>
          </p:nvPr>
        </p:nvSpPr>
        <p:spPr>
          <a:xfrm rot="5400000">
            <a:off x="7446169" y="2269331"/>
            <a:ext cx="5186363"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43"/>
          <p:cNvSpPr txBox="1">
            <a:spLocks noGrp="1"/>
          </p:cNvSpPr>
          <p:nvPr>
            <p:ph type="body" idx="1"/>
          </p:nvPr>
        </p:nvSpPr>
        <p:spPr>
          <a:xfrm rot="5400000">
            <a:off x="2112169" y="-283368"/>
            <a:ext cx="5186362"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95" name="Google Shape;95;p43" descr="Top Private University in India | MBA, BBA, B.Tech ..."/>
          <p:cNvPicPr preferRelativeResize="0"/>
          <p:nvPr/>
        </p:nvPicPr>
        <p:blipFill rotWithShape="1">
          <a:blip r:embed="rId2">
            <a:alphaModFix/>
          </a:blip>
          <a:srcRect/>
          <a:stretch/>
        </p:blipFill>
        <p:spPr>
          <a:xfrm>
            <a:off x="144017" y="208994"/>
            <a:ext cx="2347573" cy="781607"/>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2"/>
          <p:cNvSpPr txBox="1">
            <a:spLocks noGrp="1"/>
          </p:cNvSpPr>
          <p:nvPr>
            <p:ph type="title"/>
          </p:nvPr>
        </p:nvSpPr>
        <p:spPr>
          <a:xfrm>
            <a:off x="838199" y="932659"/>
            <a:ext cx="10914195"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2"/>
          <p:cNvSpPr txBox="1">
            <a:spLocks noGrp="1"/>
          </p:cNvSpPr>
          <p:nvPr>
            <p:ph type="body" idx="1"/>
          </p:nvPr>
        </p:nvSpPr>
        <p:spPr>
          <a:xfrm>
            <a:off x="836425" y="2297668"/>
            <a:ext cx="10914195" cy="4058682"/>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5" name="Google Shape;15;p32" descr="Top Private University in India | MBA, BBA, B.Tech ..."/>
          <p:cNvPicPr preferRelativeResize="0"/>
          <p:nvPr/>
        </p:nvPicPr>
        <p:blipFill rotWithShape="1">
          <a:blip r:embed="rId12">
            <a:alphaModFix/>
          </a:blip>
          <a:srcRect/>
          <a:stretch/>
        </p:blipFill>
        <p:spPr>
          <a:xfrm>
            <a:off x="144017" y="208994"/>
            <a:ext cx="2347573" cy="781607"/>
          </a:xfrm>
          <a:prstGeom prst="rect">
            <a:avLst/>
          </a:prstGeom>
          <a:noFill/>
          <a:ln>
            <a:noFill/>
          </a:ln>
        </p:spPr>
      </p:pic>
      <p:pic>
        <p:nvPicPr>
          <p:cNvPr id="16" name="Google Shape;16;p32"/>
          <p:cNvPicPr preferRelativeResize="0"/>
          <p:nvPr/>
        </p:nvPicPr>
        <p:blipFill rotWithShape="1">
          <a:blip r:embed="rId13">
            <a:alphaModFix amt="7000"/>
          </a:blip>
          <a:srcRect/>
          <a:stretch/>
        </p:blipFill>
        <p:spPr>
          <a:xfrm>
            <a:off x="1236794" y="2297668"/>
            <a:ext cx="9718411" cy="272115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Grp"/>
        <p:cNvGrpSpPr/>
        <p:nvPr/>
      </p:nvGrpSpPr>
      <p:grpSpPr>
        <a:xfrm>
          <a:off x="0" y="0"/>
          <a:ext cx="0" cy="0"/>
          <a:chOff x="0" y="0"/>
          <a:chExt cx="0" cy="0"/>
        </a:xfrm>
      </p:grpSpPr>
      <p:sp>
        <p:nvSpPr>
          <p:cNvPr id="10" name="DarkBg"/>
          <p:cNvSpPr txBox="1">
            <a:spLocks/>
          </p:cNvSpPr>
          <p:nvPr/>
        </p:nvSpPr>
        <p:spPr>
          <a:xfrm>
            <a:off x="0" y="0"/>
            <a:ext cx="12188952" cy="6858000"/>
          </a:xfrm>
          <a:prstGeom prst="rect">
            <a:avLst/>
          </a:prstGeom>
          <a:solidFill>
            <a:srgbClr val="1C2B4A"/>
          </a:solidFill>
          <a:ln>
            <a:solidFill>
              <a:srgbClr val="1C2B4A"/>
            </a:solidFill>
          </a:ln>
        </p:spPr>
      </p:sp>
      <p:sp>
        <p:nvSpPr>
          <p:cNvPr id="11" name="AccentPanel"/>
          <p:cNvSpPr txBox="1">
            <a:spLocks/>
          </p:cNvSpPr>
          <p:nvPr/>
        </p:nvSpPr>
        <p:spPr>
          <a:xfrm>
            <a:off x="0" y="0"/>
            <a:ext cx="164592" cy="6858000"/>
          </a:xfrm>
          <a:prstGeom prst="rect">
            <a:avLst/>
          </a:prstGeom>
          <a:solidFill>
            <a:srgbClr val="8B0000"/>
          </a:solidFill>
          <a:ln>
            <a:solidFill>
              <a:srgbClr val="8B0000"/>
            </a:solidFill>
          </a:ln>
        </p:spPr>
      </p:sp>
      <p:sp>
        <p:nvSpPr>
          <p:cNvPr id="12" name="GoldTop"/>
          <p:cNvSpPr txBox="1">
            <a:spLocks/>
          </p:cNvSpPr>
          <p:nvPr/>
        </p:nvSpPr>
        <p:spPr>
          <a:xfrm>
            <a:off x="164592" y="0"/>
            <a:ext cx="12024360" cy="64008"/>
          </a:xfrm>
          <a:prstGeom prst="rect">
            <a:avLst/>
          </a:prstGeom>
          <a:solidFill>
            <a:srgbClr val="C8973A"/>
          </a:solidFill>
          <a:ln>
            <a:solidFill>
              <a:srgbClr val="C8973A"/>
            </a:solidFill>
          </a:ln>
        </p:spPr>
      </p:sp>
      <p:sp>
        <p:nvSpPr>
          <p:cNvPr id="13" name="Label"/>
          <p:cNvSpPr txBox="1">
            <a:spLocks/>
          </p:cNvSpPr>
          <p:nvPr/>
        </p:nvSpPr>
        <p:spPr>
          <a:xfrm>
            <a:off x="3474720" y="201168"/>
            <a:ext cx="5239512" cy="384048"/>
          </a:xfrm>
          <a:prstGeom prst="roundRect">
            <a:avLst>
              <a:gd name="adj" fmla="val 20000"/>
            </a:avLst>
          </a:prstGeom>
          <a:solidFill>
            <a:srgbClr val="2A3F65"/>
          </a:solidFill>
          <a:ln>
            <a:solidFill>
              <a:srgbClr val="2A3F65"/>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1" dirty="0">
                <a:solidFill>
                  <a:srgbClr val="C8973A"/>
                </a:solidFill>
                <a:latin typeface="Calibri"/>
                <a:ea typeface="Calibri"/>
                <a:cs typeface="Calibri"/>
                <a:sym typeface="Calibri"/>
              </a:rPr>
              <a:t>Minor Project </a:t>
            </a:r>
          </a:p>
        </p:txBody>
      </p:sp>
      <p:sp>
        <p:nvSpPr>
          <p:cNvPr id="14" name="IILM"/>
          <p:cNvSpPr txBox="1">
            <a:spLocks/>
          </p:cNvSpPr>
          <p:nvPr/>
        </p:nvSpPr>
        <p:spPr>
          <a:xfrm>
            <a:off x="9052560" y="137160"/>
            <a:ext cx="2926080" cy="411480"/>
          </a:xfrm>
          <a:prstGeom prst="rect">
            <a:avLst/>
          </a:prstGeom>
          <a:noFill/>
          <a:ln>
            <a:noFill/>
          </a:ln>
        </p:spPr>
        <p:txBody>
          <a:bodyPr spcFirstLastPara="0" wrap="square" lIns="91425" tIns="45700" rIns="91425" bIns="45700" anchor="ctr" anchorCtr="0">
            <a:normAutofit/>
          </a:bodyPr>
          <a:lstStyle/>
          <a:p>
            <a:pPr marL="0" indent="0" algn="r">
              <a:lnSpc>
                <a:spcPct val="90000"/>
              </a:lnSpc>
              <a:spcBef>
                <a:spcPts val="200"/>
              </a:spcBef>
              <a:spcAft>
                <a:spcPts val="0"/>
              </a:spcAft>
              <a:buNone/>
            </a:pPr>
            <a:r>
              <a:rPr lang="en-US" sz="1300" b="0" i="1" dirty="0">
                <a:solidFill>
                  <a:srgbClr val="8A9BB0"/>
                </a:solidFill>
                <a:latin typeface="Calibri"/>
                <a:ea typeface="Calibri"/>
                <a:cs typeface="Calibri"/>
                <a:sym typeface="Calibri"/>
              </a:rPr>
              <a:t>IILM University, Greater Noida</a:t>
            </a:r>
          </a:p>
        </p:txBody>
      </p:sp>
      <p:sp>
        <p:nvSpPr>
          <p:cNvPr id="15" name="School"/>
          <p:cNvSpPr txBox="1">
            <a:spLocks/>
          </p:cNvSpPr>
          <p:nvPr/>
        </p:nvSpPr>
        <p:spPr>
          <a:xfrm>
            <a:off x="457200" y="868680"/>
            <a:ext cx="11430000" cy="502920"/>
          </a:xfrm>
          <a:prstGeom prst="rect">
            <a:avLst/>
          </a:prstGeom>
          <a:noFill/>
          <a:ln>
            <a:noFill/>
          </a:ln>
        </p:spPr>
        <p:txBody>
          <a:bodyPr spcFirstLastPara="0" wrap="square" lIns="91425" tIns="45700" rIns="91425" bIns="45700" anchor="ctr" anchorCtr="0">
            <a:normAutofit/>
          </a:bodyPr>
          <a:lstStyle/>
          <a:p>
            <a:pPr marL="0" indent="0" algn="ctr">
              <a:lnSpc>
                <a:spcPct val="90000"/>
              </a:lnSpc>
              <a:spcBef>
                <a:spcPts val="200"/>
              </a:spcBef>
              <a:spcAft>
                <a:spcPts val="0"/>
              </a:spcAft>
              <a:buNone/>
            </a:pPr>
            <a:r>
              <a:rPr lang="en-US" sz="2000" b="0" dirty="0">
                <a:solidFill>
                  <a:srgbClr val="8A9BB0"/>
                </a:solidFill>
                <a:latin typeface="Calibri"/>
                <a:ea typeface="Calibri"/>
                <a:cs typeface="Calibri"/>
                <a:sym typeface="Calibri"/>
              </a:rPr>
              <a:t>School of Computer Science and Engineering</a:t>
            </a:r>
          </a:p>
        </p:txBody>
      </p:sp>
      <p:sp>
        <p:nvSpPr>
          <p:cNvPr id="16" name="BigTitle"/>
          <p:cNvSpPr txBox="1">
            <a:spLocks/>
          </p:cNvSpPr>
          <p:nvPr/>
        </p:nvSpPr>
        <p:spPr>
          <a:xfrm>
            <a:off x="365760" y="1417320"/>
            <a:ext cx="11457432" cy="2286000"/>
          </a:xfrm>
          <a:prstGeom prst="rect">
            <a:avLst/>
          </a:prstGeom>
          <a:noFill/>
          <a:ln>
            <a:noFill/>
          </a:ln>
        </p:spPr>
        <p:txBody>
          <a:bodyPr spcFirstLastPara="0" wrap="square" lIns="91425" tIns="45700" rIns="91425" bIns="45700" anchor="ctr" anchorCtr="0">
            <a:normAutofit/>
          </a:bodyPr>
          <a:lstStyle/>
          <a:p>
            <a:pPr marL="0" indent="0" algn="ctr">
              <a:lnSpc>
                <a:spcPct val="90000"/>
              </a:lnSpc>
              <a:spcBef>
                <a:spcPts val="0"/>
              </a:spcBef>
              <a:spcAft>
                <a:spcPts val="0"/>
              </a:spcAft>
              <a:buNone/>
            </a:pPr>
            <a:r>
              <a:rPr lang="en-US" sz="5000" b="1" dirty="0">
                <a:solidFill>
                  <a:srgbClr val="FFFFFF"/>
                </a:solidFill>
                <a:latin typeface="Calibri"/>
                <a:ea typeface="Calibri"/>
                <a:cs typeface="Calibri"/>
                <a:sym typeface="Calibri"/>
              </a:rPr>
              <a:t>Explainable Academic</a:t>
            </a:r>
          </a:p>
          <a:p>
            <a:pPr marL="0" indent="0" algn="ctr">
              <a:lnSpc>
                <a:spcPct val="90000"/>
              </a:lnSpc>
              <a:spcBef>
                <a:spcPts val="0"/>
              </a:spcBef>
              <a:spcAft>
                <a:spcPts val="0"/>
              </a:spcAft>
              <a:buNone/>
            </a:pPr>
            <a:r>
              <a:rPr lang="en-US" sz="5000" b="1" dirty="0">
                <a:solidFill>
                  <a:srgbClr val="FFFFFF"/>
                </a:solidFill>
                <a:latin typeface="Calibri"/>
                <a:ea typeface="Calibri"/>
                <a:cs typeface="Calibri"/>
                <a:sym typeface="Calibri"/>
              </a:rPr>
              <a:t>Risk Prediction</a:t>
            </a:r>
          </a:p>
        </p:txBody>
      </p:sp>
      <p:sp>
        <p:nvSpPr>
          <p:cNvPr id="17" name="Sub"/>
          <p:cNvSpPr txBox="1">
            <a:spLocks/>
          </p:cNvSpPr>
          <p:nvPr/>
        </p:nvSpPr>
        <p:spPr>
          <a:xfrm>
            <a:off x="457200" y="3749039"/>
            <a:ext cx="11274552" cy="457200"/>
          </a:xfrm>
          <a:prstGeom prst="rect">
            <a:avLst/>
          </a:prstGeom>
          <a:noFill/>
          <a:ln>
            <a:noFill/>
          </a:ln>
        </p:spPr>
        <p:txBody>
          <a:bodyPr spcFirstLastPara="0" wrap="square" lIns="91425" tIns="45700" rIns="91425" bIns="45700" anchor="ctr" anchorCtr="0">
            <a:normAutofit/>
          </a:bodyPr>
          <a:lstStyle/>
          <a:p>
            <a:pPr marL="0" indent="0" algn="ctr">
              <a:lnSpc>
                <a:spcPct val="90000"/>
              </a:lnSpc>
              <a:spcBef>
                <a:spcPts val="200"/>
              </a:spcBef>
              <a:spcAft>
                <a:spcPts val="0"/>
              </a:spcAft>
              <a:buNone/>
            </a:pPr>
            <a:r>
              <a:rPr lang="en-US" sz="2000" b="0" i="1" dirty="0">
                <a:solidFill>
                  <a:srgbClr val="C8973A"/>
                </a:solidFill>
                <a:latin typeface="Calibri"/>
                <a:ea typeface="Calibri"/>
                <a:cs typeface="Calibri"/>
                <a:sym typeface="Calibri"/>
              </a:rPr>
              <a:t>Using XGBoost and SHAP for Indian Educational Standards</a:t>
            </a:r>
          </a:p>
        </p:txBody>
      </p:sp>
      <p:sp>
        <p:nvSpPr>
          <p:cNvPr id="18" name="GoldLine"/>
          <p:cNvSpPr txBox="1">
            <a:spLocks/>
          </p:cNvSpPr>
          <p:nvPr/>
        </p:nvSpPr>
        <p:spPr>
          <a:xfrm>
            <a:off x="3200400" y="4315968"/>
            <a:ext cx="5788152" cy="45720"/>
          </a:xfrm>
          <a:prstGeom prst="rect">
            <a:avLst/>
          </a:prstGeom>
          <a:solidFill>
            <a:srgbClr val="C8973A"/>
          </a:solidFill>
          <a:ln>
            <a:solidFill>
              <a:srgbClr val="C8973A"/>
            </a:solidFill>
          </a:ln>
        </p:spPr>
      </p:sp>
      <p:sp>
        <p:nvSpPr>
          <p:cNvPr id="19" name="Info"/>
          <p:cNvSpPr txBox="1">
            <a:spLocks/>
          </p:cNvSpPr>
          <p:nvPr/>
        </p:nvSpPr>
        <p:spPr>
          <a:xfrm>
            <a:off x="457200" y="4462272"/>
            <a:ext cx="11274552" cy="777240"/>
          </a:xfrm>
          <a:prstGeom prst="rect">
            <a:avLst/>
          </a:prstGeom>
          <a:noFill/>
          <a:ln>
            <a:noFill/>
          </a:ln>
        </p:spPr>
        <p:txBody>
          <a:bodyPr spcFirstLastPara="0" wrap="square" lIns="91425" tIns="45700" rIns="91425" bIns="45700" anchor="ctr" anchorCtr="0">
            <a:normAutofit/>
          </a:bodyPr>
          <a:lstStyle/>
          <a:p>
            <a:pPr marL="0" indent="0" algn="ctr">
              <a:lnSpc>
                <a:spcPct val="90000"/>
              </a:lnSpc>
              <a:spcBef>
                <a:spcPts val="200"/>
              </a:spcBef>
              <a:spcAft>
                <a:spcPts val="0"/>
              </a:spcAft>
              <a:buNone/>
            </a:pPr>
            <a:r>
              <a:rPr lang="en-US" sz="1700" b="0" dirty="0">
                <a:solidFill>
                  <a:srgbClr val="8A9BB0"/>
                </a:solidFill>
                <a:latin typeface="Calibri"/>
                <a:ea typeface="Calibri"/>
                <a:cs typeface="Calibri"/>
                <a:sym typeface="Calibri"/>
              </a:rPr>
              <a:t>B.Tech (CSE) IV Semester  ·  Project ID: BTP2CSE114</a:t>
            </a:r>
          </a:p>
          <a:p>
            <a:pPr marL="0" indent="0" algn="ctr">
              <a:lnSpc>
                <a:spcPct val="90000"/>
              </a:lnSpc>
              <a:spcBef>
                <a:spcPts val="150"/>
              </a:spcBef>
              <a:spcAft>
                <a:spcPts val="0"/>
              </a:spcAft>
              <a:buNone/>
            </a:pPr>
            <a:r>
              <a:rPr lang="en-US" sz="1700" b="1" dirty="0">
                <a:solidFill>
                  <a:srgbClr val="FFFFFF"/>
                </a:solidFill>
                <a:latin typeface="Calibri"/>
                <a:ea typeface="Calibri"/>
                <a:cs typeface="Calibri"/>
                <a:sym typeface="Calibri"/>
              </a:rPr>
              <a:t>Yadav Hitesh Shravan  |  Mayank Jaiswal  |  Ritesh Raj  |  Shubham Thakur | Alok Kumar</a:t>
            </a:r>
          </a:p>
        </p:txBody>
      </p:sp>
      <p:sp>
        <p:nvSpPr>
          <p:cNvPr id="20" name="Guide"/>
          <p:cNvSpPr txBox="1">
            <a:spLocks/>
          </p:cNvSpPr>
          <p:nvPr/>
        </p:nvSpPr>
        <p:spPr>
          <a:xfrm>
            <a:off x="457200" y="5321808"/>
            <a:ext cx="11274552" cy="411480"/>
          </a:xfrm>
          <a:prstGeom prst="rect">
            <a:avLst/>
          </a:prstGeom>
          <a:noFill/>
          <a:ln>
            <a:noFill/>
          </a:ln>
        </p:spPr>
        <p:txBody>
          <a:bodyPr spcFirstLastPara="0" wrap="square" lIns="91425" tIns="45700" rIns="91425" bIns="45700" anchor="ctr" anchorCtr="0">
            <a:normAutofit/>
          </a:bodyPr>
          <a:lstStyle/>
          <a:p>
            <a:pPr marL="0" indent="0" algn="ctr">
              <a:lnSpc>
                <a:spcPct val="90000"/>
              </a:lnSpc>
              <a:spcBef>
                <a:spcPts val="200"/>
              </a:spcBef>
              <a:spcAft>
                <a:spcPts val="0"/>
              </a:spcAft>
              <a:buNone/>
            </a:pPr>
            <a:r>
              <a:rPr lang="en-US" sz="1500" b="0" i="1" dirty="0">
                <a:solidFill>
                  <a:srgbClr val="8A9BB0"/>
                </a:solidFill>
                <a:latin typeface="Calibri"/>
                <a:ea typeface="Calibri"/>
                <a:cs typeface="Calibri"/>
                <a:sym typeface="Calibri"/>
              </a:rPr>
              <a:t>Guided by: Ms. Komal Salgotra  ·  May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Grp"/>
        <p:cNvGrpSpPr/>
        <p:nvPr/>
      </p:nvGrpSpPr>
      <p:grpSpPr>
        <a:xfrm>
          <a:off x="0" y="0"/>
          <a:ext cx="0" cy="0"/>
          <a:chOff x="0" y="0"/>
          <a:chExt cx="0" cy="0"/>
        </a:xfrm>
      </p:grpSpPr>
      <p:sp>
        <p:nvSpPr>
          <p:cNvPr id="10" name="TitleStripe"/>
          <p:cNvSpPr txBox="1">
            <a:spLocks/>
          </p:cNvSpPr>
          <p:nvPr/>
        </p:nvSpPr>
        <p:spPr>
          <a:xfrm>
            <a:off x="274320" y="658368"/>
            <a:ext cx="64008" cy="658368"/>
          </a:xfrm>
          <a:prstGeom prst="rect">
            <a:avLst/>
          </a:prstGeom>
          <a:solidFill>
            <a:srgbClr val="8B0000"/>
          </a:solidFill>
          <a:ln>
            <a:solidFill>
              <a:srgbClr val="8B0000"/>
            </a:solidFill>
          </a:ln>
        </p:spPr>
      </p:sp>
      <p:sp>
        <p:nvSpPr>
          <p:cNvPr id="11" name="Title"/>
          <p:cNvSpPr txBox="1">
            <a:spLocks/>
          </p:cNvSpPr>
          <p:nvPr/>
        </p:nvSpPr>
        <p:spPr>
          <a:xfrm>
            <a:off x="457200" y="658368"/>
            <a:ext cx="11128248" cy="658368"/>
          </a:xfrm>
          <a:prstGeom prst="rect">
            <a:avLst/>
          </a:prstGeom>
          <a:noFill/>
          <a:ln>
            <a:noFill/>
          </a:ln>
        </p:spPr>
        <p:txBody>
          <a:bodyPr spcFirstLastPara="0" wrap="square" lIns="91425" tIns="45700" rIns="91425" bIns="45700" anchor="ctr" anchorCtr="0">
            <a:normAutofit/>
          </a:bodyPr>
          <a:lstStyle/>
          <a:p>
            <a:pPr marL="0" indent="0" algn="l">
              <a:lnSpc>
                <a:spcPct val="90000"/>
              </a:lnSpc>
              <a:spcBef>
                <a:spcPts val="0"/>
              </a:spcBef>
              <a:spcAft>
                <a:spcPts val="0"/>
              </a:spcAft>
              <a:buNone/>
            </a:pPr>
            <a:r>
              <a:rPr lang="en-US" sz="3200" b="1" dirty="0">
                <a:solidFill>
                  <a:srgbClr val="1C2B4A"/>
                </a:solidFill>
                <a:latin typeface="Calibri"/>
                <a:ea typeface="Calibri"/>
                <a:cs typeface="Calibri"/>
                <a:sym typeface="Calibri"/>
              </a:rPr>
              <a:t>Presentation Outline</a:t>
            </a:r>
          </a:p>
        </p:txBody>
      </p:sp>
      <p:sp>
        <p:nvSpPr>
          <p:cNvPr id="12" name="Divider"/>
          <p:cNvSpPr txBox="1">
            <a:spLocks/>
          </p:cNvSpPr>
          <p:nvPr/>
        </p:nvSpPr>
        <p:spPr>
          <a:xfrm>
            <a:off x="274320" y="1325880"/>
            <a:ext cx="11311128" cy="36576"/>
          </a:xfrm>
          <a:prstGeom prst="rect">
            <a:avLst/>
          </a:prstGeom>
          <a:solidFill>
            <a:srgbClr val="E8ECF0"/>
          </a:solidFill>
          <a:ln>
            <a:solidFill>
              <a:srgbClr val="E8ECF0"/>
            </a:solidFill>
          </a:ln>
        </p:spPr>
      </p:sp>
      <p:sp>
        <p:nvSpPr>
          <p:cNvPr id="100" name="OCard0"/>
          <p:cNvSpPr txBox="1">
            <a:spLocks/>
          </p:cNvSpPr>
          <p:nvPr/>
        </p:nvSpPr>
        <p:spPr>
          <a:xfrm>
            <a:off x="256032" y="1463040"/>
            <a:ext cx="5760720" cy="758952"/>
          </a:xfrm>
          <a:prstGeom prst="roundRect">
            <a:avLst>
              <a:gd name="adj" fmla="val 20000"/>
            </a:avLst>
          </a:prstGeom>
          <a:solidFill>
            <a:srgbClr val="1C2B4A"/>
          </a:solidFill>
          <a:ln>
            <a:solidFill>
              <a:srgbClr val="1C2B4A"/>
            </a:solidFill>
          </a:ln>
        </p:spPr>
        <p:txBody>
          <a:bodyPr spcFirstLastPara="0" wrap="square" lIns="45720" tIns="45720" rIns="45720" bIns="45720" anchor="ctr" anchorCtr="0">
            <a:normAutofit/>
          </a:bodyPr>
          <a:lstStyle/>
          <a:p>
            <a:pPr marL="0" indent="0" algn="l">
              <a:lnSpc>
                <a:spcPct val="90000"/>
              </a:lnSpc>
              <a:spcBef>
                <a:spcPts val="200"/>
              </a:spcBef>
              <a:spcAft>
                <a:spcPts val="0"/>
              </a:spcAft>
              <a:buNone/>
            </a:pPr>
            <a:r>
              <a:rPr lang="en-US" sz="1700" b="1" dirty="0">
                <a:solidFill>
                  <a:srgbClr val="FFFFFF"/>
                </a:solidFill>
                <a:latin typeface="Calibri"/>
                <a:ea typeface="Calibri"/>
                <a:cs typeface="Calibri"/>
                <a:sym typeface="Calibri"/>
              </a:rPr>
              <a:t>01  Abstract</a:t>
            </a:r>
          </a:p>
          <a:p>
            <a:pPr marL="0" indent="0" algn="l">
              <a:lnSpc>
                <a:spcPct val="90000"/>
              </a:lnSpc>
              <a:spcBef>
                <a:spcPts val="80"/>
              </a:spcBef>
              <a:spcAft>
                <a:spcPts val="0"/>
              </a:spcAft>
              <a:buNone/>
            </a:pPr>
            <a:r>
              <a:rPr lang="en-US" sz="1300" b="0" i="1" dirty="0">
                <a:solidFill>
                  <a:srgbClr val="AABDCE"/>
                </a:solidFill>
                <a:latin typeface="Calibri"/>
                <a:ea typeface="Calibri"/>
                <a:cs typeface="Calibri"/>
                <a:sym typeface="Calibri"/>
              </a:rPr>
              <a:t>Overview of the problem and solution</a:t>
            </a:r>
          </a:p>
        </p:txBody>
      </p:sp>
      <p:sp>
        <p:nvSpPr>
          <p:cNvPr id="101" name="OCard1"/>
          <p:cNvSpPr txBox="1">
            <a:spLocks/>
          </p:cNvSpPr>
          <p:nvPr/>
        </p:nvSpPr>
        <p:spPr>
          <a:xfrm>
            <a:off x="256032" y="2313432"/>
            <a:ext cx="5760720" cy="758952"/>
          </a:xfrm>
          <a:prstGeom prst="roundRect">
            <a:avLst>
              <a:gd name="adj" fmla="val 20000"/>
            </a:avLst>
          </a:prstGeom>
          <a:solidFill>
            <a:srgbClr val="1A3A52"/>
          </a:solidFill>
          <a:ln>
            <a:solidFill>
              <a:srgbClr val="1A3A52"/>
            </a:solidFill>
          </a:ln>
        </p:spPr>
        <p:txBody>
          <a:bodyPr spcFirstLastPara="0" wrap="square" lIns="45720" tIns="45720" rIns="45720" bIns="45720" anchor="ctr" anchorCtr="0">
            <a:normAutofit/>
          </a:bodyPr>
          <a:lstStyle/>
          <a:p>
            <a:pPr marL="0" indent="0" algn="l">
              <a:lnSpc>
                <a:spcPct val="90000"/>
              </a:lnSpc>
              <a:spcBef>
                <a:spcPts val="200"/>
              </a:spcBef>
              <a:spcAft>
                <a:spcPts val="0"/>
              </a:spcAft>
              <a:buNone/>
            </a:pPr>
            <a:r>
              <a:rPr lang="en-US" sz="1700" b="1" dirty="0">
                <a:solidFill>
                  <a:srgbClr val="FFFFFF"/>
                </a:solidFill>
                <a:latin typeface="Calibri"/>
                <a:ea typeface="Calibri"/>
                <a:cs typeface="Calibri"/>
                <a:sym typeface="Calibri"/>
              </a:rPr>
              <a:t>02  Introduction</a:t>
            </a:r>
          </a:p>
          <a:p>
            <a:pPr marL="0" indent="0" algn="l">
              <a:lnSpc>
                <a:spcPct val="90000"/>
              </a:lnSpc>
              <a:spcBef>
                <a:spcPts val="80"/>
              </a:spcBef>
              <a:spcAft>
                <a:spcPts val="0"/>
              </a:spcAft>
              <a:buNone/>
            </a:pPr>
            <a:r>
              <a:rPr lang="en-US" sz="1300" b="0" i="1" dirty="0">
                <a:solidFill>
                  <a:srgbClr val="AABDCE"/>
                </a:solidFill>
                <a:latin typeface="Calibri"/>
                <a:ea typeface="Calibri"/>
                <a:cs typeface="Calibri"/>
                <a:sym typeface="Calibri"/>
              </a:rPr>
              <a:t>Background, motivation, problem statement</a:t>
            </a:r>
          </a:p>
        </p:txBody>
      </p:sp>
      <p:sp>
        <p:nvSpPr>
          <p:cNvPr id="102" name="OCard2"/>
          <p:cNvSpPr txBox="1">
            <a:spLocks/>
          </p:cNvSpPr>
          <p:nvPr/>
        </p:nvSpPr>
        <p:spPr>
          <a:xfrm>
            <a:off x="256032" y="3163824"/>
            <a:ext cx="5760720" cy="758952"/>
          </a:xfrm>
          <a:prstGeom prst="roundRect">
            <a:avLst>
              <a:gd name="adj" fmla="val 20000"/>
            </a:avLst>
          </a:prstGeom>
          <a:solidFill>
            <a:srgbClr val="8B0000"/>
          </a:solidFill>
          <a:ln>
            <a:solidFill>
              <a:srgbClr val="8B0000"/>
            </a:solidFill>
          </a:ln>
        </p:spPr>
        <p:txBody>
          <a:bodyPr spcFirstLastPara="0" wrap="square" lIns="45720" tIns="45720" rIns="45720" bIns="45720" anchor="ctr" anchorCtr="0">
            <a:normAutofit/>
          </a:bodyPr>
          <a:lstStyle/>
          <a:p>
            <a:pPr marL="0" indent="0" algn="l">
              <a:lnSpc>
                <a:spcPct val="90000"/>
              </a:lnSpc>
              <a:spcBef>
                <a:spcPts val="200"/>
              </a:spcBef>
              <a:spcAft>
                <a:spcPts val="0"/>
              </a:spcAft>
              <a:buNone/>
            </a:pPr>
            <a:r>
              <a:rPr lang="en-US" sz="1700" b="1" dirty="0">
                <a:solidFill>
                  <a:srgbClr val="FFFFFF"/>
                </a:solidFill>
                <a:latin typeface="Calibri"/>
                <a:ea typeface="Calibri"/>
                <a:cs typeface="Calibri"/>
                <a:sym typeface="Calibri"/>
              </a:rPr>
              <a:t>03  Literature Review</a:t>
            </a:r>
          </a:p>
          <a:p>
            <a:pPr marL="0" indent="0" algn="l">
              <a:lnSpc>
                <a:spcPct val="90000"/>
              </a:lnSpc>
              <a:spcBef>
                <a:spcPts val="80"/>
              </a:spcBef>
              <a:spcAft>
                <a:spcPts val="0"/>
              </a:spcAft>
              <a:buNone/>
            </a:pPr>
            <a:r>
              <a:rPr lang="en-US" sz="1300" b="0" i="1" dirty="0">
                <a:solidFill>
                  <a:srgbClr val="AABDCE"/>
                </a:solidFill>
                <a:latin typeface="Calibri"/>
                <a:ea typeface="Calibri"/>
                <a:cs typeface="Calibri"/>
                <a:sym typeface="Calibri"/>
              </a:rPr>
              <a:t>5 papers reviewed, 3 gaps identified</a:t>
            </a:r>
          </a:p>
        </p:txBody>
      </p:sp>
      <p:sp>
        <p:nvSpPr>
          <p:cNvPr id="103" name="OCard3"/>
          <p:cNvSpPr txBox="1">
            <a:spLocks/>
          </p:cNvSpPr>
          <p:nvPr/>
        </p:nvSpPr>
        <p:spPr>
          <a:xfrm>
            <a:off x="256032" y="4014216"/>
            <a:ext cx="5760720" cy="758952"/>
          </a:xfrm>
          <a:prstGeom prst="roundRect">
            <a:avLst>
              <a:gd name="adj" fmla="val 20000"/>
            </a:avLst>
          </a:prstGeom>
          <a:solidFill>
            <a:srgbClr val="6B1010"/>
          </a:solidFill>
          <a:ln>
            <a:solidFill>
              <a:srgbClr val="6B1010"/>
            </a:solidFill>
          </a:ln>
        </p:spPr>
        <p:txBody>
          <a:bodyPr spcFirstLastPara="0" wrap="square" lIns="45720" tIns="45720" rIns="45720" bIns="45720" anchor="ctr" anchorCtr="0">
            <a:normAutofit/>
          </a:bodyPr>
          <a:lstStyle/>
          <a:p>
            <a:pPr marL="0" indent="0" algn="l">
              <a:lnSpc>
                <a:spcPct val="90000"/>
              </a:lnSpc>
              <a:spcBef>
                <a:spcPts val="200"/>
              </a:spcBef>
              <a:spcAft>
                <a:spcPts val="0"/>
              </a:spcAft>
              <a:buNone/>
            </a:pPr>
            <a:r>
              <a:rPr lang="en-US" sz="1700" b="1" dirty="0">
                <a:solidFill>
                  <a:srgbClr val="FFFFFF"/>
                </a:solidFill>
                <a:latin typeface="Calibri"/>
                <a:ea typeface="Calibri"/>
                <a:cs typeface="Calibri"/>
                <a:sym typeface="Calibri"/>
              </a:rPr>
              <a:t>04  Dataset &amp; EDA</a:t>
            </a:r>
          </a:p>
          <a:p>
            <a:pPr marL="0" indent="0" algn="l">
              <a:lnSpc>
                <a:spcPct val="90000"/>
              </a:lnSpc>
              <a:spcBef>
                <a:spcPts val="80"/>
              </a:spcBef>
              <a:spcAft>
                <a:spcPts val="0"/>
              </a:spcAft>
              <a:buNone/>
            </a:pPr>
            <a:r>
              <a:rPr lang="en-US" sz="1300" b="0" i="1" dirty="0">
                <a:solidFill>
                  <a:srgbClr val="AABDCE"/>
                </a:solidFill>
                <a:latin typeface="Calibri"/>
                <a:ea typeface="Calibri"/>
                <a:cs typeface="Calibri"/>
                <a:sym typeface="Calibri"/>
              </a:rPr>
              <a:t>2,392 students, Indian grading (GPA &lt; 2.0)</a:t>
            </a:r>
          </a:p>
        </p:txBody>
      </p:sp>
      <p:sp>
        <p:nvSpPr>
          <p:cNvPr id="104" name="OCard4"/>
          <p:cNvSpPr txBox="1">
            <a:spLocks/>
          </p:cNvSpPr>
          <p:nvPr/>
        </p:nvSpPr>
        <p:spPr>
          <a:xfrm>
            <a:off x="256032" y="4864608"/>
            <a:ext cx="5760720" cy="758952"/>
          </a:xfrm>
          <a:prstGeom prst="roundRect">
            <a:avLst>
              <a:gd name="adj" fmla="val 20000"/>
            </a:avLst>
          </a:prstGeom>
          <a:solidFill>
            <a:srgbClr val="14536B"/>
          </a:solidFill>
          <a:ln>
            <a:solidFill>
              <a:srgbClr val="14536B"/>
            </a:solidFill>
          </a:ln>
        </p:spPr>
        <p:txBody>
          <a:bodyPr spcFirstLastPara="0" wrap="square" lIns="45720" tIns="45720" rIns="45720" bIns="45720" anchor="ctr" anchorCtr="0">
            <a:normAutofit/>
          </a:bodyPr>
          <a:lstStyle/>
          <a:p>
            <a:pPr marL="0" indent="0" algn="l">
              <a:lnSpc>
                <a:spcPct val="90000"/>
              </a:lnSpc>
              <a:spcBef>
                <a:spcPts val="200"/>
              </a:spcBef>
              <a:spcAft>
                <a:spcPts val="0"/>
              </a:spcAft>
              <a:buNone/>
            </a:pPr>
            <a:r>
              <a:rPr lang="en-US" sz="1700" b="1" dirty="0">
                <a:solidFill>
                  <a:srgbClr val="FFFFFF"/>
                </a:solidFill>
                <a:latin typeface="Calibri"/>
                <a:ea typeface="Calibri"/>
                <a:cs typeface="Calibri"/>
                <a:sym typeface="Calibri"/>
              </a:rPr>
              <a:t>05  Methodology</a:t>
            </a:r>
          </a:p>
          <a:p>
            <a:pPr marL="0" indent="0" algn="l">
              <a:lnSpc>
                <a:spcPct val="90000"/>
              </a:lnSpc>
              <a:spcBef>
                <a:spcPts val="80"/>
              </a:spcBef>
              <a:spcAft>
                <a:spcPts val="0"/>
              </a:spcAft>
              <a:buNone/>
            </a:pPr>
            <a:r>
              <a:rPr lang="en-US" sz="1300" b="0" i="1" dirty="0">
                <a:solidFill>
                  <a:srgbClr val="AABDCE"/>
                </a:solidFill>
                <a:latin typeface="Calibri"/>
                <a:ea typeface="Calibri"/>
                <a:cs typeface="Calibri"/>
                <a:sym typeface="Calibri"/>
              </a:rPr>
              <a:t>9-stage ML pipeline, GridSearchCV tuning</a:t>
            </a:r>
          </a:p>
        </p:txBody>
      </p:sp>
      <p:sp>
        <p:nvSpPr>
          <p:cNvPr id="105" name="OCard5"/>
          <p:cNvSpPr txBox="1">
            <a:spLocks/>
          </p:cNvSpPr>
          <p:nvPr/>
        </p:nvSpPr>
        <p:spPr>
          <a:xfrm>
            <a:off x="256032" y="5715000"/>
            <a:ext cx="5760720" cy="758952"/>
          </a:xfrm>
          <a:prstGeom prst="roundRect">
            <a:avLst>
              <a:gd name="adj" fmla="val 20000"/>
            </a:avLst>
          </a:prstGeom>
          <a:solidFill>
            <a:srgbClr val="1A4A3A"/>
          </a:solidFill>
          <a:ln>
            <a:solidFill>
              <a:srgbClr val="1A4A3A"/>
            </a:solidFill>
          </a:ln>
        </p:spPr>
        <p:txBody>
          <a:bodyPr spcFirstLastPara="0" wrap="square" lIns="45720" tIns="45720" rIns="45720" bIns="45720" anchor="ctr" anchorCtr="0">
            <a:normAutofit/>
          </a:bodyPr>
          <a:lstStyle/>
          <a:p>
            <a:pPr marL="0" indent="0" algn="l">
              <a:lnSpc>
                <a:spcPct val="90000"/>
              </a:lnSpc>
              <a:spcBef>
                <a:spcPts val="200"/>
              </a:spcBef>
              <a:spcAft>
                <a:spcPts val="0"/>
              </a:spcAft>
              <a:buNone/>
            </a:pPr>
            <a:r>
              <a:rPr lang="en-US" sz="1700" b="1" dirty="0">
                <a:solidFill>
                  <a:srgbClr val="FFFFFF"/>
                </a:solidFill>
                <a:latin typeface="Calibri"/>
                <a:ea typeface="Calibri"/>
                <a:cs typeface="Calibri"/>
                <a:sym typeface="Calibri"/>
              </a:rPr>
              <a:t>06  Implementation</a:t>
            </a:r>
          </a:p>
          <a:p>
            <a:pPr marL="0" indent="0" algn="l">
              <a:lnSpc>
                <a:spcPct val="90000"/>
              </a:lnSpc>
              <a:spcBef>
                <a:spcPts val="80"/>
              </a:spcBef>
              <a:spcAft>
                <a:spcPts val="0"/>
              </a:spcAft>
              <a:buNone/>
            </a:pPr>
            <a:r>
              <a:rPr lang="en-US" sz="1300" b="0" i="1" dirty="0">
                <a:solidFill>
                  <a:srgbClr val="AABDCE"/>
                </a:solidFill>
                <a:latin typeface="Calibri"/>
                <a:ea typeface="Calibri"/>
                <a:cs typeface="Calibri"/>
                <a:sym typeface="Calibri"/>
              </a:rPr>
              <a:t>Streamlit app, main.py, app.py architecture</a:t>
            </a:r>
          </a:p>
        </p:txBody>
      </p:sp>
      <p:sp>
        <p:nvSpPr>
          <p:cNvPr id="106" name="OCard6"/>
          <p:cNvSpPr txBox="1">
            <a:spLocks/>
          </p:cNvSpPr>
          <p:nvPr/>
        </p:nvSpPr>
        <p:spPr>
          <a:xfrm>
            <a:off x="6263640" y="1463040"/>
            <a:ext cx="5760720" cy="758952"/>
          </a:xfrm>
          <a:prstGeom prst="roundRect">
            <a:avLst>
              <a:gd name="adj" fmla="val 20000"/>
            </a:avLst>
          </a:prstGeom>
          <a:solidFill>
            <a:srgbClr val="1C2B4A"/>
          </a:solidFill>
          <a:ln>
            <a:solidFill>
              <a:srgbClr val="1C2B4A"/>
            </a:solidFill>
          </a:ln>
        </p:spPr>
        <p:txBody>
          <a:bodyPr spcFirstLastPara="0" wrap="square" lIns="45720" tIns="45720" rIns="45720" bIns="45720" anchor="ctr" anchorCtr="0">
            <a:normAutofit/>
          </a:bodyPr>
          <a:lstStyle/>
          <a:p>
            <a:pPr marL="0" indent="0" algn="l">
              <a:lnSpc>
                <a:spcPct val="90000"/>
              </a:lnSpc>
              <a:spcBef>
                <a:spcPts val="200"/>
              </a:spcBef>
              <a:spcAft>
                <a:spcPts val="0"/>
              </a:spcAft>
              <a:buNone/>
            </a:pPr>
            <a:r>
              <a:rPr lang="en-US" sz="1700" b="1" dirty="0">
                <a:solidFill>
                  <a:srgbClr val="FFFFFF"/>
                </a:solidFill>
                <a:latin typeface="Calibri"/>
                <a:ea typeface="Calibri"/>
                <a:cs typeface="Calibri"/>
                <a:sym typeface="Calibri"/>
              </a:rPr>
              <a:t>07  SHAP Explainability</a:t>
            </a:r>
          </a:p>
          <a:p>
            <a:pPr marL="0" indent="0" algn="l">
              <a:lnSpc>
                <a:spcPct val="90000"/>
              </a:lnSpc>
              <a:spcBef>
                <a:spcPts val="80"/>
              </a:spcBef>
              <a:spcAft>
                <a:spcPts val="0"/>
              </a:spcAft>
              <a:buNone/>
            </a:pPr>
            <a:r>
              <a:rPr lang="en-US" sz="1300" b="0" i="1" dirty="0">
                <a:solidFill>
                  <a:srgbClr val="AABDCE"/>
                </a:solidFill>
                <a:latin typeface="Calibri"/>
                <a:ea typeface="Calibri"/>
                <a:cs typeface="Calibri"/>
                <a:sym typeface="Calibri"/>
              </a:rPr>
              <a:t>Global &amp; per-student waterfall explanations</a:t>
            </a:r>
          </a:p>
        </p:txBody>
      </p:sp>
      <p:sp>
        <p:nvSpPr>
          <p:cNvPr id="107" name="OCard7"/>
          <p:cNvSpPr txBox="1">
            <a:spLocks/>
          </p:cNvSpPr>
          <p:nvPr/>
        </p:nvSpPr>
        <p:spPr>
          <a:xfrm>
            <a:off x="6263640" y="2313432"/>
            <a:ext cx="5760720" cy="758952"/>
          </a:xfrm>
          <a:prstGeom prst="roundRect">
            <a:avLst>
              <a:gd name="adj" fmla="val 20000"/>
            </a:avLst>
          </a:prstGeom>
          <a:solidFill>
            <a:srgbClr val="1A3A52"/>
          </a:solidFill>
          <a:ln>
            <a:solidFill>
              <a:srgbClr val="1A3A52"/>
            </a:solidFill>
          </a:ln>
        </p:spPr>
        <p:txBody>
          <a:bodyPr spcFirstLastPara="0" wrap="square" lIns="45720" tIns="45720" rIns="45720" bIns="45720" anchor="ctr" anchorCtr="0">
            <a:normAutofit/>
          </a:bodyPr>
          <a:lstStyle/>
          <a:p>
            <a:pPr marL="0" indent="0" algn="l">
              <a:lnSpc>
                <a:spcPct val="90000"/>
              </a:lnSpc>
              <a:spcBef>
                <a:spcPts val="200"/>
              </a:spcBef>
              <a:spcAft>
                <a:spcPts val="0"/>
              </a:spcAft>
              <a:buNone/>
            </a:pPr>
            <a:r>
              <a:rPr lang="en-US" sz="1700" b="1" dirty="0">
                <a:solidFill>
                  <a:srgbClr val="FFFFFF"/>
                </a:solidFill>
                <a:latin typeface="Calibri"/>
                <a:ea typeface="Calibri"/>
                <a:cs typeface="Calibri"/>
                <a:sym typeface="Calibri"/>
              </a:rPr>
              <a:t>08  Results</a:t>
            </a:r>
          </a:p>
          <a:p>
            <a:pPr marL="0" indent="0" algn="l">
              <a:lnSpc>
                <a:spcPct val="90000"/>
              </a:lnSpc>
              <a:spcBef>
                <a:spcPts val="80"/>
              </a:spcBef>
              <a:spcAft>
                <a:spcPts val="0"/>
              </a:spcAft>
              <a:buNone/>
            </a:pPr>
            <a:r>
              <a:rPr lang="en-US" sz="1300" b="0" i="1" dirty="0">
                <a:solidFill>
                  <a:srgbClr val="AABDCE"/>
                </a:solidFill>
                <a:latin typeface="Calibri"/>
                <a:ea typeface="Calibri"/>
                <a:cs typeface="Calibri"/>
                <a:sym typeface="Calibri"/>
              </a:rPr>
              <a:t>93.32% accuracy · 0.94 At-Risk Recall</a:t>
            </a:r>
          </a:p>
        </p:txBody>
      </p:sp>
      <p:sp>
        <p:nvSpPr>
          <p:cNvPr id="108" name="OCard8"/>
          <p:cNvSpPr txBox="1">
            <a:spLocks/>
          </p:cNvSpPr>
          <p:nvPr/>
        </p:nvSpPr>
        <p:spPr>
          <a:xfrm>
            <a:off x="6263640" y="3163824"/>
            <a:ext cx="5760720" cy="758952"/>
          </a:xfrm>
          <a:prstGeom prst="roundRect">
            <a:avLst>
              <a:gd name="adj" fmla="val 20000"/>
            </a:avLst>
          </a:prstGeom>
          <a:solidFill>
            <a:srgbClr val="8B0000"/>
          </a:solidFill>
          <a:ln>
            <a:solidFill>
              <a:srgbClr val="8B0000"/>
            </a:solidFill>
          </a:ln>
        </p:spPr>
        <p:txBody>
          <a:bodyPr spcFirstLastPara="0" wrap="square" lIns="45720" tIns="45720" rIns="45720" bIns="45720" anchor="ctr" anchorCtr="0">
            <a:normAutofit/>
          </a:bodyPr>
          <a:lstStyle/>
          <a:p>
            <a:pPr marL="0" indent="0" algn="l">
              <a:lnSpc>
                <a:spcPct val="90000"/>
              </a:lnSpc>
              <a:spcBef>
                <a:spcPts val="200"/>
              </a:spcBef>
              <a:spcAft>
                <a:spcPts val="0"/>
              </a:spcAft>
              <a:buNone/>
            </a:pPr>
            <a:r>
              <a:rPr lang="en-US" sz="1700" b="1" dirty="0">
                <a:solidFill>
                  <a:srgbClr val="FFFFFF"/>
                </a:solidFill>
                <a:latin typeface="Calibri"/>
                <a:ea typeface="Calibri"/>
                <a:cs typeface="Calibri"/>
                <a:sym typeface="Calibri"/>
              </a:rPr>
              <a:t>09  Discussion &amp; Applications</a:t>
            </a:r>
          </a:p>
          <a:p>
            <a:pPr marL="0" indent="0" algn="l">
              <a:lnSpc>
                <a:spcPct val="90000"/>
              </a:lnSpc>
              <a:spcBef>
                <a:spcPts val="80"/>
              </a:spcBef>
              <a:spcAft>
                <a:spcPts val="0"/>
              </a:spcAft>
              <a:buNone/>
            </a:pPr>
            <a:r>
              <a:rPr lang="en-US" sz="1300" b="0" i="1" dirty="0">
                <a:solidFill>
                  <a:srgbClr val="AABDCE"/>
                </a:solidFill>
                <a:latin typeface="Calibri"/>
                <a:ea typeface="Calibri"/>
                <a:cs typeface="Calibri"/>
                <a:sym typeface="Calibri"/>
              </a:rPr>
              <a:t>Insights, stakeholder uses, policy</a:t>
            </a:r>
          </a:p>
        </p:txBody>
      </p:sp>
      <p:sp>
        <p:nvSpPr>
          <p:cNvPr id="109" name="OCard9"/>
          <p:cNvSpPr txBox="1">
            <a:spLocks/>
          </p:cNvSpPr>
          <p:nvPr/>
        </p:nvSpPr>
        <p:spPr>
          <a:xfrm>
            <a:off x="6263640" y="4014216"/>
            <a:ext cx="5760720" cy="758952"/>
          </a:xfrm>
          <a:prstGeom prst="roundRect">
            <a:avLst>
              <a:gd name="adj" fmla="val 20000"/>
            </a:avLst>
          </a:prstGeom>
          <a:solidFill>
            <a:srgbClr val="6B1010"/>
          </a:solidFill>
          <a:ln>
            <a:solidFill>
              <a:srgbClr val="6B1010"/>
            </a:solidFill>
          </a:ln>
        </p:spPr>
        <p:txBody>
          <a:bodyPr spcFirstLastPara="0" wrap="square" lIns="45720" tIns="45720" rIns="45720" bIns="45720" anchor="ctr" anchorCtr="0">
            <a:normAutofit/>
          </a:bodyPr>
          <a:lstStyle/>
          <a:p>
            <a:pPr marL="0" indent="0" algn="l">
              <a:lnSpc>
                <a:spcPct val="90000"/>
              </a:lnSpc>
              <a:spcBef>
                <a:spcPts val="200"/>
              </a:spcBef>
              <a:spcAft>
                <a:spcPts val="0"/>
              </a:spcAft>
              <a:buNone/>
            </a:pPr>
            <a:r>
              <a:rPr lang="en-US" sz="1700" b="1" dirty="0">
                <a:solidFill>
                  <a:srgbClr val="FFFFFF"/>
                </a:solidFill>
                <a:latin typeface="Calibri"/>
                <a:ea typeface="Calibri"/>
                <a:cs typeface="Calibri"/>
                <a:sym typeface="Calibri"/>
              </a:rPr>
              <a:t>10  Conclusion</a:t>
            </a:r>
          </a:p>
          <a:p>
            <a:pPr marL="0" indent="0" algn="l">
              <a:lnSpc>
                <a:spcPct val="90000"/>
              </a:lnSpc>
              <a:spcBef>
                <a:spcPts val="80"/>
              </a:spcBef>
              <a:spcAft>
                <a:spcPts val="0"/>
              </a:spcAft>
              <a:buNone/>
            </a:pPr>
            <a:r>
              <a:rPr lang="en-US" sz="1300" b="0" i="1" dirty="0">
                <a:solidFill>
                  <a:srgbClr val="AABDCE"/>
                </a:solidFill>
                <a:latin typeface="Calibri"/>
                <a:ea typeface="Calibri"/>
                <a:cs typeface="Calibri"/>
                <a:sym typeface="Calibri"/>
              </a:rPr>
              <a:t>3 gaps solved, key achievements</a:t>
            </a:r>
          </a:p>
        </p:txBody>
      </p:sp>
      <p:sp>
        <p:nvSpPr>
          <p:cNvPr id="110" name="OCard10"/>
          <p:cNvSpPr txBox="1">
            <a:spLocks/>
          </p:cNvSpPr>
          <p:nvPr/>
        </p:nvSpPr>
        <p:spPr>
          <a:xfrm>
            <a:off x="6263640" y="4864608"/>
            <a:ext cx="5760720" cy="758952"/>
          </a:xfrm>
          <a:prstGeom prst="roundRect">
            <a:avLst>
              <a:gd name="adj" fmla="val 20000"/>
            </a:avLst>
          </a:prstGeom>
          <a:solidFill>
            <a:srgbClr val="14536B"/>
          </a:solidFill>
          <a:ln>
            <a:solidFill>
              <a:srgbClr val="14536B"/>
            </a:solidFill>
          </a:ln>
        </p:spPr>
        <p:txBody>
          <a:bodyPr spcFirstLastPara="0" wrap="square" lIns="45720" tIns="45720" rIns="45720" bIns="45720" anchor="ctr" anchorCtr="0">
            <a:normAutofit/>
          </a:bodyPr>
          <a:lstStyle/>
          <a:p>
            <a:pPr marL="0" indent="0" algn="l">
              <a:lnSpc>
                <a:spcPct val="90000"/>
              </a:lnSpc>
              <a:spcBef>
                <a:spcPts val="200"/>
              </a:spcBef>
              <a:spcAft>
                <a:spcPts val="0"/>
              </a:spcAft>
              <a:buNone/>
            </a:pPr>
            <a:r>
              <a:rPr lang="en-US" sz="1700" b="1" dirty="0">
                <a:solidFill>
                  <a:srgbClr val="FFFFFF"/>
                </a:solidFill>
                <a:latin typeface="Calibri"/>
                <a:ea typeface="Calibri"/>
                <a:cs typeface="Calibri"/>
                <a:sym typeface="Calibri"/>
              </a:rPr>
              <a:t>11  Research Paper</a:t>
            </a:r>
          </a:p>
          <a:p>
            <a:pPr marL="0" indent="0" algn="l">
              <a:lnSpc>
                <a:spcPct val="90000"/>
              </a:lnSpc>
              <a:spcBef>
                <a:spcPts val="80"/>
              </a:spcBef>
              <a:spcAft>
                <a:spcPts val="0"/>
              </a:spcAft>
              <a:buNone/>
            </a:pPr>
            <a:r>
              <a:rPr lang="en-US" sz="1300" b="0" i="1" dirty="0">
                <a:solidFill>
                  <a:srgbClr val="AABDCE"/>
                </a:solidFill>
                <a:latin typeface="Calibri"/>
                <a:ea typeface="Calibri"/>
                <a:cs typeface="Calibri"/>
                <a:sym typeface="Calibri"/>
              </a:rPr>
              <a:t>Title, authors, key references</a:t>
            </a:r>
          </a:p>
        </p:txBody>
      </p:sp>
      <p:sp>
        <p:nvSpPr>
          <p:cNvPr id="111" name="OCard11"/>
          <p:cNvSpPr txBox="1">
            <a:spLocks/>
          </p:cNvSpPr>
          <p:nvPr/>
        </p:nvSpPr>
        <p:spPr>
          <a:xfrm>
            <a:off x="6263640" y="5715000"/>
            <a:ext cx="5760720" cy="758952"/>
          </a:xfrm>
          <a:prstGeom prst="roundRect">
            <a:avLst>
              <a:gd name="adj" fmla="val 20000"/>
            </a:avLst>
          </a:prstGeom>
          <a:solidFill>
            <a:srgbClr val="1A4A3A"/>
          </a:solidFill>
          <a:ln>
            <a:solidFill>
              <a:srgbClr val="1A4A3A"/>
            </a:solidFill>
          </a:ln>
        </p:spPr>
        <p:txBody>
          <a:bodyPr spcFirstLastPara="0" wrap="square" lIns="45720" tIns="45720" rIns="45720" bIns="45720" anchor="ctr" anchorCtr="0">
            <a:normAutofit/>
          </a:bodyPr>
          <a:lstStyle/>
          <a:p>
            <a:pPr marL="0" indent="0" algn="l">
              <a:lnSpc>
                <a:spcPct val="90000"/>
              </a:lnSpc>
              <a:spcBef>
                <a:spcPts val="200"/>
              </a:spcBef>
              <a:spcAft>
                <a:spcPts val="0"/>
              </a:spcAft>
              <a:buNone/>
            </a:pPr>
            <a:r>
              <a:rPr lang="en-US" sz="1700" b="1" dirty="0">
                <a:solidFill>
                  <a:srgbClr val="FFFFFF"/>
                </a:solidFill>
                <a:latin typeface="Calibri"/>
                <a:ea typeface="Calibri"/>
                <a:cs typeface="Calibri"/>
                <a:sym typeface="Calibri"/>
              </a:rPr>
              <a:t>12  Ending Statement</a:t>
            </a:r>
          </a:p>
          <a:p>
            <a:pPr>
              <a:buNone/>
            </a:pPr>
            <a:endParaRPr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Grp"/>
        <p:cNvGrpSpPr/>
        <p:nvPr/>
      </p:nvGrpSpPr>
      <p:grpSpPr>
        <a:xfrm>
          <a:off x="0" y="0"/>
          <a:ext cx="0" cy="0"/>
          <a:chOff x="0" y="0"/>
          <a:chExt cx="0" cy="0"/>
        </a:xfrm>
      </p:grpSpPr>
      <p:sp>
        <p:nvSpPr>
          <p:cNvPr id="10" name="TitleStripe"/>
          <p:cNvSpPr txBox="1">
            <a:spLocks/>
          </p:cNvSpPr>
          <p:nvPr/>
        </p:nvSpPr>
        <p:spPr>
          <a:xfrm>
            <a:off x="256032" y="895760"/>
            <a:ext cx="64008" cy="658368"/>
          </a:xfrm>
          <a:prstGeom prst="rect">
            <a:avLst/>
          </a:prstGeom>
          <a:solidFill>
            <a:srgbClr val="8B0000"/>
          </a:solidFill>
          <a:ln>
            <a:solidFill>
              <a:srgbClr val="8B0000"/>
            </a:solidFill>
          </a:ln>
        </p:spPr>
      </p:sp>
      <p:sp>
        <p:nvSpPr>
          <p:cNvPr id="11" name="Title"/>
          <p:cNvSpPr txBox="1">
            <a:spLocks/>
          </p:cNvSpPr>
          <p:nvPr/>
        </p:nvSpPr>
        <p:spPr>
          <a:xfrm>
            <a:off x="338328" y="895760"/>
            <a:ext cx="11128248" cy="658368"/>
          </a:xfrm>
          <a:prstGeom prst="rect">
            <a:avLst/>
          </a:prstGeom>
          <a:noFill/>
          <a:ln>
            <a:noFill/>
          </a:ln>
        </p:spPr>
        <p:txBody>
          <a:bodyPr spcFirstLastPara="0" wrap="square" lIns="91425" tIns="45700" rIns="91425" bIns="45700" anchor="ctr" anchorCtr="0">
            <a:normAutofit/>
          </a:bodyPr>
          <a:lstStyle/>
          <a:p>
            <a:pPr marL="0" indent="0" algn="l">
              <a:lnSpc>
                <a:spcPct val="90000"/>
              </a:lnSpc>
              <a:spcBef>
                <a:spcPts val="0"/>
              </a:spcBef>
              <a:spcAft>
                <a:spcPts val="0"/>
              </a:spcAft>
              <a:buNone/>
            </a:pPr>
            <a:r>
              <a:rPr lang="en-US" sz="3200" b="1" dirty="0">
                <a:solidFill>
                  <a:srgbClr val="1C2B4A"/>
                </a:solidFill>
                <a:latin typeface="Calibri"/>
                <a:ea typeface="Calibri"/>
                <a:cs typeface="Calibri"/>
                <a:sym typeface="Calibri"/>
              </a:rPr>
              <a:t>Abstract</a:t>
            </a:r>
          </a:p>
        </p:txBody>
      </p:sp>
      <p:sp>
        <p:nvSpPr>
          <p:cNvPr id="12" name="Divider"/>
          <p:cNvSpPr txBox="1">
            <a:spLocks/>
          </p:cNvSpPr>
          <p:nvPr/>
        </p:nvSpPr>
        <p:spPr>
          <a:xfrm>
            <a:off x="338328" y="1344168"/>
            <a:ext cx="11311128" cy="36576"/>
          </a:xfrm>
          <a:prstGeom prst="rect">
            <a:avLst/>
          </a:prstGeom>
          <a:solidFill>
            <a:srgbClr val="E8ECF0"/>
          </a:solidFill>
          <a:ln>
            <a:solidFill>
              <a:srgbClr val="E8ECF0"/>
            </a:solidFill>
          </a:ln>
        </p:spPr>
      </p:sp>
      <p:sp>
        <p:nvSpPr>
          <p:cNvPr id="20" name="AbsText"/>
          <p:cNvSpPr txBox="1">
            <a:spLocks/>
          </p:cNvSpPr>
          <p:nvPr/>
        </p:nvSpPr>
        <p:spPr>
          <a:xfrm>
            <a:off x="256032" y="1463040"/>
            <a:ext cx="7040880" cy="5074920"/>
          </a:xfrm>
          <a:prstGeom prst="rect">
            <a:avLst/>
          </a:prstGeom>
          <a:noFill/>
          <a:ln>
            <a:noFill/>
          </a:ln>
        </p:spPr>
        <p:txBody>
          <a:bodyPr spcFirstLastPara="0" wrap="square" lIns="91425" tIns="45700" rIns="91425" bIns="45700" anchor="t" anchorCtr="0">
            <a:normAutofit/>
          </a:bodyPr>
          <a:lstStyle/>
          <a:p>
            <a:pPr marL="0" indent="0" algn="l">
              <a:lnSpc>
                <a:spcPct val="110000"/>
              </a:lnSpc>
              <a:spcBef>
                <a:spcPts val="0"/>
              </a:spcBef>
              <a:spcAft>
                <a:spcPts val="0"/>
              </a:spcAft>
              <a:buNone/>
            </a:pPr>
            <a:r>
              <a:rPr lang="en-US" sz="1750" b="0" dirty="0">
                <a:solidFill>
                  <a:srgbClr val="1A2535"/>
                </a:solidFill>
                <a:latin typeface="Calibri"/>
                <a:ea typeface="Calibri"/>
                <a:cs typeface="Calibri"/>
                <a:sym typeface="Calibri"/>
              </a:rPr>
              <a:t>Academic risk prediction using ML has been extensively studied, yet a critical gap persists: predictive models are black boxes — they output a risk label but never explain why.</a:t>
            </a:r>
          </a:p>
          <a:p>
            <a:pPr>
              <a:buNone/>
            </a:pPr>
            <a:endParaRPr sz="800" dirty="0"/>
          </a:p>
          <a:p>
            <a:pPr marL="0" indent="0" algn="l">
              <a:lnSpc>
                <a:spcPct val="110000"/>
              </a:lnSpc>
              <a:spcBef>
                <a:spcPts val="200"/>
              </a:spcBef>
              <a:spcAft>
                <a:spcPts val="0"/>
              </a:spcAft>
              <a:buNone/>
            </a:pPr>
            <a:r>
              <a:rPr lang="en-US" sz="1750" b="0" dirty="0">
                <a:solidFill>
                  <a:srgbClr val="1A2535"/>
                </a:solidFill>
                <a:latin typeface="Calibri"/>
                <a:ea typeface="Calibri"/>
                <a:cs typeface="Calibri"/>
                <a:sym typeface="Calibri"/>
              </a:rPr>
              <a:t>This project presents an end-to-end Explainable Academic Risk Prediction system. XGBoost with GridSearchCV tuning is benchmarked against Logistic Regression and Random Forest. SHAP (SHapley Additive exPlanations) via TreeExplainer generates both global feature importance and individual per-student waterfall explanations.</a:t>
            </a:r>
          </a:p>
          <a:p>
            <a:pPr>
              <a:buNone/>
            </a:pPr>
            <a:endParaRPr sz="800" dirty="0"/>
          </a:p>
          <a:p>
            <a:pPr marL="0" indent="0" algn="l">
              <a:lnSpc>
                <a:spcPct val="110000"/>
              </a:lnSpc>
              <a:spcBef>
                <a:spcPts val="200"/>
              </a:spcBef>
              <a:spcAft>
                <a:spcPts val="0"/>
              </a:spcAft>
              <a:buNone/>
            </a:pPr>
            <a:r>
              <a:rPr lang="en-US" sz="1750" b="0" dirty="0">
                <a:solidFill>
                  <a:srgbClr val="1A2535"/>
                </a:solidFill>
                <a:latin typeface="Calibri"/>
                <a:ea typeface="Calibri"/>
                <a:cs typeface="Calibri"/>
                <a:sym typeface="Calibri"/>
              </a:rPr>
              <a:t>The system is deployed as a Streamlit web application — the first explainable academic risk tool designed for Indian educational standards with a real-time educator-facing interface.</a:t>
            </a:r>
          </a:p>
          <a:p>
            <a:pPr>
              <a:buNone/>
            </a:pPr>
            <a:endParaRPr sz="800" dirty="0"/>
          </a:p>
          <a:p>
            <a:pPr marL="0" indent="0" algn="l">
              <a:lnSpc>
                <a:spcPct val="100000"/>
              </a:lnSpc>
              <a:spcBef>
                <a:spcPts val="200"/>
              </a:spcBef>
              <a:spcAft>
                <a:spcPts val="0"/>
              </a:spcAft>
              <a:buNone/>
            </a:pPr>
            <a:r>
              <a:rPr lang="en-US" sz="1500" b="0" i="1" dirty="0">
                <a:solidFill>
                  <a:srgbClr val="8A9BB0"/>
                </a:solidFill>
                <a:latin typeface="Calibri"/>
                <a:ea typeface="Calibri"/>
                <a:cs typeface="Calibri"/>
                <a:sym typeface="Calibri"/>
              </a:rPr>
              <a:t>Keywords: XGBoost · SHAP · Explainable AI · Indian Grading · Educational Data Mining · Streamlit</a:t>
            </a:r>
          </a:p>
        </p:txBody>
      </p:sp>
      <p:sp>
        <p:nvSpPr>
          <p:cNvPr id="30" name="Stat0"/>
          <p:cNvSpPr txBox="1">
            <a:spLocks/>
          </p:cNvSpPr>
          <p:nvPr/>
        </p:nvSpPr>
        <p:spPr>
          <a:xfrm>
            <a:off x="7589520" y="1463040"/>
            <a:ext cx="4297680" cy="1097280"/>
          </a:xfrm>
          <a:prstGeom prst="roundRect">
            <a:avLst>
              <a:gd name="adj" fmla="val 20000"/>
            </a:avLst>
          </a:prstGeom>
          <a:solidFill>
            <a:srgbClr val="8B0000"/>
          </a:solidFill>
          <a:ln>
            <a:solidFill>
              <a:srgbClr val="8B0000"/>
            </a:solidFill>
          </a:ln>
        </p:spPr>
        <p:txBody>
          <a:bodyPr spcFirstLastPara="0" wrap="square" lIns="45720" tIns="45720" rIns="45720" bIns="45720" anchor="ctr" anchorCtr="0">
            <a:normAutofit/>
          </a:bodyPr>
          <a:lstStyle/>
          <a:p>
            <a:pPr marL="0" indent="0" algn="ctr">
              <a:lnSpc>
                <a:spcPct val="90000"/>
              </a:lnSpc>
              <a:spcBef>
                <a:spcPts val="0"/>
              </a:spcBef>
              <a:spcAft>
                <a:spcPts val="0"/>
              </a:spcAft>
              <a:buNone/>
            </a:pPr>
            <a:r>
              <a:rPr lang="en-US" sz="3800" b="1" dirty="0">
                <a:solidFill>
                  <a:srgbClr val="FFFFFF"/>
                </a:solidFill>
                <a:latin typeface="Calibri"/>
                <a:ea typeface="Calibri"/>
                <a:cs typeface="Calibri"/>
                <a:sym typeface="Calibri"/>
              </a:rPr>
              <a:t>93.32%</a:t>
            </a:r>
          </a:p>
          <a:p>
            <a:pPr marL="0" indent="0" algn="ctr">
              <a:lnSpc>
                <a:spcPct val="90000"/>
              </a:lnSpc>
              <a:spcBef>
                <a:spcPts val="50"/>
              </a:spcBef>
              <a:spcAft>
                <a:spcPts val="0"/>
              </a:spcAft>
              <a:buNone/>
            </a:pPr>
            <a:r>
              <a:rPr lang="en-US" sz="1600" b="0" dirty="0">
                <a:solidFill>
                  <a:srgbClr val="DDEEFF"/>
                </a:solidFill>
                <a:latin typeface="Calibri"/>
                <a:ea typeface="Calibri"/>
                <a:cs typeface="Calibri"/>
                <a:sym typeface="Calibri"/>
              </a:rPr>
              <a:t>Accuracy</a:t>
            </a:r>
          </a:p>
        </p:txBody>
      </p:sp>
      <p:sp>
        <p:nvSpPr>
          <p:cNvPr id="31" name="Stat1"/>
          <p:cNvSpPr txBox="1">
            <a:spLocks/>
          </p:cNvSpPr>
          <p:nvPr/>
        </p:nvSpPr>
        <p:spPr>
          <a:xfrm>
            <a:off x="7589520" y="2724912"/>
            <a:ext cx="4297680" cy="1097280"/>
          </a:xfrm>
          <a:prstGeom prst="roundRect">
            <a:avLst>
              <a:gd name="adj" fmla="val 20000"/>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0"/>
              </a:spcBef>
              <a:spcAft>
                <a:spcPts val="0"/>
              </a:spcAft>
              <a:buNone/>
            </a:pPr>
            <a:r>
              <a:rPr lang="en-US" sz="3800" b="1" dirty="0">
                <a:solidFill>
                  <a:srgbClr val="FFFFFF"/>
                </a:solidFill>
                <a:latin typeface="Calibri"/>
                <a:ea typeface="Calibri"/>
                <a:cs typeface="Calibri"/>
                <a:sym typeface="Calibri"/>
              </a:rPr>
              <a:t>0.94</a:t>
            </a:r>
          </a:p>
          <a:p>
            <a:pPr marL="0" indent="0" algn="ctr">
              <a:lnSpc>
                <a:spcPct val="90000"/>
              </a:lnSpc>
              <a:spcBef>
                <a:spcPts val="50"/>
              </a:spcBef>
              <a:spcAft>
                <a:spcPts val="0"/>
              </a:spcAft>
              <a:buNone/>
            </a:pPr>
            <a:r>
              <a:rPr lang="en-US" sz="1600" b="0" dirty="0">
                <a:solidFill>
                  <a:srgbClr val="DDEEFF"/>
                </a:solidFill>
                <a:latin typeface="Calibri"/>
                <a:ea typeface="Calibri"/>
                <a:cs typeface="Calibri"/>
                <a:sym typeface="Calibri"/>
              </a:rPr>
              <a:t>At-Risk Recall</a:t>
            </a:r>
          </a:p>
        </p:txBody>
      </p:sp>
      <p:sp>
        <p:nvSpPr>
          <p:cNvPr id="32" name="Stat2"/>
          <p:cNvSpPr txBox="1">
            <a:spLocks/>
          </p:cNvSpPr>
          <p:nvPr/>
        </p:nvSpPr>
        <p:spPr>
          <a:xfrm>
            <a:off x="7589520" y="3986783"/>
            <a:ext cx="4297680" cy="1097280"/>
          </a:xfrm>
          <a:prstGeom prst="roundRect">
            <a:avLst>
              <a:gd name="adj" fmla="val 20000"/>
            </a:avLst>
          </a:prstGeom>
          <a:solidFill>
            <a:srgbClr val="1A6B7C"/>
          </a:solidFill>
          <a:ln>
            <a:solidFill>
              <a:srgbClr val="1A6B7C"/>
            </a:solidFill>
          </a:ln>
        </p:spPr>
        <p:txBody>
          <a:bodyPr spcFirstLastPara="0" wrap="square" lIns="45720" tIns="45720" rIns="45720" bIns="45720" anchor="ctr" anchorCtr="0">
            <a:normAutofit/>
          </a:bodyPr>
          <a:lstStyle/>
          <a:p>
            <a:pPr marL="0" indent="0" algn="ctr">
              <a:lnSpc>
                <a:spcPct val="90000"/>
              </a:lnSpc>
              <a:spcBef>
                <a:spcPts val="0"/>
              </a:spcBef>
              <a:spcAft>
                <a:spcPts val="0"/>
              </a:spcAft>
              <a:buNone/>
            </a:pPr>
            <a:r>
              <a:rPr lang="en-US" sz="3800" b="1" dirty="0">
                <a:solidFill>
                  <a:srgbClr val="FFFFFF"/>
                </a:solidFill>
                <a:latin typeface="Calibri"/>
                <a:ea typeface="Calibri"/>
                <a:cs typeface="Calibri"/>
                <a:sym typeface="Calibri"/>
              </a:rPr>
              <a:t>3 Gaps</a:t>
            </a:r>
          </a:p>
          <a:p>
            <a:pPr marL="0" indent="0" algn="ctr">
              <a:lnSpc>
                <a:spcPct val="90000"/>
              </a:lnSpc>
              <a:spcBef>
                <a:spcPts val="50"/>
              </a:spcBef>
              <a:spcAft>
                <a:spcPts val="0"/>
              </a:spcAft>
              <a:buNone/>
            </a:pPr>
            <a:r>
              <a:rPr lang="en-US" sz="1600" b="0" dirty="0">
                <a:solidFill>
                  <a:srgbClr val="DDEEFF"/>
                </a:solidFill>
                <a:latin typeface="Calibri"/>
                <a:ea typeface="Calibri"/>
                <a:cs typeface="Calibri"/>
                <a:sym typeface="Calibri"/>
              </a:rPr>
              <a:t>Resolved</a:t>
            </a:r>
          </a:p>
        </p:txBody>
      </p:sp>
      <p:sp>
        <p:nvSpPr>
          <p:cNvPr id="33" name="Stat3"/>
          <p:cNvSpPr txBox="1">
            <a:spLocks/>
          </p:cNvSpPr>
          <p:nvPr/>
        </p:nvSpPr>
        <p:spPr>
          <a:xfrm>
            <a:off x="7589520" y="5248656"/>
            <a:ext cx="4297680" cy="1097280"/>
          </a:xfrm>
          <a:prstGeom prst="roundRect">
            <a:avLst>
              <a:gd name="adj" fmla="val 20000"/>
            </a:avLst>
          </a:prstGeom>
          <a:solidFill>
            <a:srgbClr val="5A4A8A"/>
          </a:solidFill>
          <a:ln>
            <a:solidFill>
              <a:srgbClr val="5A4A8A"/>
            </a:solidFill>
          </a:ln>
        </p:spPr>
        <p:txBody>
          <a:bodyPr spcFirstLastPara="0" wrap="square" lIns="45720" tIns="45720" rIns="45720" bIns="45720" anchor="ctr" anchorCtr="0">
            <a:normAutofit/>
          </a:bodyPr>
          <a:lstStyle/>
          <a:p>
            <a:pPr marL="0" indent="0" algn="ctr">
              <a:lnSpc>
                <a:spcPct val="90000"/>
              </a:lnSpc>
              <a:spcBef>
                <a:spcPts val="0"/>
              </a:spcBef>
              <a:spcAft>
                <a:spcPts val="0"/>
              </a:spcAft>
              <a:buNone/>
            </a:pPr>
            <a:r>
              <a:rPr lang="en-US" sz="3800" b="1" dirty="0">
                <a:solidFill>
                  <a:srgbClr val="FFFFFF"/>
                </a:solidFill>
                <a:latin typeface="Calibri"/>
                <a:ea typeface="Calibri"/>
                <a:cs typeface="Calibri"/>
                <a:sym typeface="Calibri"/>
              </a:rPr>
              <a:t>2,392</a:t>
            </a:r>
          </a:p>
          <a:p>
            <a:pPr marL="0" indent="0" algn="ctr">
              <a:lnSpc>
                <a:spcPct val="90000"/>
              </a:lnSpc>
              <a:spcBef>
                <a:spcPts val="50"/>
              </a:spcBef>
              <a:spcAft>
                <a:spcPts val="0"/>
              </a:spcAft>
              <a:buNone/>
            </a:pPr>
            <a:r>
              <a:rPr lang="en-US" sz="1600" b="0" dirty="0">
                <a:solidFill>
                  <a:srgbClr val="DDEEFF"/>
                </a:solidFill>
                <a:latin typeface="Calibri"/>
                <a:ea typeface="Calibri"/>
                <a:cs typeface="Calibri"/>
                <a:sym typeface="Calibri"/>
              </a:rPr>
              <a:t>Student Records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Grp"/>
        <p:cNvGrpSpPr/>
        <p:nvPr/>
      </p:nvGrpSpPr>
      <p:grpSpPr>
        <a:xfrm>
          <a:off x="0" y="0"/>
          <a:ext cx="0" cy="0"/>
          <a:chOff x="0" y="0"/>
          <a:chExt cx="0" cy="0"/>
        </a:xfrm>
      </p:grpSpPr>
      <p:sp>
        <p:nvSpPr>
          <p:cNvPr id="10" name="TitleStripe"/>
          <p:cNvSpPr txBox="1">
            <a:spLocks/>
          </p:cNvSpPr>
          <p:nvPr/>
        </p:nvSpPr>
        <p:spPr>
          <a:xfrm>
            <a:off x="219632" y="832104"/>
            <a:ext cx="82296" cy="658368"/>
          </a:xfrm>
          <a:prstGeom prst="rect">
            <a:avLst/>
          </a:prstGeom>
          <a:solidFill>
            <a:srgbClr val="8B0000"/>
          </a:solidFill>
          <a:ln>
            <a:solidFill>
              <a:srgbClr val="8B0000"/>
            </a:solidFill>
          </a:ln>
        </p:spPr>
      </p:sp>
      <p:sp>
        <p:nvSpPr>
          <p:cNvPr id="11" name="Title"/>
          <p:cNvSpPr txBox="1">
            <a:spLocks/>
          </p:cNvSpPr>
          <p:nvPr/>
        </p:nvSpPr>
        <p:spPr>
          <a:xfrm>
            <a:off x="429768" y="813816"/>
            <a:ext cx="11128248" cy="658368"/>
          </a:xfrm>
          <a:prstGeom prst="rect">
            <a:avLst/>
          </a:prstGeom>
          <a:noFill/>
          <a:ln>
            <a:noFill/>
          </a:ln>
        </p:spPr>
        <p:txBody>
          <a:bodyPr spcFirstLastPara="0" wrap="square" lIns="91425" tIns="45700" rIns="91425" bIns="45700" anchor="ctr" anchorCtr="0">
            <a:normAutofit fontScale="92500" lnSpcReduction="10000"/>
          </a:bodyPr>
          <a:lstStyle/>
          <a:p>
            <a:pPr marL="0" indent="0" algn="l">
              <a:lnSpc>
                <a:spcPct val="90000"/>
              </a:lnSpc>
              <a:spcBef>
                <a:spcPts val="0"/>
              </a:spcBef>
              <a:spcAft>
                <a:spcPts val="0"/>
              </a:spcAft>
              <a:buNone/>
            </a:pPr>
            <a:r>
              <a:rPr lang="en-US" sz="3200" b="1" dirty="0">
                <a:solidFill>
                  <a:srgbClr val="1C2B4A"/>
                </a:solidFill>
                <a:latin typeface="Calibri"/>
                <a:ea typeface="Calibri"/>
                <a:cs typeface="Calibri"/>
                <a:sym typeface="Calibri"/>
              </a:rPr>
              <a:t>Introduction</a:t>
            </a:r>
          </a:p>
          <a:p>
            <a:pPr marL="0" indent="0" algn="l">
              <a:lnSpc>
                <a:spcPct val="90000"/>
              </a:lnSpc>
              <a:spcBef>
                <a:spcPts val="60"/>
              </a:spcBef>
              <a:spcAft>
                <a:spcPts val="0"/>
              </a:spcAft>
              <a:buNone/>
            </a:pPr>
            <a:r>
              <a:rPr lang="en-US" sz="1600" b="0" i="1" dirty="0">
                <a:solidFill>
                  <a:srgbClr val="8A9BB0"/>
                </a:solidFill>
                <a:latin typeface="Calibri"/>
                <a:ea typeface="Calibri"/>
                <a:cs typeface="Calibri"/>
                <a:sym typeface="Calibri"/>
              </a:rPr>
              <a:t>Why academic risk prediction fails teachers today</a:t>
            </a:r>
          </a:p>
        </p:txBody>
      </p:sp>
      <p:sp>
        <p:nvSpPr>
          <p:cNvPr id="12" name="Divider"/>
          <p:cNvSpPr txBox="1">
            <a:spLocks/>
          </p:cNvSpPr>
          <p:nvPr/>
        </p:nvSpPr>
        <p:spPr>
          <a:xfrm>
            <a:off x="301928" y="1417320"/>
            <a:ext cx="11311128" cy="36576"/>
          </a:xfrm>
          <a:prstGeom prst="rect">
            <a:avLst/>
          </a:prstGeom>
          <a:solidFill>
            <a:srgbClr val="E8ECF0"/>
          </a:solidFill>
          <a:ln>
            <a:solidFill>
              <a:srgbClr val="E8ECF0"/>
            </a:solidFill>
          </a:ln>
        </p:spPr>
      </p:sp>
      <p:sp>
        <p:nvSpPr>
          <p:cNvPr id="20" name="GapCard0"/>
          <p:cNvSpPr txBox="1">
            <a:spLocks/>
          </p:cNvSpPr>
          <p:nvPr/>
        </p:nvSpPr>
        <p:spPr>
          <a:xfrm>
            <a:off x="256032" y="1481328"/>
            <a:ext cx="3749039" cy="2194560"/>
          </a:xfrm>
          <a:prstGeom prst="roundRect">
            <a:avLst>
              <a:gd name="adj" fmla="val 20000"/>
            </a:avLst>
          </a:prstGeom>
          <a:solidFill>
            <a:srgbClr val="8B0000"/>
          </a:solidFill>
          <a:ln>
            <a:solidFill>
              <a:srgbClr val="8B0000"/>
            </a:solidFill>
          </a:ln>
        </p:spPr>
        <p:txBody>
          <a:bodyPr spcFirstLastPara="0" wrap="square" lIns="45720" tIns="45720" rIns="45720" bIns="45720" anchor="t" anchorCtr="0">
            <a:normAutofit/>
          </a:bodyPr>
          <a:lstStyle/>
          <a:p>
            <a:pPr marL="0" indent="0" algn="ctr">
              <a:lnSpc>
                <a:spcPct val="90000"/>
              </a:lnSpc>
              <a:spcBef>
                <a:spcPts val="0"/>
              </a:spcBef>
              <a:spcAft>
                <a:spcPts val="0"/>
              </a:spcAft>
              <a:buNone/>
            </a:pPr>
            <a:r>
              <a:rPr lang="en-US" sz="1300" b="1" dirty="0">
                <a:solidFill>
                  <a:srgbClr val="C8973A"/>
                </a:solidFill>
                <a:latin typeface="Calibri"/>
                <a:ea typeface="Calibri"/>
                <a:cs typeface="Calibri"/>
                <a:sym typeface="Calibri"/>
              </a:rPr>
              <a:t>GAP 1</a:t>
            </a:r>
          </a:p>
          <a:p>
            <a:pPr marL="0" indent="0" algn="ctr">
              <a:lnSpc>
                <a:spcPct val="90000"/>
              </a:lnSpc>
              <a:spcBef>
                <a:spcPts val="120"/>
              </a:spcBef>
              <a:spcAft>
                <a:spcPts val="0"/>
              </a:spcAft>
              <a:buNone/>
            </a:pPr>
            <a:r>
              <a:rPr lang="en-US" sz="2000" b="1" dirty="0">
                <a:solidFill>
                  <a:srgbClr val="FFFFFF"/>
                </a:solidFill>
                <a:latin typeface="Calibri"/>
                <a:ea typeface="Calibri"/>
                <a:cs typeface="Calibri"/>
                <a:sym typeface="Calibri"/>
              </a:rPr>
              <a:t>Black Box Problem</a:t>
            </a:r>
          </a:p>
          <a:p>
            <a:pPr marL="0" indent="0" algn="ctr">
              <a:lnSpc>
                <a:spcPct val="95000"/>
              </a:lnSpc>
              <a:spcBef>
                <a:spcPts val="180"/>
              </a:spcBef>
              <a:spcAft>
                <a:spcPts val="0"/>
              </a:spcAft>
              <a:buNone/>
            </a:pPr>
            <a:r>
              <a:rPr lang="en-US" sz="1500" b="0" dirty="0">
                <a:solidFill>
                  <a:srgbClr val="CCDDEF"/>
                </a:solidFill>
                <a:latin typeface="Calibri"/>
                <a:ea typeface="Calibri"/>
                <a:cs typeface="Calibri"/>
                <a:sym typeface="Calibri"/>
              </a:rPr>
              <a:t>Models output At Risk / Not At Risk but give NO reason. Teachers cannot act without knowing why.</a:t>
            </a:r>
          </a:p>
        </p:txBody>
      </p:sp>
      <p:sp>
        <p:nvSpPr>
          <p:cNvPr id="21" name="GapCard1"/>
          <p:cNvSpPr txBox="1">
            <a:spLocks/>
          </p:cNvSpPr>
          <p:nvPr/>
        </p:nvSpPr>
        <p:spPr>
          <a:xfrm>
            <a:off x="4261104" y="1481328"/>
            <a:ext cx="3749039" cy="2194560"/>
          </a:xfrm>
          <a:prstGeom prst="roundRect">
            <a:avLst>
              <a:gd name="adj" fmla="val 20000"/>
            </a:avLst>
          </a:prstGeom>
          <a:solidFill>
            <a:srgbClr val="1C2B4A"/>
          </a:solidFill>
          <a:ln>
            <a:solidFill>
              <a:srgbClr val="1C2B4A"/>
            </a:solidFill>
          </a:ln>
        </p:spPr>
        <p:txBody>
          <a:bodyPr spcFirstLastPara="0" wrap="square" lIns="45720" tIns="45720" rIns="45720" bIns="45720" anchor="t" anchorCtr="0">
            <a:normAutofit/>
          </a:bodyPr>
          <a:lstStyle/>
          <a:p>
            <a:pPr marL="0" indent="0" algn="ctr">
              <a:lnSpc>
                <a:spcPct val="90000"/>
              </a:lnSpc>
              <a:spcBef>
                <a:spcPts val="0"/>
              </a:spcBef>
              <a:spcAft>
                <a:spcPts val="0"/>
              </a:spcAft>
              <a:buNone/>
            </a:pPr>
            <a:r>
              <a:rPr lang="en-US" sz="1300" b="1" dirty="0">
                <a:solidFill>
                  <a:srgbClr val="C8973A"/>
                </a:solidFill>
                <a:latin typeface="Calibri"/>
                <a:ea typeface="Calibri"/>
                <a:cs typeface="Calibri"/>
                <a:sym typeface="Calibri"/>
              </a:rPr>
              <a:t>GAP 2</a:t>
            </a:r>
          </a:p>
          <a:p>
            <a:pPr marL="0" indent="0" algn="ctr">
              <a:lnSpc>
                <a:spcPct val="90000"/>
              </a:lnSpc>
              <a:spcBef>
                <a:spcPts val="120"/>
              </a:spcBef>
              <a:spcAft>
                <a:spcPts val="0"/>
              </a:spcAft>
              <a:buNone/>
            </a:pPr>
            <a:r>
              <a:rPr lang="en-US" sz="2000" b="1" dirty="0">
                <a:solidFill>
                  <a:srgbClr val="FFFFFF"/>
                </a:solidFill>
                <a:latin typeface="Calibri"/>
                <a:ea typeface="Calibri"/>
                <a:cs typeface="Calibri"/>
                <a:sym typeface="Calibri"/>
              </a:rPr>
              <a:t>Deployment Gap</a:t>
            </a:r>
          </a:p>
          <a:p>
            <a:pPr marL="0" indent="0" algn="ctr">
              <a:lnSpc>
                <a:spcPct val="95000"/>
              </a:lnSpc>
              <a:spcBef>
                <a:spcPts val="180"/>
              </a:spcBef>
              <a:spcAft>
                <a:spcPts val="0"/>
              </a:spcAft>
              <a:buNone/>
            </a:pPr>
            <a:r>
              <a:rPr lang="en-US" sz="1500" b="0" dirty="0">
                <a:solidFill>
                  <a:srgbClr val="CCDDEF"/>
                </a:solidFill>
                <a:latin typeface="Calibri"/>
                <a:ea typeface="Calibri"/>
                <a:cs typeface="Calibri"/>
                <a:sym typeface="Calibri"/>
              </a:rPr>
              <a:t>Accurate models are built in papers but NEVER deployed as tools educators can actually use.</a:t>
            </a:r>
          </a:p>
        </p:txBody>
      </p:sp>
      <p:sp>
        <p:nvSpPr>
          <p:cNvPr id="22" name="GapCard2"/>
          <p:cNvSpPr txBox="1">
            <a:spLocks/>
          </p:cNvSpPr>
          <p:nvPr/>
        </p:nvSpPr>
        <p:spPr>
          <a:xfrm>
            <a:off x="8266175" y="1481328"/>
            <a:ext cx="3749039" cy="2194560"/>
          </a:xfrm>
          <a:prstGeom prst="roundRect">
            <a:avLst>
              <a:gd name="adj" fmla="val 20000"/>
            </a:avLst>
          </a:prstGeom>
          <a:solidFill>
            <a:srgbClr val="1A6B7C"/>
          </a:solidFill>
          <a:ln>
            <a:solidFill>
              <a:srgbClr val="1A6B7C"/>
            </a:solidFill>
          </a:ln>
        </p:spPr>
        <p:txBody>
          <a:bodyPr spcFirstLastPara="0" wrap="square" lIns="45720" tIns="45720" rIns="45720" bIns="45720" anchor="t" anchorCtr="0">
            <a:normAutofit/>
          </a:bodyPr>
          <a:lstStyle/>
          <a:p>
            <a:pPr marL="0" indent="0" algn="ctr">
              <a:lnSpc>
                <a:spcPct val="90000"/>
              </a:lnSpc>
              <a:spcBef>
                <a:spcPts val="0"/>
              </a:spcBef>
              <a:spcAft>
                <a:spcPts val="0"/>
              </a:spcAft>
              <a:buNone/>
            </a:pPr>
            <a:r>
              <a:rPr lang="en-US" sz="1300" b="1" dirty="0">
                <a:solidFill>
                  <a:srgbClr val="C8973A"/>
                </a:solidFill>
                <a:latin typeface="Calibri"/>
                <a:ea typeface="Calibri"/>
                <a:cs typeface="Calibri"/>
                <a:sym typeface="Calibri"/>
              </a:rPr>
              <a:t>GAP 3</a:t>
            </a:r>
          </a:p>
          <a:p>
            <a:pPr marL="0" indent="0" algn="ctr">
              <a:lnSpc>
                <a:spcPct val="90000"/>
              </a:lnSpc>
              <a:spcBef>
                <a:spcPts val="120"/>
              </a:spcBef>
              <a:spcAft>
                <a:spcPts val="0"/>
              </a:spcAft>
              <a:buNone/>
            </a:pPr>
            <a:r>
              <a:rPr lang="en-US" sz="2000" b="1" dirty="0">
                <a:solidFill>
                  <a:srgbClr val="FFFFFF"/>
                </a:solidFill>
                <a:latin typeface="Calibri"/>
                <a:ea typeface="Calibri"/>
                <a:cs typeface="Calibri"/>
                <a:sym typeface="Calibri"/>
              </a:rPr>
              <a:t>Indian Grading Gap</a:t>
            </a:r>
          </a:p>
          <a:p>
            <a:pPr marL="0" indent="0" algn="ctr">
              <a:lnSpc>
                <a:spcPct val="95000"/>
              </a:lnSpc>
              <a:spcBef>
                <a:spcPts val="180"/>
              </a:spcBef>
              <a:spcAft>
                <a:spcPts val="0"/>
              </a:spcAft>
              <a:buNone/>
            </a:pPr>
            <a:r>
              <a:rPr lang="en-US" sz="1500" b="0" dirty="0">
                <a:solidFill>
                  <a:srgbClr val="CCDDEF"/>
                </a:solidFill>
                <a:latin typeface="Calibri"/>
                <a:ea typeface="Calibri"/>
                <a:cs typeface="Calibri"/>
                <a:sym typeface="Calibri"/>
              </a:rPr>
              <a:t>No study applies India's standard: GPA &lt; 2.0 (≈50%) = At Risk threshold.</a:t>
            </a:r>
          </a:p>
        </p:txBody>
      </p:sp>
      <p:sp>
        <p:nvSpPr>
          <p:cNvPr id="30" name="SolLabel"/>
          <p:cNvSpPr txBox="1">
            <a:spLocks/>
          </p:cNvSpPr>
          <p:nvPr/>
        </p:nvSpPr>
        <p:spPr>
          <a:xfrm>
            <a:off x="256032" y="3840480"/>
            <a:ext cx="2743200" cy="347472"/>
          </a:xfrm>
          <a:prstGeom prst="rect">
            <a:avLst/>
          </a:prstGeom>
          <a:noFill/>
          <a:ln>
            <a:noFill/>
          </a:ln>
        </p:spPr>
        <p:txBody>
          <a:bodyPr spcFirstLastPara="0" wrap="square" lIns="91425" tIns="45700" rIns="91425" bIns="45700" anchor="ctr" anchorCtr="0">
            <a:normAutofit/>
          </a:bodyPr>
          <a:lstStyle/>
          <a:p>
            <a:pPr marL="0" indent="0" algn="l">
              <a:lnSpc>
                <a:spcPct val="90000"/>
              </a:lnSpc>
              <a:spcBef>
                <a:spcPts val="200"/>
              </a:spcBef>
              <a:spcAft>
                <a:spcPts val="0"/>
              </a:spcAft>
              <a:buNone/>
            </a:pPr>
            <a:r>
              <a:rPr lang="en-US" sz="1600" b="1" dirty="0">
                <a:solidFill>
                  <a:srgbClr val="8B0000"/>
                </a:solidFill>
                <a:latin typeface="Calibri"/>
                <a:ea typeface="Calibri"/>
                <a:cs typeface="Calibri"/>
                <a:sym typeface="Calibri"/>
              </a:rPr>
              <a:t>OUR SOLUTION</a:t>
            </a:r>
          </a:p>
        </p:txBody>
      </p:sp>
      <p:sp>
        <p:nvSpPr>
          <p:cNvPr id="31" name="SolLine"/>
          <p:cNvSpPr txBox="1">
            <a:spLocks/>
          </p:cNvSpPr>
          <p:nvPr/>
        </p:nvSpPr>
        <p:spPr>
          <a:xfrm>
            <a:off x="256032" y="4187952"/>
            <a:ext cx="11676888" cy="36576"/>
          </a:xfrm>
          <a:prstGeom prst="rect">
            <a:avLst/>
          </a:prstGeom>
          <a:solidFill>
            <a:srgbClr val="E8ECF0"/>
          </a:solidFill>
          <a:ln>
            <a:solidFill>
              <a:srgbClr val="E8ECF0"/>
            </a:solidFill>
          </a:ln>
        </p:spPr>
      </p:sp>
      <p:sp>
        <p:nvSpPr>
          <p:cNvPr id="40" name="Badge40"/>
          <p:cNvSpPr txBox="1">
            <a:spLocks/>
          </p:cNvSpPr>
          <p:nvPr/>
        </p:nvSpPr>
        <p:spPr>
          <a:xfrm>
            <a:off x="256032" y="4343400"/>
            <a:ext cx="347472" cy="347472"/>
          </a:xfrm>
          <a:prstGeom prst="roundRect">
            <a:avLst>
              <a:gd name="adj" fmla="val 20000"/>
            </a:avLst>
          </a:prstGeom>
          <a:solidFill>
            <a:srgbClr val="8B0000"/>
          </a:solidFill>
          <a:ln>
            <a:solidFill>
              <a:srgbClr val="8B0000"/>
            </a:solidFill>
          </a:ln>
        </p:spPr>
        <p:txBody>
          <a:bodyPr spcFirstLastPara="0" wrap="square" lIns="45720" tIns="45720" rIns="45720" bIns="45720" anchor="ctr" anchorCtr="0">
            <a:normAutofit lnSpcReduction="10000"/>
          </a:bodyPr>
          <a:lstStyle/>
          <a:p>
            <a:pPr marL="0" indent="0" algn="ctr">
              <a:lnSpc>
                <a:spcPct val="90000"/>
              </a:lnSpc>
              <a:spcBef>
                <a:spcPts val="200"/>
              </a:spcBef>
              <a:spcAft>
                <a:spcPts val="0"/>
              </a:spcAft>
              <a:buNone/>
            </a:pPr>
            <a:r>
              <a:rPr lang="en-US" sz="1600" b="1" dirty="0">
                <a:solidFill>
                  <a:srgbClr val="FFFFFF"/>
                </a:solidFill>
                <a:latin typeface="Calibri"/>
                <a:ea typeface="Calibri"/>
                <a:cs typeface="Calibri"/>
                <a:sym typeface="Calibri"/>
              </a:rPr>
              <a:t>1</a:t>
            </a:r>
          </a:p>
        </p:txBody>
      </p:sp>
      <p:sp>
        <p:nvSpPr>
          <p:cNvPr id="41" name="Sol0"/>
          <p:cNvSpPr txBox="1">
            <a:spLocks/>
          </p:cNvSpPr>
          <p:nvPr/>
        </p:nvSpPr>
        <p:spPr>
          <a:xfrm>
            <a:off x="749808" y="4315968"/>
            <a:ext cx="11155680" cy="502920"/>
          </a:xfrm>
          <a:prstGeom prst="rect">
            <a:avLst/>
          </a:prstGeom>
          <a:noFill/>
          <a:ln>
            <a:noFill/>
          </a:ln>
        </p:spPr>
        <p:txBody>
          <a:bodyPr spcFirstLastPara="0" wrap="square" lIns="91425" tIns="45700" rIns="91425" bIns="45700" anchor="ctr" anchorCtr="0">
            <a:normAutofit/>
          </a:bodyPr>
          <a:lstStyle/>
          <a:p>
            <a:pPr marL="0" indent="0" algn="l">
              <a:lnSpc>
                <a:spcPct val="90000"/>
              </a:lnSpc>
              <a:spcBef>
                <a:spcPts val="200"/>
              </a:spcBef>
              <a:spcAft>
                <a:spcPts val="0"/>
              </a:spcAft>
              <a:buNone/>
            </a:pPr>
            <a:r>
              <a:rPr lang="en-US" sz="1750" b="0" dirty="0">
                <a:solidFill>
                  <a:srgbClr val="1A2535"/>
                </a:solidFill>
                <a:latin typeface="Calibri"/>
                <a:ea typeface="Calibri"/>
                <a:cs typeface="Calibri"/>
                <a:sym typeface="Calibri"/>
              </a:rPr>
              <a:t>XGBoost + GridSearchCV → 93.32% accuracy · 0.94 At-Risk Recall</a:t>
            </a:r>
          </a:p>
        </p:txBody>
      </p:sp>
      <p:sp>
        <p:nvSpPr>
          <p:cNvPr id="42" name="Badge42"/>
          <p:cNvSpPr txBox="1">
            <a:spLocks/>
          </p:cNvSpPr>
          <p:nvPr/>
        </p:nvSpPr>
        <p:spPr>
          <a:xfrm>
            <a:off x="256032" y="4910328"/>
            <a:ext cx="347472" cy="347472"/>
          </a:xfrm>
          <a:prstGeom prst="roundRect">
            <a:avLst>
              <a:gd name="adj" fmla="val 20000"/>
            </a:avLst>
          </a:prstGeom>
          <a:solidFill>
            <a:srgbClr val="8B0000"/>
          </a:solidFill>
          <a:ln>
            <a:solidFill>
              <a:srgbClr val="8B0000"/>
            </a:solidFill>
          </a:ln>
        </p:spPr>
        <p:txBody>
          <a:bodyPr spcFirstLastPara="0" wrap="square" lIns="45720" tIns="45720" rIns="45720" bIns="45720" anchor="ctr" anchorCtr="0">
            <a:normAutofit lnSpcReduction="10000"/>
          </a:bodyPr>
          <a:lstStyle/>
          <a:p>
            <a:pPr marL="0" indent="0" algn="ctr">
              <a:lnSpc>
                <a:spcPct val="90000"/>
              </a:lnSpc>
              <a:spcBef>
                <a:spcPts val="200"/>
              </a:spcBef>
              <a:spcAft>
                <a:spcPts val="0"/>
              </a:spcAft>
              <a:buNone/>
            </a:pPr>
            <a:r>
              <a:rPr lang="en-US" sz="1600" b="1" dirty="0">
                <a:solidFill>
                  <a:srgbClr val="FFFFFF"/>
                </a:solidFill>
                <a:latin typeface="Calibri"/>
                <a:ea typeface="Calibri"/>
                <a:cs typeface="Calibri"/>
                <a:sym typeface="Calibri"/>
              </a:rPr>
              <a:t>2</a:t>
            </a:r>
          </a:p>
        </p:txBody>
      </p:sp>
      <p:sp>
        <p:nvSpPr>
          <p:cNvPr id="43" name="Sol1"/>
          <p:cNvSpPr txBox="1">
            <a:spLocks/>
          </p:cNvSpPr>
          <p:nvPr/>
        </p:nvSpPr>
        <p:spPr>
          <a:xfrm>
            <a:off x="749808" y="4882896"/>
            <a:ext cx="11155680" cy="502920"/>
          </a:xfrm>
          <a:prstGeom prst="rect">
            <a:avLst/>
          </a:prstGeom>
          <a:noFill/>
          <a:ln>
            <a:noFill/>
          </a:ln>
        </p:spPr>
        <p:txBody>
          <a:bodyPr spcFirstLastPara="0" wrap="square" lIns="91425" tIns="45700" rIns="91425" bIns="45700" anchor="ctr" anchorCtr="0">
            <a:normAutofit/>
          </a:bodyPr>
          <a:lstStyle/>
          <a:p>
            <a:pPr marL="0" indent="0" algn="l">
              <a:lnSpc>
                <a:spcPct val="90000"/>
              </a:lnSpc>
              <a:spcBef>
                <a:spcPts val="200"/>
              </a:spcBef>
              <a:spcAft>
                <a:spcPts val="0"/>
              </a:spcAft>
              <a:buNone/>
            </a:pPr>
            <a:r>
              <a:rPr lang="en-US" sz="1750" b="0" dirty="0">
                <a:solidFill>
                  <a:srgbClr val="1A2535"/>
                </a:solidFill>
                <a:latin typeface="Calibri"/>
                <a:ea typeface="Calibri"/>
                <a:cs typeface="Calibri"/>
                <a:sym typeface="Calibri"/>
              </a:rPr>
              <a:t>SHAP TreeExplainer → global feature importance + per-student waterfall explanations</a:t>
            </a:r>
          </a:p>
        </p:txBody>
      </p:sp>
      <p:sp>
        <p:nvSpPr>
          <p:cNvPr id="44" name="Badge44"/>
          <p:cNvSpPr txBox="1">
            <a:spLocks/>
          </p:cNvSpPr>
          <p:nvPr/>
        </p:nvSpPr>
        <p:spPr>
          <a:xfrm>
            <a:off x="256032" y="5477256"/>
            <a:ext cx="347472" cy="347472"/>
          </a:xfrm>
          <a:prstGeom prst="roundRect">
            <a:avLst>
              <a:gd name="adj" fmla="val 20000"/>
            </a:avLst>
          </a:prstGeom>
          <a:solidFill>
            <a:srgbClr val="8B0000"/>
          </a:solidFill>
          <a:ln>
            <a:solidFill>
              <a:srgbClr val="8B0000"/>
            </a:solidFill>
          </a:ln>
        </p:spPr>
        <p:txBody>
          <a:bodyPr spcFirstLastPara="0" wrap="square" lIns="45720" tIns="45720" rIns="45720" bIns="45720" anchor="ctr" anchorCtr="0">
            <a:normAutofit lnSpcReduction="10000"/>
          </a:bodyPr>
          <a:lstStyle/>
          <a:p>
            <a:pPr marL="0" indent="0" algn="ctr">
              <a:lnSpc>
                <a:spcPct val="90000"/>
              </a:lnSpc>
              <a:spcBef>
                <a:spcPts val="200"/>
              </a:spcBef>
              <a:spcAft>
                <a:spcPts val="0"/>
              </a:spcAft>
              <a:buNone/>
            </a:pPr>
            <a:r>
              <a:rPr lang="en-US" sz="1600" b="1" dirty="0">
                <a:solidFill>
                  <a:srgbClr val="FFFFFF"/>
                </a:solidFill>
                <a:latin typeface="Calibri"/>
                <a:ea typeface="Calibri"/>
                <a:cs typeface="Calibri"/>
                <a:sym typeface="Calibri"/>
              </a:rPr>
              <a:t>3</a:t>
            </a:r>
          </a:p>
        </p:txBody>
      </p:sp>
      <p:sp>
        <p:nvSpPr>
          <p:cNvPr id="45" name="Sol2"/>
          <p:cNvSpPr txBox="1">
            <a:spLocks/>
          </p:cNvSpPr>
          <p:nvPr/>
        </p:nvSpPr>
        <p:spPr>
          <a:xfrm>
            <a:off x="749808" y="5449824"/>
            <a:ext cx="11155680" cy="502920"/>
          </a:xfrm>
          <a:prstGeom prst="rect">
            <a:avLst/>
          </a:prstGeom>
          <a:noFill/>
          <a:ln>
            <a:noFill/>
          </a:ln>
        </p:spPr>
        <p:txBody>
          <a:bodyPr spcFirstLastPara="0" wrap="square" lIns="91425" tIns="45700" rIns="91425" bIns="45700" anchor="ctr" anchorCtr="0">
            <a:normAutofit/>
          </a:bodyPr>
          <a:lstStyle/>
          <a:p>
            <a:pPr marL="0" indent="0" algn="l">
              <a:lnSpc>
                <a:spcPct val="90000"/>
              </a:lnSpc>
              <a:spcBef>
                <a:spcPts val="200"/>
              </a:spcBef>
              <a:spcAft>
                <a:spcPts val="0"/>
              </a:spcAft>
              <a:buNone/>
            </a:pPr>
            <a:r>
              <a:rPr lang="en-US" sz="1750" b="0" dirty="0">
                <a:solidFill>
                  <a:srgbClr val="1A2535"/>
                </a:solidFill>
                <a:latin typeface="Calibri"/>
                <a:ea typeface="Calibri"/>
                <a:cs typeface="Calibri"/>
                <a:sym typeface="Calibri"/>
              </a:rPr>
              <a:t>Streamlit web app → real-time prediction + explanation for non-technical educators</a:t>
            </a:r>
          </a:p>
        </p:txBody>
      </p:sp>
      <p:sp>
        <p:nvSpPr>
          <p:cNvPr id="46" name="Badge46"/>
          <p:cNvSpPr txBox="1">
            <a:spLocks/>
          </p:cNvSpPr>
          <p:nvPr/>
        </p:nvSpPr>
        <p:spPr>
          <a:xfrm>
            <a:off x="256032" y="6044183"/>
            <a:ext cx="347472" cy="347472"/>
          </a:xfrm>
          <a:prstGeom prst="roundRect">
            <a:avLst>
              <a:gd name="adj" fmla="val 20000"/>
            </a:avLst>
          </a:prstGeom>
          <a:solidFill>
            <a:srgbClr val="8B0000"/>
          </a:solidFill>
          <a:ln>
            <a:solidFill>
              <a:srgbClr val="8B0000"/>
            </a:solidFill>
          </a:ln>
        </p:spPr>
        <p:txBody>
          <a:bodyPr spcFirstLastPara="0" wrap="square" lIns="45720" tIns="45720" rIns="45720" bIns="45720" anchor="ctr" anchorCtr="0">
            <a:normAutofit lnSpcReduction="10000"/>
          </a:bodyPr>
          <a:lstStyle/>
          <a:p>
            <a:pPr marL="0" indent="0" algn="ctr">
              <a:lnSpc>
                <a:spcPct val="90000"/>
              </a:lnSpc>
              <a:spcBef>
                <a:spcPts val="200"/>
              </a:spcBef>
              <a:spcAft>
                <a:spcPts val="0"/>
              </a:spcAft>
              <a:buNone/>
            </a:pPr>
            <a:r>
              <a:rPr lang="en-US" sz="1600" b="1" dirty="0">
                <a:solidFill>
                  <a:srgbClr val="FFFFFF"/>
                </a:solidFill>
                <a:latin typeface="Calibri"/>
                <a:ea typeface="Calibri"/>
                <a:cs typeface="Calibri"/>
                <a:sym typeface="Calibri"/>
              </a:rPr>
              <a:t>4</a:t>
            </a:r>
          </a:p>
        </p:txBody>
      </p:sp>
      <p:sp>
        <p:nvSpPr>
          <p:cNvPr id="47" name="Sol3"/>
          <p:cNvSpPr txBox="1">
            <a:spLocks/>
          </p:cNvSpPr>
          <p:nvPr/>
        </p:nvSpPr>
        <p:spPr>
          <a:xfrm>
            <a:off x="749808" y="6016752"/>
            <a:ext cx="11155680" cy="502920"/>
          </a:xfrm>
          <a:prstGeom prst="rect">
            <a:avLst/>
          </a:prstGeom>
          <a:noFill/>
          <a:ln>
            <a:noFill/>
          </a:ln>
        </p:spPr>
        <p:txBody>
          <a:bodyPr spcFirstLastPara="0" wrap="square" lIns="91425" tIns="45700" rIns="91425" bIns="45700" anchor="ctr" anchorCtr="0">
            <a:normAutofit/>
          </a:bodyPr>
          <a:lstStyle/>
          <a:p>
            <a:pPr marL="0" indent="0" algn="l">
              <a:lnSpc>
                <a:spcPct val="90000"/>
              </a:lnSpc>
              <a:spcBef>
                <a:spcPts val="200"/>
              </a:spcBef>
              <a:spcAft>
                <a:spcPts val="0"/>
              </a:spcAft>
              <a:buNone/>
            </a:pPr>
            <a:r>
              <a:rPr lang="en-US" sz="1750" b="0" dirty="0">
                <a:solidFill>
                  <a:srgbClr val="1A2535"/>
                </a:solidFill>
                <a:latin typeface="Calibri"/>
                <a:ea typeface="Calibri"/>
                <a:cs typeface="Calibri"/>
                <a:sym typeface="Calibri"/>
              </a:rPr>
              <a:t>Indian grading threshold (GPA &lt; 2.0) — first application in reviewed literature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Grp"/>
        <p:cNvGrpSpPr/>
        <p:nvPr/>
      </p:nvGrpSpPr>
      <p:grpSpPr>
        <a:xfrm>
          <a:off x="0" y="0"/>
          <a:ext cx="0" cy="0"/>
          <a:chOff x="0" y="0"/>
          <a:chExt cx="0" cy="0"/>
        </a:xfrm>
      </p:grpSpPr>
      <p:sp>
        <p:nvSpPr>
          <p:cNvPr id="10" name="TitleStripe"/>
          <p:cNvSpPr txBox="1">
            <a:spLocks/>
          </p:cNvSpPr>
          <p:nvPr/>
        </p:nvSpPr>
        <p:spPr>
          <a:xfrm>
            <a:off x="226314" y="815926"/>
            <a:ext cx="64008" cy="658368"/>
          </a:xfrm>
          <a:prstGeom prst="rect">
            <a:avLst/>
          </a:prstGeom>
          <a:solidFill>
            <a:srgbClr val="8B0000"/>
          </a:solidFill>
          <a:ln>
            <a:solidFill>
              <a:srgbClr val="8B0000"/>
            </a:solidFill>
          </a:ln>
        </p:spPr>
      </p:sp>
      <p:sp>
        <p:nvSpPr>
          <p:cNvPr id="11" name="Title"/>
          <p:cNvSpPr txBox="1">
            <a:spLocks/>
          </p:cNvSpPr>
          <p:nvPr/>
        </p:nvSpPr>
        <p:spPr>
          <a:xfrm>
            <a:off x="338328" y="795528"/>
            <a:ext cx="11128248" cy="658368"/>
          </a:xfrm>
          <a:prstGeom prst="rect">
            <a:avLst/>
          </a:prstGeom>
          <a:noFill/>
          <a:ln>
            <a:noFill/>
          </a:ln>
        </p:spPr>
        <p:txBody>
          <a:bodyPr spcFirstLastPara="0" wrap="square" lIns="91425" tIns="45700" rIns="91425" bIns="45700" anchor="ctr" anchorCtr="0">
            <a:normAutofit fontScale="92500" lnSpcReduction="10000"/>
          </a:bodyPr>
          <a:lstStyle/>
          <a:p>
            <a:pPr marL="0" indent="0" algn="l">
              <a:lnSpc>
                <a:spcPct val="90000"/>
              </a:lnSpc>
              <a:spcBef>
                <a:spcPts val="0"/>
              </a:spcBef>
              <a:spcAft>
                <a:spcPts val="0"/>
              </a:spcAft>
              <a:buNone/>
            </a:pPr>
            <a:r>
              <a:rPr lang="en-US" sz="3200" b="1" dirty="0">
                <a:solidFill>
                  <a:srgbClr val="1C2B4A"/>
                </a:solidFill>
                <a:latin typeface="Calibri"/>
                <a:ea typeface="Calibri"/>
                <a:cs typeface="Calibri"/>
                <a:sym typeface="Calibri"/>
              </a:rPr>
              <a:t>Literature Review</a:t>
            </a:r>
          </a:p>
          <a:p>
            <a:pPr marL="0" indent="0" algn="l">
              <a:lnSpc>
                <a:spcPct val="90000"/>
              </a:lnSpc>
              <a:spcBef>
                <a:spcPts val="60"/>
              </a:spcBef>
              <a:spcAft>
                <a:spcPts val="0"/>
              </a:spcAft>
              <a:buNone/>
            </a:pPr>
            <a:r>
              <a:rPr lang="en-US" sz="1600" b="0" i="1" dirty="0">
                <a:solidFill>
                  <a:srgbClr val="8A9BB0"/>
                </a:solidFill>
                <a:latin typeface="Calibri"/>
                <a:ea typeface="Calibri"/>
                <a:cs typeface="Calibri"/>
                <a:sym typeface="Calibri"/>
              </a:rPr>
              <a:t>5 papers reviewed (2025–2026) · systematic gap analysis</a:t>
            </a:r>
          </a:p>
        </p:txBody>
      </p:sp>
      <p:sp>
        <p:nvSpPr>
          <p:cNvPr id="12" name="Divider"/>
          <p:cNvSpPr txBox="1">
            <a:spLocks/>
          </p:cNvSpPr>
          <p:nvPr/>
        </p:nvSpPr>
        <p:spPr>
          <a:xfrm>
            <a:off x="306324" y="1397976"/>
            <a:ext cx="11311128" cy="36576"/>
          </a:xfrm>
          <a:prstGeom prst="rect">
            <a:avLst/>
          </a:prstGeom>
          <a:solidFill>
            <a:srgbClr val="E8ECF0"/>
          </a:solidFill>
          <a:ln>
            <a:solidFill>
              <a:srgbClr val="E8ECF0"/>
            </a:solidFill>
          </a:ln>
        </p:spPr>
        <p:txBody>
          <a:bodyPr/>
          <a:lstStyle/>
          <a:p>
            <a:endParaRPr lang="en-IN" dirty="0"/>
          </a:p>
          <a:p>
            <a:endParaRPr lang="en-IN" dirty="0"/>
          </a:p>
          <a:p>
            <a:endParaRPr lang="en-IN" dirty="0"/>
          </a:p>
        </p:txBody>
      </p:sp>
      <p:sp>
        <p:nvSpPr>
          <p:cNvPr id="20" name="Hdr0"/>
          <p:cNvSpPr txBox="1">
            <a:spLocks/>
          </p:cNvSpPr>
          <p:nvPr/>
        </p:nvSpPr>
        <p:spPr>
          <a:xfrm>
            <a:off x="256032" y="1481328"/>
            <a:ext cx="2395728" cy="347472"/>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1" dirty="0">
                <a:solidFill>
                  <a:srgbClr val="FFFFFF"/>
                </a:solidFill>
                <a:latin typeface="Calibri"/>
                <a:ea typeface="Calibri"/>
                <a:cs typeface="Calibri"/>
                <a:sym typeface="Calibri"/>
              </a:rPr>
              <a:t>Study</a:t>
            </a:r>
          </a:p>
        </p:txBody>
      </p:sp>
      <p:sp>
        <p:nvSpPr>
          <p:cNvPr id="21" name="Hdr1"/>
          <p:cNvSpPr txBox="1">
            <a:spLocks/>
          </p:cNvSpPr>
          <p:nvPr/>
        </p:nvSpPr>
        <p:spPr>
          <a:xfrm>
            <a:off x="2743200" y="1481328"/>
            <a:ext cx="2276856" cy="347472"/>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1" dirty="0">
                <a:solidFill>
                  <a:srgbClr val="FFFFFF"/>
                </a:solidFill>
                <a:latin typeface="Calibri"/>
                <a:ea typeface="Calibri"/>
                <a:cs typeface="Calibri"/>
                <a:sym typeface="Calibri"/>
              </a:rPr>
              <a:t>Algorithm</a:t>
            </a:r>
          </a:p>
        </p:txBody>
      </p:sp>
      <p:sp>
        <p:nvSpPr>
          <p:cNvPr id="22" name="Hdr2"/>
          <p:cNvSpPr txBox="1">
            <a:spLocks/>
          </p:cNvSpPr>
          <p:nvPr/>
        </p:nvSpPr>
        <p:spPr>
          <a:xfrm>
            <a:off x="5120640" y="1481328"/>
            <a:ext cx="1179576" cy="347472"/>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1" dirty="0">
                <a:solidFill>
                  <a:srgbClr val="FFFFFF"/>
                </a:solidFill>
                <a:latin typeface="Calibri"/>
                <a:ea typeface="Calibri"/>
                <a:cs typeface="Calibri"/>
                <a:sym typeface="Calibri"/>
              </a:rPr>
              <a:t>SHAP</a:t>
            </a:r>
          </a:p>
        </p:txBody>
      </p:sp>
      <p:sp>
        <p:nvSpPr>
          <p:cNvPr id="23" name="Hdr3"/>
          <p:cNvSpPr txBox="1">
            <a:spLocks/>
          </p:cNvSpPr>
          <p:nvPr/>
        </p:nvSpPr>
        <p:spPr>
          <a:xfrm>
            <a:off x="6400800" y="1481328"/>
            <a:ext cx="1316736" cy="347472"/>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1" dirty="0">
                <a:solidFill>
                  <a:srgbClr val="FFFFFF"/>
                </a:solidFill>
                <a:latin typeface="Calibri"/>
                <a:ea typeface="Calibri"/>
                <a:cs typeface="Calibri"/>
                <a:sym typeface="Calibri"/>
              </a:rPr>
              <a:t>Deployed UI</a:t>
            </a:r>
          </a:p>
        </p:txBody>
      </p:sp>
      <p:sp>
        <p:nvSpPr>
          <p:cNvPr id="24" name="Hdr4"/>
          <p:cNvSpPr txBox="1">
            <a:spLocks/>
          </p:cNvSpPr>
          <p:nvPr/>
        </p:nvSpPr>
        <p:spPr>
          <a:xfrm>
            <a:off x="7818120" y="1481328"/>
            <a:ext cx="1453895" cy="347472"/>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1" dirty="0">
                <a:solidFill>
                  <a:srgbClr val="FFFFFF"/>
                </a:solidFill>
                <a:latin typeface="Calibri"/>
                <a:ea typeface="Calibri"/>
                <a:cs typeface="Calibri"/>
                <a:sym typeface="Calibri"/>
              </a:rPr>
              <a:t>Indian Grading</a:t>
            </a:r>
          </a:p>
        </p:txBody>
      </p:sp>
      <p:sp>
        <p:nvSpPr>
          <p:cNvPr id="25" name="Hdr5"/>
          <p:cNvSpPr txBox="1">
            <a:spLocks/>
          </p:cNvSpPr>
          <p:nvPr/>
        </p:nvSpPr>
        <p:spPr>
          <a:xfrm>
            <a:off x="9372600" y="1481328"/>
            <a:ext cx="1773936" cy="347472"/>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1" dirty="0">
                <a:solidFill>
                  <a:srgbClr val="FFFFFF"/>
                </a:solidFill>
                <a:latin typeface="Calibri"/>
                <a:ea typeface="Calibri"/>
                <a:cs typeface="Calibri"/>
                <a:sym typeface="Calibri"/>
              </a:rPr>
              <a:t>Binary Risk</a:t>
            </a:r>
          </a:p>
        </p:txBody>
      </p:sp>
      <p:sp>
        <p:nvSpPr>
          <p:cNvPr id="30" name="Cell00"/>
          <p:cNvSpPr txBox="1">
            <a:spLocks/>
          </p:cNvSpPr>
          <p:nvPr/>
        </p:nvSpPr>
        <p:spPr>
          <a:xfrm>
            <a:off x="256032" y="1874519"/>
            <a:ext cx="2395728" cy="457200"/>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0" dirty="0">
                <a:solidFill>
                  <a:srgbClr val="FFFFFF"/>
                </a:solidFill>
                <a:latin typeface="Calibri"/>
                <a:ea typeface="Calibri"/>
                <a:cs typeface="Calibri"/>
                <a:sym typeface="Calibri"/>
              </a:rPr>
              <a:t>Ahmed [2], 2024</a:t>
            </a:r>
          </a:p>
        </p:txBody>
      </p:sp>
      <p:sp>
        <p:nvSpPr>
          <p:cNvPr id="31" name="Cell01"/>
          <p:cNvSpPr txBox="1">
            <a:spLocks/>
          </p:cNvSpPr>
          <p:nvPr/>
        </p:nvSpPr>
        <p:spPr>
          <a:xfrm>
            <a:off x="2743200" y="1874519"/>
            <a:ext cx="2276856" cy="457200"/>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0" dirty="0">
                <a:solidFill>
                  <a:srgbClr val="FFFFFF"/>
                </a:solidFill>
                <a:latin typeface="Calibri"/>
                <a:ea typeface="Calibri"/>
                <a:cs typeface="Calibri"/>
                <a:sym typeface="Calibri"/>
              </a:rPr>
              <a:t>SVM, DT, NB, KNN</a:t>
            </a:r>
          </a:p>
        </p:txBody>
      </p:sp>
      <p:sp>
        <p:nvSpPr>
          <p:cNvPr id="32" name="Cell02"/>
          <p:cNvSpPr txBox="1">
            <a:spLocks/>
          </p:cNvSpPr>
          <p:nvPr/>
        </p:nvSpPr>
        <p:spPr>
          <a:xfrm>
            <a:off x="5120640" y="1874519"/>
            <a:ext cx="1179576" cy="457200"/>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0" dirty="0">
                <a:solidFill>
                  <a:srgbClr val="778899"/>
                </a:solidFill>
                <a:latin typeface="Calibri"/>
                <a:ea typeface="Calibri"/>
                <a:cs typeface="Calibri"/>
                <a:sym typeface="Calibri"/>
              </a:rPr>
              <a:t>✗</a:t>
            </a:r>
          </a:p>
        </p:txBody>
      </p:sp>
      <p:sp>
        <p:nvSpPr>
          <p:cNvPr id="33" name="Cell03"/>
          <p:cNvSpPr txBox="1">
            <a:spLocks/>
          </p:cNvSpPr>
          <p:nvPr/>
        </p:nvSpPr>
        <p:spPr>
          <a:xfrm>
            <a:off x="6400800" y="1874519"/>
            <a:ext cx="1316736" cy="457200"/>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0" dirty="0">
                <a:solidFill>
                  <a:srgbClr val="778899"/>
                </a:solidFill>
                <a:latin typeface="Calibri"/>
                <a:ea typeface="Calibri"/>
                <a:cs typeface="Calibri"/>
                <a:sym typeface="Calibri"/>
              </a:rPr>
              <a:t>✗</a:t>
            </a:r>
          </a:p>
        </p:txBody>
      </p:sp>
      <p:sp>
        <p:nvSpPr>
          <p:cNvPr id="34" name="Cell04"/>
          <p:cNvSpPr txBox="1">
            <a:spLocks/>
          </p:cNvSpPr>
          <p:nvPr/>
        </p:nvSpPr>
        <p:spPr>
          <a:xfrm>
            <a:off x="7818120" y="1874519"/>
            <a:ext cx="1453895" cy="457200"/>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0" dirty="0">
                <a:solidFill>
                  <a:srgbClr val="778899"/>
                </a:solidFill>
                <a:latin typeface="Calibri"/>
                <a:ea typeface="Calibri"/>
                <a:cs typeface="Calibri"/>
                <a:sym typeface="Calibri"/>
              </a:rPr>
              <a:t>✗</a:t>
            </a:r>
          </a:p>
        </p:txBody>
      </p:sp>
      <p:sp>
        <p:nvSpPr>
          <p:cNvPr id="35" name="Cell05"/>
          <p:cNvSpPr txBox="1">
            <a:spLocks/>
          </p:cNvSpPr>
          <p:nvPr/>
        </p:nvSpPr>
        <p:spPr>
          <a:xfrm>
            <a:off x="9372600" y="1874519"/>
            <a:ext cx="1773936" cy="457200"/>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0" dirty="0">
                <a:solidFill>
                  <a:srgbClr val="778899"/>
                </a:solidFill>
                <a:latin typeface="Calibri"/>
                <a:ea typeface="Calibri"/>
                <a:cs typeface="Calibri"/>
                <a:sym typeface="Calibri"/>
              </a:rPr>
              <a:t>✗</a:t>
            </a:r>
          </a:p>
        </p:txBody>
      </p:sp>
      <p:sp>
        <p:nvSpPr>
          <p:cNvPr id="40" name="Cell10"/>
          <p:cNvSpPr txBox="1">
            <a:spLocks/>
          </p:cNvSpPr>
          <p:nvPr/>
        </p:nvSpPr>
        <p:spPr>
          <a:xfrm>
            <a:off x="256032" y="2386584"/>
            <a:ext cx="2395728" cy="457200"/>
          </a:xfrm>
          <a:prstGeom prst="rect">
            <a:avLst/>
          </a:prstGeom>
          <a:solidFill>
            <a:srgbClr val="243352"/>
          </a:solidFill>
          <a:ln>
            <a:solidFill>
              <a:srgbClr val="243352"/>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0" dirty="0">
                <a:solidFill>
                  <a:srgbClr val="FFFFFF"/>
                </a:solidFill>
                <a:latin typeface="Calibri"/>
                <a:ea typeface="Calibri"/>
                <a:cs typeface="Calibri"/>
                <a:sym typeface="Calibri"/>
              </a:rPr>
              <a:t>Asselman et al., 2023</a:t>
            </a:r>
          </a:p>
        </p:txBody>
      </p:sp>
      <p:sp>
        <p:nvSpPr>
          <p:cNvPr id="41" name="Cell11"/>
          <p:cNvSpPr txBox="1">
            <a:spLocks/>
          </p:cNvSpPr>
          <p:nvPr/>
        </p:nvSpPr>
        <p:spPr>
          <a:xfrm>
            <a:off x="2743200" y="2386584"/>
            <a:ext cx="2276856" cy="457200"/>
          </a:xfrm>
          <a:prstGeom prst="rect">
            <a:avLst/>
          </a:prstGeom>
          <a:solidFill>
            <a:srgbClr val="243352"/>
          </a:solidFill>
          <a:ln>
            <a:solidFill>
              <a:srgbClr val="243352"/>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0" dirty="0">
                <a:solidFill>
                  <a:srgbClr val="FFFFFF"/>
                </a:solidFill>
                <a:latin typeface="Calibri"/>
                <a:ea typeface="Calibri"/>
                <a:cs typeface="Calibri"/>
                <a:sym typeface="Calibri"/>
              </a:rPr>
              <a:t>XGBoost</a:t>
            </a:r>
          </a:p>
        </p:txBody>
      </p:sp>
      <p:sp>
        <p:nvSpPr>
          <p:cNvPr id="42" name="Cell12"/>
          <p:cNvSpPr txBox="1">
            <a:spLocks/>
          </p:cNvSpPr>
          <p:nvPr/>
        </p:nvSpPr>
        <p:spPr>
          <a:xfrm>
            <a:off x="5120640" y="2386584"/>
            <a:ext cx="1179576" cy="457200"/>
          </a:xfrm>
          <a:prstGeom prst="rect">
            <a:avLst/>
          </a:prstGeom>
          <a:solidFill>
            <a:srgbClr val="243352"/>
          </a:solidFill>
          <a:ln>
            <a:solidFill>
              <a:srgbClr val="243352"/>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0" dirty="0">
                <a:solidFill>
                  <a:srgbClr val="778899"/>
                </a:solidFill>
                <a:latin typeface="Calibri"/>
                <a:ea typeface="Calibri"/>
                <a:cs typeface="Calibri"/>
                <a:sym typeface="Calibri"/>
              </a:rPr>
              <a:t>✗</a:t>
            </a:r>
          </a:p>
        </p:txBody>
      </p:sp>
      <p:sp>
        <p:nvSpPr>
          <p:cNvPr id="43" name="Cell13"/>
          <p:cNvSpPr txBox="1">
            <a:spLocks/>
          </p:cNvSpPr>
          <p:nvPr/>
        </p:nvSpPr>
        <p:spPr>
          <a:xfrm>
            <a:off x="6400800" y="2386584"/>
            <a:ext cx="1316736" cy="457200"/>
          </a:xfrm>
          <a:prstGeom prst="rect">
            <a:avLst/>
          </a:prstGeom>
          <a:solidFill>
            <a:srgbClr val="243352"/>
          </a:solidFill>
          <a:ln>
            <a:solidFill>
              <a:srgbClr val="243352"/>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0" dirty="0">
                <a:solidFill>
                  <a:srgbClr val="778899"/>
                </a:solidFill>
                <a:latin typeface="Calibri"/>
                <a:ea typeface="Calibri"/>
                <a:cs typeface="Calibri"/>
                <a:sym typeface="Calibri"/>
              </a:rPr>
              <a:t>✗</a:t>
            </a:r>
          </a:p>
        </p:txBody>
      </p:sp>
      <p:sp>
        <p:nvSpPr>
          <p:cNvPr id="44" name="Cell14"/>
          <p:cNvSpPr txBox="1">
            <a:spLocks/>
          </p:cNvSpPr>
          <p:nvPr/>
        </p:nvSpPr>
        <p:spPr>
          <a:xfrm>
            <a:off x="7818120" y="2386584"/>
            <a:ext cx="1453895" cy="457200"/>
          </a:xfrm>
          <a:prstGeom prst="rect">
            <a:avLst/>
          </a:prstGeom>
          <a:solidFill>
            <a:srgbClr val="243352"/>
          </a:solidFill>
          <a:ln>
            <a:solidFill>
              <a:srgbClr val="243352"/>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0" dirty="0">
                <a:solidFill>
                  <a:srgbClr val="778899"/>
                </a:solidFill>
                <a:latin typeface="Calibri"/>
                <a:ea typeface="Calibri"/>
                <a:cs typeface="Calibri"/>
                <a:sym typeface="Calibri"/>
              </a:rPr>
              <a:t>✗</a:t>
            </a:r>
          </a:p>
        </p:txBody>
      </p:sp>
      <p:sp>
        <p:nvSpPr>
          <p:cNvPr id="45" name="Cell15"/>
          <p:cNvSpPr txBox="1">
            <a:spLocks/>
          </p:cNvSpPr>
          <p:nvPr/>
        </p:nvSpPr>
        <p:spPr>
          <a:xfrm>
            <a:off x="9372600" y="2386584"/>
            <a:ext cx="1773936" cy="457200"/>
          </a:xfrm>
          <a:prstGeom prst="rect">
            <a:avLst/>
          </a:prstGeom>
          <a:solidFill>
            <a:srgbClr val="243352"/>
          </a:solidFill>
          <a:ln>
            <a:solidFill>
              <a:srgbClr val="243352"/>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0" dirty="0">
                <a:solidFill>
                  <a:srgbClr val="778899"/>
                </a:solidFill>
                <a:latin typeface="Calibri"/>
                <a:ea typeface="Calibri"/>
                <a:cs typeface="Calibri"/>
                <a:sym typeface="Calibri"/>
              </a:rPr>
              <a:t>✗</a:t>
            </a:r>
          </a:p>
        </p:txBody>
      </p:sp>
      <p:sp>
        <p:nvSpPr>
          <p:cNvPr id="50" name="Cell20"/>
          <p:cNvSpPr txBox="1">
            <a:spLocks/>
          </p:cNvSpPr>
          <p:nvPr/>
        </p:nvSpPr>
        <p:spPr>
          <a:xfrm>
            <a:off x="256032" y="2898648"/>
            <a:ext cx="2395728" cy="457200"/>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0" dirty="0">
                <a:solidFill>
                  <a:srgbClr val="FFFFFF"/>
                </a:solidFill>
                <a:latin typeface="Calibri"/>
                <a:ea typeface="Calibri"/>
                <a:cs typeface="Calibri"/>
                <a:sym typeface="Calibri"/>
              </a:rPr>
              <a:t>Hamid et al., 2026</a:t>
            </a:r>
          </a:p>
        </p:txBody>
      </p:sp>
      <p:sp>
        <p:nvSpPr>
          <p:cNvPr id="51" name="Cell21"/>
          <p:cNvSpPr txBox="1">
            <a:spLocks/>
          </p:cNvSpPr>
          <p:nvPr/>
        </p:nvSpPr>
        <p:spPr>
          <a:xfrm>
            <a:off x="2743200" y="2898648"/>
            <a:ext cx="2276856" cy="457200"/>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0" dirty="0">
                <a:solidFill>
                  <a:srgbClr val="FFFFFF"/>
                </a:solidFill>
                <a:latin typeface="Calibri"/>
                <a:ea typeface="Calibri"/>
                <a:cs typeface="Calibri"/>
                <a:sym typeface="Calibri"/>
              </a:rPr>
              <a:t>XGBoost + SHAP</a:t>
            </a:r>
          </a:p>
        </p:txBody>
      </p:sp>
      <p:sp>
        <p:nvSpPr>
          <p:cNvPr id="52" name="Cell22"/>
          <p:cNvSpPr txBox="1">
            <a:spLocks/>
          </p:cNvSpPr>
          <p:nvPr/>
        </p:nvSpPr>
        <p:spPr>
          <a:xfrm>
            <a:off x="5120640" y="2898648"/>
            <a:ext cx="1179576" cy="457200"/>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0" dirty="0">
                <a:solidFill>
                  <a:srgbClr val="4AE085"/>
                </a:solidFill>
                <a:latin typeface="Calibri"/>
                <a:ea typeface="Calibri"/>
                <a:cs typeface="Calibri"/>
                <a:sym typeface="Calibri"/>
              </a:rPr>
              <a:t>✓</a:t>
            </a:r>
          </a:p>
        </p:txBody>
      </p:sp>
      <p:sp>
        <p:nvSpPr>
          <p:cNvPr id="53" name="Cell23"/>
          <p:cNvSpPr txBox="1">
            <a:spLocks/>
          </p:cNvSpPr>
          <p:nvPr/>
        </p:nvSpPr>
        <p:spPr>
          <a:xfrm>
            <a:off x="6400800" y="2898648"/>
            <a:ext cx="1316736" cy="457200"/>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0" dirty="0">
                <a:solidFill>
                  <a:srgbClr val="778899"/>
                </a:solidFill>
                <a:latin typeface="Calibri"/>
                <a:ea typeface="Calibri"/>
                <a:cs typeface="Calibri"/>
                <a:sym typeface="Calibri"/>
              </a:rPr>
              <a:t>✗</a:t>
            </a:r>
          </a:p>
        </p:txBody>
      </p:sp>
      <p:sp>
        <p:nvSpPr>
          <p:cNvPr id="54" name="Cell24"/>
          <p:cNvSpPr txBox="1">
            <a:spLocks/>
          </p:cNvSpPr>
          <p:nvPr/>
        </p:nvSpPr>
        <p:spPr>
          <a:xfrm>
            <a:off x="7818120" y="2898648"/>
            <a:ext cx="1453895" cy="457200"/>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0" dirty="0">
                <a:solidFill>
                  <a:srgbClr val="778899"/>
                </a:solidFill>
                <a:latin typeface="Calibri"/>
                <a:ea typeface="Calibri"/>
                <a:cs typeface="Calibri"/>
                <a:sym typeface="Calibri"/>
              </a:rPr>
              <a:t>✗</a:t>
            </a:r>
          </a:p>
        </p:txBody>
      </p:sp>
      <p:sp>
        <p:nvSpPr>
          <p:cNvPr id="55" name="Cell25"/>
          <p:cNvSpPr txBox="1">
            <a:spLocks/>
          </p:cNvSpPr>
          <p:nvPr/>
        </p:nvSpPr>
        <p:spPr>
          <a:xfrm>
            <a:off x="9372600" y="2898648"/>
            <a:ext cx="1773936" cy="457200"/>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0" dirty="0">
                <a:solidFill>
                  <a:srgbClr val="778899"/>
                </a:solidFill>
                <a:latin typeface="Calibri"/>
                <a:ea typeface="Calibri"/>
                <a:cs typeface="Calibri"/>
                <a:sym typeface="Calibri"/>
              </a:rPr>
              <a:t>✗</a:t>
            </a:r>
          </a:p>
        </p:txBody>
      </p:sp>
      <p:sp>
        <p:nvSpPr>
          <p:cNvPr id="60" name="Cell30"/>
          <p:cNvSpPr txBox="1">
            <a:spLocks/>
          </p:cNvSpPr>
          <p:nvPr/>
        </p:nvSpPr>
        <p:spPr>
          <a:xfrm>
            <a:off x="256032" y="3410712"/>
            <a:ext cx="2395728" cy="457200"/>
          </a:xfrm>
          <a:prstGeom prst="rect">
            <a:avLst/>
          </a:prstGeom>
          <a:solidFill>
            <a:srgbClr val="243352"/>
          </a:solidFill>
          <a:ln>
            <a:solidFill>
              <a:srgbClr val="243352"/>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0" dirty="0">
                <a:solidFill>
                  <a:srgbClr val="FFFFFF"/>
                </a:solidFill>
                <a:latin typeface="Calibri"/>
                <a:ea typeface="Calibri"/>
                <a:cs typeface="Calibri"/>
                <a:sym typeface="Calibri"/>
              </a:rPr>
              <a:t>Chen &amp; Liu, 2025</a:t>
            </a:r>
          </a:p>
        </p:txBody>
      </p:sp>
      <p:sp>
        <p:nvSpPr>
          <p:cNvPr id="61" name="Cell31"/>
          <p:cNvSpPr txBox="1">
            <a:spLocks/>
          </p:cNvSpPr>
          <p:nvPr/>
        </p:nvSpPr>
        <p:spPr>
          <a:xfrm>
            <a:off x="2743200" y="3410712"/>
            <a:ext cx="2276856" cy="457200"/>
          </a:xfrm>
          <a:prstGeom prst="rect">
            <a:avLst/>
          </a:prstGeom>
          <a:solidFill>
            <a:srgbClr val="243352"/>
          </a:solidFill>
          <a:ln>
            <a:solidFill>
              <a:srgbClr val="243352"/>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0" dirty="0">
                <a:solidFill>
                  <a:srgbClr val="FFFFFF"/>
                </a:solidFill>
                <a:latin typeface="Calibri"/>
                <a:ea typeface="Calibri"/>
                <a:cs typeface="Calibri"/>
                <a:sym typeface="Calibri"/>
              </a:rPr>
              <a:t>RF + XGB + SHAP</a:t>
            </a:r>
          </a:p>
        </p:txBody>
      </p:sp>
      <p:sp>
        <p:nvSpPr>
          <p:cNvPr id="62" name="Cell32"/>
          <p:cNvSpPr txBox="1">
            <a:spLocks/>
          </p:cNvSpPr>
          <p:nvPr/>
        </p:nvSpPr>
        <p:spPr>
          <a:xfrm>
            <a:off x="5120640" y="3410712"/>
            <a:ext cx="1179576" cy="457200"/>
          </a:xfrm>
          <a:prstGeom prst="rect">
            <a:avLst/>
          </a:prstGeom>
          <a:solidFill>
            <a:srgbClr val="243352"/>
          </a:solidFill>
          <a:ln>
            <a:solidFill>
              <a:srgbClr val="243352"/>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0" dirty="0">
                <a:solidFill>
                  <a:srgbClr val="4AE085"/>
                </a:solidFill>
                <a:latin typeface="Calibri"/>
                <a:ea typeface="Calibri"/>
                <a:cs typeface="Calibri"/>
                <a:sym typeface="Calibri"/>
              </a:rPr>
              <a:t>✓</a:t>
            </a:r>
          </a:p>
        </p:txBody>
      </p:sp>
      <p:sp>
        <p:nvSpPr>
          <p:cNvPr id="63" name="Cell33"/>
          <p:cNvSpPr txBox="1">
            <a:spLocks/>
          </p:cNvSpPr>
          <p:nvPr/>
        </p:nvSpPr>
        <p:spPr>
          <a:xfrm>
            <a:off x="6400800" y="3410712"/>
            <a:ext cx="1316736" cy="457200"/>
          </a:xfrm>
          <a:prstGeom prst="rect">
            <a:avLst/>
          </a:prstGeom>
          <a:solidFill>
            <a:srgbClr val="243352"/>
          </a:solidFill>
          <a:ln>
            <a:solidFill>
              <a:srgbClr val="243352"/>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0" dirty="0">
                <a:solidFill>
                  <a:srgbClr val="778899"/>
                </a:solidFill>
                <a:latin typeface="Calibri"/>
                <a:ea typeface="Calibri"/>
                <a:cs typeface="Calibri"/>
                <a:sym typeface="Calibri"/>
              </a:rPr>
              <a:t>✗</a:t>
            </a:r>
          </a:p>
        </p:txBody>
      </p:sp>
      <p:sp>
        <p:nvSpPr>
          <p:cNvPr id="64" name="Cell34"/>
          <p:cNvSpPr txBox="1">
            <a:spLocks/>
          </p:cNvSpPr>
          <p:nvPr/>
        </p:nvSpPr>
        <p:spPr>
          <a:xfrm>
            <a:off x="7818120" y="3410712"/>
            <a:ext cx="1453895" cy="457200"/>
          </a:xfrm>
          <a:prstGeom prst="rect">
            <a:avLst/>
          </a:prstGeom>
          <a:solidFill>
            <a:srgbClr val="243352"/>
          </a:solidFill>
          <a:ln>
            <a:solidFill>
              <a:srgbClr val="243352"/>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0" dirty="0">
                <a:solidFill>
                  <a:srgbClr val="778899"/>
                </a:solidFill>
                <a:latin typeface="Calibri"/>
                <a:ea typeface="Calibri"/>
                <a:cs typeface="Calibri"/>
                <a:sym typeface="Calibri"/>
              </a:rPr>
              <a:t>✗</a:t>
            </a:r>
          </a:p>
        </p:txBody>
      </p:sp>
      <p:sp>
        <p:nvSpPr>
          <p:cNvPr id="65" name="Cell35"/>
          <p:cNvSpPr txBox="1">
            <a:spLocks/>
          </p:cNvSpPr>
          <p:nvPr/>
        </p:nvSpPr>
        <p:spPr>
          <a:xfrm>
            <a:off x="9372600" y="3410712"/>
            <a:ext cx="1773936" cy="457200"/>
          </a:xfrm>
          <a:prstGeom prst="rect">
            <a:avLst/>
          </a:prstGeom>
          <a:solidFill>
            <a:srgbClr val="243352"/>
          </a:solidFill>
          <a:ln>
            <a:solidFill>
              <a:srgbClr val="243352"/>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0" dirty="0">
                <a:solidFill>
                  <a:srgbClr val="778899"/>
                </a:solidFill>
                <a:latin typeface="Calibri"/>
                <a:ea typeface="Calibri"/>
                <a:cs typeface="Calibri"/>
                <a:sym typeface="Calibri"/>
              </a:rPr>
              <a:t>✗</a:t>
            </a:r>
          </a:p>
        </p:txBody>
      </p:sp>
      <p:sp>
        <p:nvSpPr>
          <p:cNvPr id="70" name="Cell40"/>
          <p:cNvSpPr txBox="1">
            <a:spLocks/>
          </p:cNvSpPr>
          <p:nvPr/>
        </p:nvSpPr>
        <p:spPr>
          <a:xfrm>
            <a:off x="256032" y="3922776"/>
            <a:ext cx="2395728" cy="457200"/>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0" dirty="0">
                <a:solidFill>
                  <a:srgbClr val="FFFFFF"/>
                </a:solidFill>
                <a:latin typeface="Calibri"/>
                <a:ea typeface="Calibri"/>
                <a:cs typeface="Calibri"/>
                <a:sym typeface="Calibri"/>
              </a:rPr>
              <a:t>Rahman et al., 2025</a:t>
            </a:r>
          </a:p>
        </p:txBody>
      </p:sp>
      <p:sp>
        <p:nvSpPr>
          <p:cNvPr id="71" name="Cell41"/>
          <p:cNvSpPr txBox="1">
            <a:spLocks/>
          </p:cNvSpPr>
          <p:nvPr/>
        </p:nvSpPr>
        <p:spPr>
          <a:xfrm>
            <a:off x="2743200" y="3922776"/>
            <a:ext cx="2276856" cy="457200"/>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0" dirty="0">
                <a:solidFill>
                  <a:srgbClr val="FFFFFF"/>
                </a:solidFill>
                <a:latin typeface="Calibri"/>
                <a:ea typeface="Calibri"/>
                <a:cs typeface="Calibri"/>
                <a:sym typeface="Calibri"/>
              </a:rPr>
              <a:t>XGBoost + SHAP</a:t>
            </a:r>
          </a:p>
        </p:txBody>
      </p:sp>
      <p:sp>
        <p:nvSpPr>
          <p:cNvPr id="72" name="Cell42"/>
          <p:cNvSpPr txBox="1">
            <a:spLocks/>
          </p:cNvSpPr>
          <p:nvPr/>
        </p:nvSpPr>
        <p:spPr>
          <a:xfrm>
            <a:off x="5120640" y="3922776"/>
            <a:ext cx="1179576" cy="457200"/>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0" dirty="0">
                <a:solidFill>
                  <a:srgbClr val="4AE085"/>
                </a:solidFill>
                <a:latin typeface="Calibri"/>
                <a:ea typeface="Calibri"/>
                <a:cs typeface="Calibri"/>
                <a:sym typeface="Calibri"/>
              </a:rPr>
              <a:t>✓</a:t>
            </a:r>
          </a:p>
        </p:txBody>
      </p:sp>
      <p:sp>
        <p:nvSpPr>
          <p:cNvPr id="73" name="Cell43"/>
          <p:cNvSpPr txBox="1">
            <a:spLocks/>
          </p:cNvSpPr>
          <p:nvPr/>
        </p:nvSpPr>
        <p:spPr>
          <a:xfrm>
            <a:off x="6400800" y="3922776"/>
            <a:ext cx="1316736" cy="457200"/>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0" dirty="0">
                <a:solidFill>
                  <a:srgbClr val="778899"/>
                </a:solidFill>
                <a:latin typeface="Calibri"/>
                <a:ea typeface="Calibri"/>
                <a:cs typeface="Calibri"/>
                <a:sym typeface="Calibri"/>
              </a:rPr>
              <a:t>✗</a:t>
            </a:r>
          </a:p>
        </p:txBody>
      </p:sp>
      <p:sp>
        <p:nvSpPr>
          <p:cNvPr id="74" name="Cell44"/>
          <p:cNvSpPr txBox="1">
            <a:spLocks/>
          </p:cNvSpPr>
          <p:nvPr/>
        </p:nvSpPr>
        <p:spPr>
          <a:xfrm>
            <a:off x="7818120" y="3922776"/>
            <a:ext cx="1453895" cy="457200"/>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0" dirty="0">
                <a:solidFill>
                  <a:srgbClr val="778899"/>
                </a:solidFill>
                <a:latin typeface="Calibri"/>
                <a:ea typeface="Calibri"/>
                <a:cs typeface="Calibri"/>
                <a:sym typeface="Calibri"/>
              </a:rPr>
              <a:t>✗</a:t>
            </a:r>
          </a:p>
        </p:txBody>
      </p:sp>
      <p:sp>
        <p:nvSpPr>
          <p:cNvPr id="75" name="Cell45"/>
          <p:cNvSpPr txBox="1">
            <a:spLocks/>
          </p:cNvSpPr>
          <p:nvPr/>
        </p:nvSpPr>
        <p:spPr>
          <a:xfrm>
            <a:off x="9372600" y="3922776"/>
            <a:ext cx="1773936" cy="457200"/>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0" dirty="0">
                <a:solidFill>
                  <a:srgbClr val="778899"/>
                </a:solidFill>
                <a:latin typeface="Calibri"/>
                <a:ea typeface="Calibri"/>
                <a:cs typeface="Calibri"/>
                <a:sym typeface="Calibri"/>
              </a:rPr>
              <a:t>✗</a:t>
            </a:r>
          </a:p>
        </p:txBody>
      </p:sp>
      <p:sp>
        <p:nvSpPr>
          <p:cNvPr id="80" name="Cell50"/>
          <p:cNvSpPr txBox="1">
            <a:spLocks/>
          </p:cNvSpPr>
          <p:nvPr/>
        </p:nvSpPr>
        <p:spPr>
          <a:xfrm>
            <a:off x="256032" y="4434840"/>
            <a:ext cx="2395728" cy="457200"/>
          </a:xfrm>
          <a:prstGeom prst="rect">
            <a:avLst/>
          </a:prstGeom>
          <a:solidFill>
            <a:srgbClr val="8B0000"/>
          </a:solidFill>
          <a:ln>
            <a:solidFill>
              <a:srgbClr val="8B0000"/>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1" dirty="0">
                <a:solidFill>
                  <a:srgbClr val="C8973A"/>
                </a:solidFill>
                <a:latin typeface="Calibri"/>
                <a:ea typeface="Calibri"/>
                <a:cs typeface="Calibri"/>
                <a:sym typeface="Calibri"/>
              </a:rPr>
              <a:t>Proposed System</a:t>
            </a:r>
          </a:p>
        </p:txBody>
      </p:sp>
      <p:sp>
        <p:nvSpPr>
          <p:cNvPr id="81" name="Cell51"/>
          <p:cNvSpPr txBox="1">
            <a:spLocks/>
          </p:cNvSpPr>
          <p:nvPr/>
        </p:nvSpPr>
        <p:spPr>
          <a:xfrm>
            <a:off x="2743200" y="4434840"/>
            <a:ext cx="2276856" cy="457200"/>
          </a:xfrm>
          <a:prstGeom prst="rect">
            <a:avLst/>
          </a:prstGeom>
          <a:solidFill>
            <a:srgbClr val="8B0000"/>
          </a:solidFill>
          <a:ln>
            <a:solidFill>
              <a:srgbClr val="8B0000"/>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1" dirty="0">
                <a:solidFill>
                  <a:srgbClr val="C8973A"/>
                </a:solidFill>
                <a:latin typeface="Calibri"/>
                <a:ea typeface="Calibri"/>
                <a:cs typeface="Calibri"/>
                <a:sym typeface="Calibri"/>
              </a:rPr>
              <a:t>XGBoost + SHAP</a:t>
            </a:r>
          </a:p>
        </p:txBody>
      </p:sp>
      <p:sp>
        <p:nvSpPr>
          <p:cNvPr id="82" name="Cell52"/>
          <p:cNvSpPr txBox="1">
            <a:spLocks/>
          </p:cNvSpPr>
          <p:nvPr/>
        </p:nvSpPr>
        <p:spPr>
          <a:xfrm>
            <a:off x="5120640" y="4434840"/>
            <a:ext cx="1179576" cy="457200"/>
          </a:xfrm>
          <a:prstGeom prst="rect">
            <a:avLst/>
          </a:prstGeom>
          <a:solidFill>
            <a:srgbClr val="8B0000"/>
          </a:solidFill>
          <a:ln>
            <a:solidFill>
              <a:srgbClr val="8B0000"/>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1" dirty="0">
                <a:solidFill>
                  <a:srgbClr val="C8973A"/>
                </a:solidFill>
                <a:latin typeface="Calibri"/>
                <a:ea typeface="Calibri"/>
                <a:cs typeface="Calibri"/>
                <a:sym typeface="Calibri"/>
              </a:rPr>
              <a:t>✓</a:t>
            </a:r>
          </a:p>
        </p:txBody>
      </p:sp>
      <p:sp>
        <p:nvSpPr>
          <p:cNvPr id="83" name="Cell53"/>
          <p:cNvSpPr txBox="1">
            <a:spLocks/>
          </p:cNvSpPr>
          <p:nvPr/>
        </p:nvSpPr>
        <p:spPr>
          <a:xfrm>
            <a:off x="6400800" y="4434840"/>
            <a:ext cx="1316736" cy="457200"/>
          </a:xfrm>
          <a:prstGeom prst="rect">
            <a:avLst/>
          </a:prstGeom>
          <a:solidFill>
            <a:srgbClr val="8B0000"/>
          </a:solidFill>
          <a:ln>
            <a:solidFill>
              <a:srgbClr val="8B0000"/>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1" dirty="0">
                <a:solidFill>
                  <a:srgbClr val="C8973A"/>
                </a:solidFill>
                <a:latin typeface="Calibri"/>
                <a:ea typeface="Calibri"/>
                <a:cs typeface="Calibri"/>
                <a:sym typeface="Calibri"/>
              </a:rPr>
              <a:t>✓</a:t>
            </a:r>
          </a:p>
        </p:txBody>
      </p:sp>
      <p:sp>
        <p:nvSpPr>
          <p:cNvPr id="84" name="Cell54"/>
          <p:cNvSpPr txBox="1">
            <a:spLocks/>
          </p:cNvSpPr>
          <p:nvPr/>
        </p:nvSpPr>
        <p:spPr>
          <a:xfrm>
            <a:off x="7818120" y="4434840"/>
            <a:ext cx="1453895" cy="457200"/>
          </a:xfrm>
          <a:prstGeom prst="rect">
            <a:avLst/>
          </a:prstGeom>
          <a:solidFill>
            <a:srgbClr val="8B0000"/>
          </a:solidFill>
          <a:ln>
            <a:solidFill>
              <a:srgbClr val="8B0000"/>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1" dirty="0">
                <a:solidFill>
                  <a:srgbClr val="C8973A"/>
                </a:solidFill>
                <a:latin typeface="Calibri"/>
                <a:ea typeface="Calibri"/>
                <a:cs typeface="Calibri"/>
                <a:sym typeface="Calibri"/>
              </a:rPr>
              <a:t>✓</a:t>
            </a:r>
          </a:p>
        </p:txBody>
      </p:sp>
      <p:sp>
        <p:nvSpPr>
          <p:cNvPr id="85" name="Cell55"/>
          <p:cNvSpPr txBox="1">
            <a:spLocks/>
          </p:cNvSpPr>
          <p:nvPr/>
        </p:nvSpPr>
        <p:spPr>
          <a:xfrm>
            <a:off x="9372600" y="4434840"/>
            <a:ext cx="1773936" cy="457200"/>
          </a:xfrm>
          <a:prstGeom prst="rect">
            <a:avLst/>
          </a:prstGeom>
          <a:solidFill>
            <a:srgbClr val="8B0000"/>
          </a:solidFill>
          <a:ln>
            <a:solidFill>
              <a:srgbClr val="8B0000"/>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1" dirty="0">
                <a:solidFill>
                  <a:srgbClr val="C8973A"/>
                </a:solidFill>
                <a:latin typeface="Calibri"/>
                <a:ea typeface="Calibri"/>
                <a:cs typeface="Calibri"/>
                <a:sym typeface="Calibri"/>
              </a:rPr>
              <a:t>✓</a:t>
            </a:r>
          </a:p>
        </p:txBody>
      </p:sp>
      <p:sp>
        <p:nvSpPr>
          <p:cNvPr id="100" name="GapStrip"/>
          <p:cNvSpPr txBox="1">
            <a:spLocks/>
          </p:cNvSpPr>
          <p:nvPr/>
        </p:nvSpPr>
        <p:spPr>
          <a:xfrm>
            <a:off x="256032" y="5010912"/>
            <a:ext cx="11676888" cy="530352"/>
          </a:xfrm>
          <a:prstGeom prst="roundRect">
            <a:avLst>
              <a:gd name="adj" fmla="val 20000"/>
            </a:avLst>
          </a:prstGeom>
          <a:solidFill>
            <a:srgbClr val="F0F4F8"/>
          </a:solidFill>
          <a:ln>
            <a:solidFill>
              <a:srgbClr val="F0F4F8"/>
            </a:solidFill>
          </a:ln>
        </p:spPr>
        <p:txBody>
          <a:bodyPr spcFirstLastPara="0" wrap="square" lIns="45720" tIns="45720" rIns="45720" bIns="45720" anchor="ctr" anchorCtr="0">
            <a:normAutofit fontScale="92500" lnSpcReduction="10000"/>
          </a:bodyPr>
          <a:lstStyle/>
          <a:p>
            <a:pPr marL="0" indent="0" algn="ctr">
              <a:lnSpc>
                <a:spcPct val="90000"/>
              </a:lnSpc>
              <a:spcBef>
                <a:spcPts val="200"/>
              </a:spcBef>
              <a:spcAft>
                <a:spcPts val="0"/>
              </a:spcAft>
              <a:buNone/>
            </a:pPr>
            <a:r>
              <a:rPr lang="en-US" sz="1600" b="1" dirty="0">
                <a:solidFill>
                  <a:srgbClr val="1C2B4A"/>
                </a:solidFill>
                <a:latin typeface="Calibri"/>
                <a:ea typeface="Calibri"/>
                <a:cs typeface="Calibri"/>
                <a:sym typeface="Calibri"/>
              </a:rPr>
              <a:t>▸  All 5 papers share the same gap: XGBoost + SHAP used for analysis — never deployed in a real-time educator-facing interface. No Indian grading. This project fills all 3 gaps.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Grp"/>
        <p:cNvGrpSpPr/>
        <p:nvPr/>
      </p:nvGrpSpPr>
      <p:grpSpPr>
        <a:xfrm>
          <a:off x="0" y="0"/>
          <a:ext cx="0" cy="0"/>
          <a:chOff x="0" y="0"/>
          <a:chExt cx="0" cy="0"/>
        </a:xfrm>
      </p:grpSpPr>
      <p:sp>
        <p:nvSpPr>
          <p:cNvPr id="10" name="TitleStripe"/>
          <p:cNvSpPr txBox="1">
            <a:spLocks/>
          </p:cNvSpPr>
          <p:nvPr/>
        </p:nvSpPr>
        <p:spPr>
          <a:xfrm>
            <a:off x="256032" y="804672"/>
            <a:ext cx="64008" cy="658368"/>
          </a:xfrm>
          <a:prstGeom prst="rect">
            <a:avLst/>
          </a:prstGeom>
          <a:solidFill>
            <a:srgbClr val="8B0000"/>
          </a:solidFill>
          <a:ln>
            <a:solidFill>
              <a:srgbClr val="8B0000"/>
            </a:solidFill>
          </a:ln>
        </p:spPr>
      </p:sp>
      <p:sp>
        <p:nvSpPr>
          <p:cNvPr id="11" name="Title"/>
          <p:cNvSpPr txBox="1">
            <a:spLocks/>
          </p:cNvSpPr>
          <p:nvPr/>
        </p:nvSpPr>
        <p:spPr>
          <a:xfrm>
            <a:off x="457200" y="740665"/>
            <a:ext cx="11128248" cy="658368"/>
          </a:xfrm>
          <a:prstGeom prst="rect">
            <a:avLst/>
          </a:prstGeom>
          <a:noFill/>
          <a:ln>
            <a:noFill/>
          </a:ln>
        </p:spPr>
        <p:txBody>
          <a:bodyPr spcFirstLastPara="0" wrap="square" lIns="91425" tIns="45700" rIns="91425" bIns="45700" anchor="ctr" anchorCtr="0">
            <a:normAutofit/>
          </a:bodyPr>
          <a:lstStyle/>
          <a:p>
            <a:pPr marL="0" indent="0" algn="l">
              <a:lnSpc>
                <a:spcPct val="90000"/>
              </a:lnSpc>
              <a:spcBef>
                <a:spcPts val="0"/>
              </a:spcBef>
              <a:spcAft>
                <a:spcPts val="0"/>
              </a:spcAft>
              <a:buNone/>
            </a:pPr>
            <a:r>
              <a:rPr lang="en-US" sz="3200" b="1" dirty="0">
                <a:solidFill>
                  <a:srgbClr val="1C2B4A"/>
                </a:solidFill>
                <a:latin typeface="Calibri"/>
                <a:ea typeface="Calibri"/>
                <a:cs typeface="Calibri"/>
                <a:sym typeface="Calibri"/>
              </a:rPr>
              <a:t>Dataset &amp; Exploratory Data Analysis</a:t>
            </a:r>
          </a:p>
        </p:txBody>
      </p:sp>
      <p:sp>
        <p:nvSpPr>
          <p:cNvPr id="12" name="Divider"/>
          <p:cNvSpPr txBox="1">
            <a:spLocks/>
          </p:cNvSpPr>
          <p:nvPr/>
        </p:nvSpPr>
        <p:spPr>
          <a:xfrm>
            <a:off x="365760" y="1335023"/>
            <a:ext cx="11311128" cy="36576"/>
          </a:xfrm>
          <a:prstGeom prst="rect">
            <a:avLst/>
          </a:prstGeom>
          <a:solidFill>
            <a:srgbClr val="E8ECF0"/>
          </a:solidFill>
          <a:ln>
            <a:solidFill>
              <a:srgbClr val="E8ECF0"/>
            </a:solidFill>
          </a:ln>
        </p:spPr>
      </p:sp>
      <p:sp>
        <p:nvSpPr>
          <p:cNvPr id="20" name="LeftPanel"/>
          <p:cNvSpPr txBox="1">
            <a:spLocks/>
          </p:cNvSpPr>
          <p:nvPr/>
        </p:nvSpPr>
        <p:spPr>
          <a:xfrm>
            <a:off x="256032" y="1463040"/>
            <a:ext cx="5029200" cy="5074920"/>
          </a:xfrm>
          <a:prstGeom prst="roundRect">
            <a:avLst>
              <a:gd name="adj" fmla="val 20000"/>
            </a:avLst>
          </a:prstGeom>
          <a:solidFill>
            <a:srgbClr val="1C2B4A"/>
          </a:solidFill>
          <a:ln>
            <a:solidFill>
              <a:srgbClr val="1C2B4A"/>
            </a:solidFill>
          </a:ln>
        </p:spPr>
        <p:txBody>
          <a:bodyPr spcFirstLastPara="0" wrap="square" lIns="91425" tIns="45700" rIns="91425" bIns="45700" anchor="t" anchorCtr="0">
            <a:normAutofit/>
          </a:bodyPr>
          <a:lstStyle/>
          <a:p>
            <a:pPr marL="0" indent="0" algn="l">
              <a:lnSpc>
                <a:spcPct val="90000"/>
              </a:lnSpc>
              <a:spcBef>
                <a:spcPts val="0"/>
              </a:spcBef>
              <a:spcAft>
                <a:spcPts val="0"/>
              </a:spcAft>
              <a:buNone/>
            </a:pPr>
            <a:r>
              <a:rPr lang="en-US" sz="1900" b="1" dirty="0">
                <a:solidFill>
                  <a:srgbClr val="C8973A"/>
                </a:solidFill>
                <a:latin typeface="Calibri"/>
                <a:ea typeface="Calibri"/>
                <a:cs typeface="Calibri"/>
                <a:sym typeface="Calibri"/>
              </a:rPr>
              <a:t>Students Performance Dataset</a:t>
            </a:r>
          </a:p>
          <a:p>
            <a:pPr marL="0" indent="0" algn="l">
              <a:lnSpc>
                <a:spcPct val="90000"/>
              </a:lnSpc>
              <a:spcBef>
                <a:spcPts val="80"/>
              </a:spcBef>
              <a:spcAft>
                <a:spcPts val="0"/>
              </a:spcAft>
              <a:buNone/>
            </a:pPr>
            <a:r>
              <a:rPr lang="en-US" sz="1400" b="0" i="1" dirty="0">
                <a:solidFill>
                  <a:srgbClr val="8A9BB0"/>
                </a:solidFill>
                <a:latin typeface="Calibri"/>
                <a:ea typeface="Calibri"/>
                <a:cs typeface="Calibri"/>
                <a:sym typeface="Calibri"/>
              </a:rPr>
              <a:t>Kaggle · Rabie El Kharoua · 2024</a:t>
            </a:r>
          </a:p>
          <a:p>
            <a:pPr>
              <a:buNone/>
            </a:pPr>
            <a:endParaRPr sz="800" dirty="0"/>
          </a:p>
          <a:p>
            <a:pPr marL="0" indent="0" algn="l">
              <a:lnSpc>
                <a:spcPct val="90000"/>
              </a:lnSpc>
              <a:spcBef>
                <a:spcPts val="100"/>
              </a:spcBef>
              <a:spcAft>
                <a:spcPts val="0"/>
              </a:spcAft>
              <a:buNone/>
            </a:pPr>
            <a:r>
              <a:rPr lang="en-US" sz="1700" b="1" dirty="0">
                <a:solidFill>
                  <a:srgbClr val="FFFFFF"/>
                </a:solidFill>
                <a:latin typeface="Calibri"/>
                <a:ea typeface="Calibri"/>
                <a:cs typeface="Calibri"/>
                <a:sym typeface="Calibri"/>
              </a:rPr>
              <a:t>Indian Grading Standard Applied:</a:t>
            </a:r>
          </a:p>
          <a:p>
            <a:pPr marL="0" indent="0" algn="l">
              <a:lnSpc>
                <a:spcPct val="90000"/>
              </a:lnSpc>
              <a:spcBef>
                <a:spcPts val="100"/>
              </a:spcBef>
              <a:spcAft>
                <a:spcPts val="0"/>
              </a:spcAft>
              <a:buNone/>
            </a:pPr>
            <a:r>
              <a:rPr lang="en-US" sz="1600" b="0" dirty="0">
                <a:solidFill>
                  <a:srgbClr val="FFCCAA"/>
                </a:solidFill>
                <a:latin typeface="Courier New"/>
                <a:ea typeface="Courier New"/>
                <a:cs typeface="Courier New"/>
                <a:sym typeface="Courier New"/>
              </a:rPr>
              <a:t>AcademicRisk = 1  if  GPA &lt; 2.0  (At Risk)</a:t>
            </a:r>
          </a:p>
          <a:p>
            <a:pPr marL="0" indent="0" algn="l">
              <a:lnSpc>
                <a:spcPct val="90000"/>
              </a:lnSpc>
              <a:spcBef>
                <a:spcPts val="60"/>
              </a:spcBef>
              <a:spcAft>
                <a:spcPts val="0"/>
              </a:spcAft>
              <a:buNone/>
            </a:pPr>
            <a:r>
              <a:rPr lang="en-US" sz="1600" b="0" dirty="0">
                <a:solidFill>
                  <a:srgbClr val="AAFFCC"/>
                </a:solidFill>
                <a:latin typeface="Courier New"/>
                <a:ea typeface="Courier New"/>
                <a:cs typeface="Courier New"/>
                <a:sym typeface="Courier New"/>
              </a:rPr>
              <a:t>AcademicRisk = 0  if  GPA ≥ 2.0  (Safe)</a:t>
            </a:r>
          </a:p>
          <a:p>
            <a:pPr>
              <a:buNone/>
            </a:pPr>
            <a:endParaRPr sz="800" dirty="0"/>
          </a:p>
          <a:p>
            <a:pPr marL="0" indent="0" algn="l">
              <a:lnSpc>
                <a:spcPct val="90000"/>
              </a:lnSpc>
              <a:spcBef>
                <a:spcPts val="100"/>
              </a:spcBef>
              <a:spcAft>
                <a:spcPts val="0"/>
              </a:spcAft>
              <a:buNone/>
            </a:pPr>
            <a:r>
              <a:rPr lang="en-US" sz="1700" b="1" dirty="0">
                <a:solidFill>
                  <a:srgbClr val="FFFFFF"/>
                </a:solidFill>
                <a:latin typeface="Calibri"/>
                <a:ea typeface="Calibri"/>
                <a:cs typeface="Calibri"/>
                <a:sym typeface="Calibri"/>
              </a:rPr>
              <a:t>Class Balance:</a:t>
            </a:r>
          </a:p>
          <a:p>
            <a:pPr marL="0" indent="0" algn="l">
              <a:lnSpc>
                <a:spcPct val="90000"/>
              </a:lnSpc>
              <a:spcBef>
                <a:spcPts val="80"/>
              </a:spcBef>
              <a:spcAft>
                <a:spcPts val="0"/>
              </a:spcAft>
              <a:buNone/>
            </a:pPr>
            <a:r>
              <a:rPr lang="en-US" sz="1600" b="0" dirty="0">
                <a:solidFill>
                  <a:srgbClr val="AAFFCC"/>
                </a:solidFill>
                <a:latin typeface="Calibri"/>
                <a:ea typeface="Calibri"/>
                <a:cs typeface="Calibri"/>
                <a:sym typeface="Calibri"/>
              </a:rPr>
              <a:t>1,274 At Risk (53.26%)  ·  Naturally balanced!</a:t>
            </a:r>
          </a:p>
          <a:p>
            <a:pPr marL="0" indent="0" algn="l">
              <a:lnSpc>
                <a:spcPct val="90000"/>
              </a:lnSpc>
              <a:spcBef>
                <a:spcPts val="60"/>
              </a:spcBef>
              <a:spcAft>
                <a:spcPts val="0"/>
              </a:spcAft>
              <a:buNone/>
            </a:pPr>
            <a:r>
              <a:rPr lang="en-US" sz="1600" b="0" dirty="0">
                <a:solidFill>
                  <a:srgbClr val="AACCFF"/>
                </a:solidFill>
                <a:latin typeface="Calibri"/>
                <a:ea typeface="Calibri"/>
                <a:cs typeface="Calibri"/>
                <a:sym typeface="Calibri"/>
              </a:rPr>
              <a:t>1,118 Not At Risk (46.74%)  ·  No SMOTE needed</a:t>
            </a:r>
          </a:p>
          <a:p>
            <a:pPr>
              <a:buNone/>
            </a:pPr>
            <a:endParaRPr sz="800" dirty="0"/>
          </a:p>
          <a:p>
            <a:pPr marL="0" indent="0" algn="l">
              <a:lnSpc>
                <a:spcPct val="90000"/>
              </a:lnSpc>
              <a:spcBef>
                <a:spcPts val="100"/>
              </a:spcBef>
              <a:spcAft>
                <a:spcPts val="0"/>
              </a:spcAft>
              <a:buNone/>
            </a:pPr>
            <a:r>
              <a:rPr lang="en-US" sz="1700" b="1" dirty="0">
                <a:solidFill>
                  <a:srgbClr val="FFFFFF"/>
                </a:solidFill>
                <a:latin typeface="Calibri"/>
                <a:ea typeface="Calibri"/>
                <a:cs typeface="Calibri"/>
                <a:sym typeface="Calibri"/>
              </a:rPr>
              <a:t>Preprocessing:</a:t>
            </a:r>
          </a:p>
          <a:p>
            <a:pPr marL="0" indent="0" algn="l">
              <a:lnSpc>
                <a:spcPct val="90000"/>
              </a:lnSpc>
              <a:spcBef>
                <a:spcPts val="80"/>
              </a:spcBef>
              <a:spcAft>
                <a:spcPts val="0"/>
              </a:spcAft>
              <a:buNone/>
            </a:pPr>
            <a:r>
              <a:rPr lang="en-US" sz="1500" b="0" dirty="0">
                <a:solidFill>
                  <a:srgbClr val="8A9BB0"/>
                </a:solidFill>
                <a:latin typeface="Calibri"/>
                <a:ea typeface="Calibri"/>
                <a:cs typeface="Calibri"/>
                <a:sym typeface="Calibri"/>
              </a:rPr>
              <a:t>Dropped: StudentID · GPA · GradeClass (leakage)</a:t>
            </a:r>
          </a:p>
          <a:p>
            <a:pPr marL="0" indent="0" algn="l">
              <a:lnSpc>
                <a:spcPct val="90000"/>
              </a:lnSpc>
              <a:spcBef>
                <a:spcPts val="60"/>
              </a:spcBef>
              <a:spcAft>
                <a:spcPts val="0"/>
              </a:spcAft>
              <a:buNone/>
            </a:pPr>
            <a:r>
              <a:rPr lang="en-US" sz="1500" b="0" dirty="0">
                <a:solidFill>
                  <a:srgbClr val="8A9BB0"/>
                </a:solidFill>
                <a:latin typeface="Calibri"/>
                <a:ea typeface="Calibri"/>
                <a:cs typeface="Calibri"/>
                <a:sym typeface="Calibri"/>
              </a:rPr>
              <a:t>Split: 80% train (1,913)  ·  20% test (479)</a:t>
            </a:r>
          </a:p>
        </p:txBody>
      </p:sp>
      <p:sp>
        <p:nvSpPr>
          <p:cNvPr id="30" name="CorrLabel"/>
          <p:cNvSpPr txBox="1">
            <a:spLocks/>
          </p:cNvSpPr>
          <p:nvPr/>
        </p:nvSpPr>
        <p:spPr>
          <a:xfrm>
            <a:off x="5486400" y="1463040"/>
            <a:ext cx="6400800" cy="347472"/>
          </a:xfrm>
          <a:prstGeom prst="rect">
            <a:avLst/>
          </a:prstGeom>
          <a:noFill/>
          <a:ln>
            <a:noFill/>
          </a:ln>
        </p:spPr>
        <p:txBody>
          <a:bodyPr spcFirstLastPara="0" wrap="square" lIns="91425" tIns="45700" rIns="91425" bIns="45700" anchor="ctr" anchorCtr="0">
            <a:normAutofit/>
          </a:bodyPr>
          <a:lstStyle/>
          <a:p>
            <a:pPr marL="0" indent="0" algn="l">
              <a:lnSpc>
                <a:spcPct val="90000"/>
              </a:lnSpc>
              <a:spcBef>
                <a:spcPts val="200"/>
              </a:spcBef>
              <a:spcAft>
                <a:spcPts val="0"/>
              </a:spcAft>
              <a:buNone/>
            </a:pPr>
            <a:r>
              <a:rPr lang="en-US" sz="1700" b="1" dirty="0">
                <a:solidFill>
                  <a:srgbClr val="1C2B4A"/>
                </a:solidFill>
                <a:latin typeface="Calibri"/>
                <a:ea typeface="Calibri"/>
                <a:cs typeface="Calibri"/>
                <a:sym typeface="Calibri"/>
              </a:rPr>
              <a:t>Key EDA Correlations with GPA</a:t>
            </a:r>
          </a:p>
        </p:txBody>
      </p:sp>
      <p:sp>
        <p:nvSpPr>
          <p:cNvPr id="31" name="Corr0"/>
          <p:cNvSpPr txBox="1">
            <a:spLocks/>
          </p:cNvSpPr>
          <p:nvPr/>
        </p:nvSpPr>
        <p:spPr>
          <a:xfrm>
            <a:off x="5486400" y="1874519"/>
            <a:ext cx="6446520" cy="804672"/>
          </a:xfrm>
          <a:prstGeom prst="roundRect">
            <a:avLst>
              <a:gd name="adj" fmla="val 20000"/>
            </a:avLst>
          </a:prstGeom>
          <a:solidFill>
            <a:srgbClr val="8B0000"/>
          </a:solidFill>
          <a:ln>
            <a:solidFill>
              <a:srgbClr val="8B0000"/>
            </a:solidFill>
          </a:ln>
        </p:spPr>
        <p:txBody>
          <a:bodyPr spcFirstLastPara="0" wrap="square" lIns="45720" tIns="45720" rIns="45720" bIns="45720" anchor="ctr" anchorCtr="0">
            <a:normAutofit/>
          </a:bodyPr>
          <a:lstStyle/>
          <a:p>
            <a:pPr marL="0" indent="0" algn="l">
              <a:lnSpc>
                <a:spcPct val="90000"/>
              </a:lnSpc>
              <a:spcBef>
                <a:spcPts val="0"/>
              </a:spcBef>
              <a:spcAft>
                <a:spcPts val="0"/>
              </a:spcAft>
              <a:buNone/>
            </a:pPr>
            <a:r>
              <a:rPr lang="en-US" sz="1700" b="1" dirty="0">
                <a:solidFill>
                  <a:srgbClr val="FFFFFF"/>
                </a:solidFill>
                <a:latin typeface="Calibri"/>
                <a:ea typeface="Calibri"/>
                <a:cs typeface="Calibri"/>
                <a:sym typeface="Calibri"/>
              </a:rPr>
              <a:t>Absences  r = −0.92</a:t>
            </a:r>
          </a:p>
          <a:p>
            <a:pPr marL="0" indent="0" algn="l">
              <a:lnSpc>
                <a:spcPct val="90000"/>
              </a:lnSpc>
              <a:spcBef>
                <a:spcPts val="70"/>
              </a:spcBef>
              <a:spcAft>
                <a:spcPts val="0"/>
              </a:spcAft>
              <a:buNone/>
            </a:pPr>
            <a:r>
              <a:rPr lang="en-US" sz="1400" b="0" dirty="0">
                <a:solidFill>
                  <a:srgbClr val="CCDDEE"/>
                </a:solidFill>
                <a:latin typeface="Calibri"/>
                <a:ea typeface="Calibri"/>
                <a:cs typeface="Calibri"/>
                <a:sym typeface="Calibri"/>
              </a:rPr>
              <a:t>Dominant predictor</a:t>
            </a:r>
          </a:p>
        </p:txBody>
      </p:sp>
      <p:sp>
        <p:nvSpPr>
          <p:cNvPr id="32" name="Corr1"/>
          <p:cNvSpPr txBox="1">
            <a:spLocks/>
          </p:cNvSpPr>
          <p:nvPr/>
        </p:nvSpPr>
        <p:spPr>
          <a:xfrm>
            <a:off x="5486400" y="2788920"/>
            <a:ext cx="6446520" cy="804672"/>
          </a:xfrm>
          <a:prstGeom prst="roundRect">
            <a:avLst>
              <a:gd name="adj" fmla="val 20000"/>
            </a:avLst>
          </a:prstGeom>
          <a:solidFill>
            <a:srgbClr val="1C2B4A"/>
          </a:solidFill>
          <a:ln>
            <a:solidFill>
              <a:srgbClr val="1C2B4A"/>
            </a:solidFill>
          </a:ln>
        </p:spPr>
        <p:txBody>
          <a:bodyPr spcFirstLastPara="0" wrap="square" lIns="45720" tIns="45720" rIns="45720" bIns="45720" anchor="ctr" anchorCtr="0">
            <a:normAutofit/>
          </a:bodyPr>
          <a:lstStyle/>
          <a:p>
            <a:pPr marL="0" indent="0" algn="l">
              <a:lnSpc>
                <a:spcPct val="90000"/>
              </a:lnSpc>
              <a:spcBef>
                <a:spcPts val="0"/>
              </a:spcBef>
              <a:spcAft>
                <a:spcPts val="0"/>
              </a:spcAft>
              <a:buNone/>
            </a:pPr>
            <a:r>
              <a:rPr lang="en-US" sz="1700" b="1" dirty="0">
                <a:solidFill>
                  <a:srgbClr val="FFFFFF"/>
                </a:solidFill>
                <a:latin typeface="Calibri"/>
                <a:ea typeface="Calibri"/>
                <a:cs typeface="Calibri"/>
                <a:sym typeface="Calibri"/>
              </a:rPr>
              <a:t>ParentalSupport  r = +0.19</a:t>
            </a:r>
          </a:p>
          <a:p>
            <a:pPr marL="0" indent="0" algn="l">
              <a:lnSpc>
                <a:spcPct val="90000"/>
              </a:lnSpc>
              <a:spcBef>
                <a:spcPts val="70"/>
              </a:spcBef>
              <a:spcAft>
                <a:spcPts val="0"/>
              </a:spcAft>
              <a:buNone/>
            </a:pPr>
            <a:r>
              <a:rPr lang="en-US" sz="1400" b="0" dirty="0">
                <a:solidFill>
                  <a:srgbClr val="CCDDEE"/>
                </a:solidFill>
                <a:latin typeface="Calibri"/>
                <a:ea typeface="Calibri"/>
                <a:cs typeface="Calibri"/>
                <a:sym typeface="Calibri"/>
              </a:rPr>
              <a:t>2nd tier feature</a:t>
            </a:r>
          </a:p>
        </p:txBody>
      </p:sp>
      <p:sp>
        <p:nvSpPr>
          <p:cNvPr id="33" name="Corr2"/>
          <p:cNvSpPr txBox="1">
            <a:spLocks/>
          </p:cNvSpPr>
          <p:nvPr/>
        </p:nvSpPr>
        <p:spPr>
          <a:xfrm>
            <a:off x="5486400" y="3703320"/>
            <a:ext cx="6446520" cy="804672"/>
          </a:xfrm>
          <a:prstGeom prst="roundRect">
            <a:avLst>
              <a:gd name="adj" fmla="val 20000"/>
            </a:avLst>
          </a:prstGeom>
          <a:solidFill>
            <a:srgbClr val="1A6B7C"/>
          </a:solidFill>
          <a:ln>
            <a:solidFill>
              <a:srgbClr val="1A6B7C"/>
            </a:solidFill>
          </a:ln>
        </p:spPr>
        <p:txBody>
          <a:bodyPr spcFirstLastPara="0" wrap="square" lIns="45720" tIns="45720" rIns="45720" bIns="45720" anchor="ctr" anchorCtr="0">
            <a:normAutofit/>
          </a:bodyPr>
          <a:lstStyle/>
          <a:p>
            <a:pPr marL="0" indent="0" algn="l">
              <a:lnSpc>
                <a:spcPct val="90000"/>
              </a:lnSpc>
              <a:spcBef>
                <a:spcPts val="0"/>
              </a:spcBef>
              <a:spcAft>
                <a:spcPts val="0"/>
              </a:spcAft>
              <a:buNone/>
            </a:pPr>
            <a:r>
              <a:rPr lang="en-US" sz="1700" b="1" dirty="0">
                <a:solidFill>
                  <a:srgbClr val="FFFFFF"/>
                </a:solidFill>
                <a:latin typeface="Calibri"/>
                <a:ea typeface="Calibri"/>
                <a:cs typeface="Calibri"/>
                <a:sym typeface="Calibri"/>
              </a:rPr>
              <a:t>StudyTimeWeekly  r = +0.18</a:t>
            </a:r>
          </a:p>
          <a:p>
            <a:pPr marL="0" indent="0" algn="l">
              <a:lnSpc>
                <a:spcPct val="90000"/>
              </a:lnSpc>
              <a:spcBef>
                <a:spcPts val="70"/>
              </a:spcBef>
              <a:spcAft>
                <a:spcPts val="0"/>
              </a:spcAft>
              <a:buNone/>
            </a:pPr>
            <a:r>
              <a:rPr lang="en-US" sz="1400" b="0" dirty="0">
                <a:solidFill>
                  <a:srgbClr val="CCDDEE"/>
                </a:solidFill>
                <a:latin typeface="Calibri"/>
                <a:ea typeface="Calibri"/>
                <a:cs typeface="Calibri"/>
                <a:sym typeface="Calibri"/>
              </a:rPr>
              <a:t>3rd tier feature</a:t>
            </a:r>
          </a:p>
        </p:txBody>
      </p:sp>
      <p:sp>
        <p:nvSpPr>
          <p:cNvPr id="34" name="Corr3"/>
          <p:cNvSpPr txBox="1">
            <a:spLocks/>
          </p:cNvSpPr>
          <p:nvPr/>
        </p:nvSpPr>
        <p:spPr>
          <a:xfrm>
            <a:off x="5486400" y="4617720"/>
            <a:ext cx="6446520" cy="804672"/>
          </a:xfrm>
          <a:prstGeom prst="roundRect">
            <a:avLst>
              <a:gd name="adj" fmla="val 20000"/>
            </a:avLst>
          </a:prstGeom>
          <a:solidFill>
            <a:srgbClr val="5A4A8A"/>
          </a:solidFill>
          <a:ln>
            <a:solidFill>
              <a:srgbClr val="5A4A8A"/>
            </a:solidFill>
          </a:ln>
        </p:spPr>
        <p:txBody>
          <a:bodyPr spcFirstLastPara="0" wrap="square" lIns="45720" tIns="45720" rIns="45720" bIns="45720" anchor="ctr" anchorCtr="0">
            <a:normAutofit/>
          </a:bodyPr>
          <a:lstStyle/>
          <a:p>
            <a:pPr marL="0" indent="0" algn="l">
              <a:lnSpc>
                <a:spcPct val="90000"/>
              </a:lnSpc>
              <a:spcBef>
                <a:spcPts val="0"/>
              </a:spcBef>
              <a:spcAft>
                <a:spcPts val="0"/>
              </a:spcAft>
              <a:buNone/>
            </a:pPr>
            <a:r>
              <a:rPr lang="en-US" sz="1700" b="1" dirty="0">
                <a:solidFill>
                  <a:srgbClr val="FFFFFF"/>
                </a:solidFill>
                <a:latin typeface="Calibri"/>
                <a:ea typeface="Calibri"/>
                <a:cs typeface="Calibri"/>
                <a:sym typeface="Calibri"/>
              </a:rPr>
              <a:t>Tutoring  r = +0.15</a:t>
            </a:r>
          </a:p>
          <a:p>
            <a:pPr marL="0" indent="0" algn="l">
              <a:lnSpc>
                <a:spcPct val="90000"/>
              </a:lnSpc>
              <a:spcBef>
                <a:spcPts val="70"/>
              </a:spcBef>
              <a:spcAft>
                <a:spcPts val="0"/>
              </a:spcAft>
              <a:buNone/>
            </a:pPr>
            <a:r>
              <a:rPr lang="en-US" sz="1400" b="0" dirty="0">
                <a:solidFill>
                  <a:srgbClr val="CCDDEE"/>
                </a:solidFill>
                <a:latin typeface="Calibri"/>
                <a:ea typeface="Calibri"/>
                <a:cs typeface="Calibri"/>
                <a:sym typeface="Calibri"/>
              </a:rPr>
              <a:t>Moderate protection</a:t>
            </a:r>
          </a:p>
        </p:txBody>
      </p:sp>
      <p:sp>
        <p:nvSpPr>
          <p:cNvPr id="35" name="Corr4"/>
          <p:cNvSpPr txBox="1">
            <a:spLocks/>
          </p:cNvSpPr>
          <p:nvPr/>
        </p:nvSpPr>
        <p:spPr>
          <a:xfrm>
            <a:off x="5486400" y="5532120"/>
            <a:ext cx="6446520" cy="804672"/>
          </a:xfrm>
          <a:prstGeom prst="roundRect">
            <a:avLst>
              <a:gd name="adj" fmla="val 20000"/>
            </a:avLst>
          </a:prstGeom>
          <a:solidFill>
            <a:srgbClr val="3A6040"/>
          </a:solidFill>
          <a:ln>
            <a:solidFill>
              <a:srgbClr val="3A6040"/>
            </a:solidFill>
          </a:ln>
        </p:spPr>
        <p:txBody>
          <a:bodyPr spcFirstLastPara="0" wrap="square" lIns="45720" tIns="45720" rIns="45720" bIns="45720" anchor="ctr" anchorCtr="0">
            <a:normAutofit/>
          </a:bodyPr>
          <a:lstStyle/>
          <a:p>
            <a:pPr marL="0" indent="0" algn="l">
              <a:lnSpc>
                <a:spcPct val="90000"/>
              </a:lnSpc>
              <a:spcBef>
                <a:spcPts val="0"/>
              </a:spcBef>
              <a:spcAft>
                <a:spcPts val="0"/>
              </a:spcAft>
              <a:buNone/>
            </a:pPr>
            <a:r>
              <a:rPr lang="en-US" sz="1700" b="1" dirty="0">
                <a:solidFill>
                  <a:srgbClr val="FFFFFF"/>
                </a:solidFill>
                <a:latin typeface="Calibri"/>
                <a:ea typeface="Calibri"/>
                <a:cs typeface="Calibri"/>
                <a:sym typeface="Calibri"/>
              </a:rPr>
              <a:t>Gender / Age  r ≈ 0.00</a:t>
            </a:r>
          </a:p>
          <a:p>
            <a:pPr marL="0" indent="0" algn="l">
              <a:lnSpc>
                <a:spcPct val="90000"/>
              </a:lnSpc>
              <a:spcBef>
                <a:spcPts val="70"/>
              </a:spcBef>
              <a:spcAft>
                <a:spcPts val="0"/>
              </a:spcAft>
              <a:buNone/>
            </a:pPr>
            <a:r>
              <a:rPr lang="en-US" sz="1400" b="0" dirty="0">
                <a:solidFill>
                  <a:srgbClr val="CCDDEE"/>
                </a:solidFill>
                <a:latin typeface="Calibri"/>
                <a:ea typeface="Calibri"/>
                <a:cs typeface="Calibri"/>
                <a:sym typeface="Calibri"/>
              </a:rPr>
              <a:t>Negligible — not demographic-driven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Grp"/>
        <p:cNvGrpSpPr/>
        <p:nvPr/>
      </p:nvGrpSpPr>
      <p:grpSpPr>
        <a:xfrm>
          <a:off x="0" y="0"/>
          <a:ext cx="0" cy="0"/>
          <a:chOff x="0" y="0"/>
          <a:chExt cx="0" cy="0"/>
        </a:xfrm>
      </p:grpSpPr>
      <p:sp>
        <p:nvSpPr>
          <p:cNvPr id="10" name="TitleStripe"/>
          <p:cNvSpPr txBox="1">
            <a:spLocks/>
          </p:cNvSpPr>
          <p:nvPr/>
        </p:nvSpPr>
        <p:spPr>
          <a:xfrm>
            <a:off x="248998" y="827533"/>
            <a:ext cx="64008" cy="658368"/>
          </a:xfrm>
          <a:prstGeom prst="rect">
            <a:avLst/>
          </a:prstGeom>
          <a:solidFill>
            <a:srgbClr val="8B0000"/>
          </a:solidFill>
          <a:ln>
            <a:solidFill>
              <a:srgbClr val="8B0000"/>
            </a:solidFill>
          </a:ln>
        </p:spPr>
      </p:sp>
      <p:sp>
        <p:nvSpPr>
          <p:cNvPr id="11" name="Title"/>
          <p:cNvSpPr txBox="1">
            <a:spLocks/>
          </p:cNvSpPr>
          <p:nvPr/>
        </p:nvSpPr>
        <p:spPr>
          <a:xfrm>
            <a:off x="417459" y="827533"/>
            <a:ext cx="11128248" cy="658368"/>
          </a:xfrm>
          <a:prstGeom prst="rect">
            <a:avLst/>
          </a:prstGeom>
          <a:noFill/>
          <a:ln>
            <a:noFill/>
          </a:ln>
        </p:spPr>
        <p:txBody>
          <a:bodyPr spcFirstLastPara="0" wrap="square" lIns="91425" tIns="45700" rIns="91425" bIns="45700" anchor="ctr" anchorCtr="0">
            <a:normAutofit fontScale="92500" lnSpcReduction="10000"/>
          </a:bodyPr>
          <a:lstStyle/>
          <a:p>
            <a:pPr marL="0" indent="0" algn="l">
              <a:lnSpc>
                <a:spcPct val="90000"/>
              </a:lnSpc>
              <a:spcBef>
                <a:spcPts val="0"/>
              </a:spcBef>
              <a:spcAft>
                <a:spcPts val="0"/>
              </a:spcAft>
              <a:buNone/>
            </a:pPr>
            <a:r>
              <a:rPr lang="en-US" sz="3200" b="1" dirty="0">
                <a:solidFill>
                  <a:srgbClr val="1C2B4A"/>
                </a:solidFill>
                <a:latin typeface="Calibri"/>
                <a:ea typeface="Calibri"/>
                <a:cs typeface="Calibri"/>
                <a:sym typeface="Calibri"/>
              </a:rPr>
              <a:t>Methodology</a:t>
            </a:r>
          </a:p>
          <a:p>
            <a:pPr marL="0" indent="0" algn="l">
              <a:lnSpc>
                <a:spcPct val="90000"/>
              </a:lnSpc>
              <a:spcBef>
                <a:spcPts val="60"/>
              </a:spcBef>
              <a:spcAft>
                <a:spcPts val="0"/>
              </a:spcAft>
              <a:buNone/>
            </a:pPr>
            <a:r>
              <a:rPr lang="en-US" sz="1600" b="0" i="1" dirty="0">
                <a:solidFill>
                  <a:srgbClr val="8A9BB0"/>
                </a:solidFill>
                <a:latin typeface="Calibri"/>
                <a:ea typeface="Calibri"/>
                <a:cs typeface="Calibri"/>
                <a:sym typeface="Calibri"/>
              </a:rPr>
              <a:t>End-to-end ML pipeline · 9 stages</a:t>
            </a:r>
          </a:p>
        </p:txBody>
      </p:sp>
      <p:sp>
        <p:nvSpPr>
          <p:cNvPr id="12" name="Divider"/>
          <p:cNvSpPr txBox="1">
            <a:spLocks/>
          </p:cNvSpPr>
          <p:nvPr/>
        </p:nvSpPr>
        <p:spPr>
          <a:xfrm>
            <a:off x="326019" y="1426465"/>
            <a:ext cx="11311128" cy="36576"/>
          </a:xfrm>
          <a:prstGeom prst="rect">
            <a:avLst/>
          </a:prstGeom>
          <a:solidFill>
            <a:srgbClr val="E8ECF0"/>
          </a:solidFill>
          <a:ln>
            <a:solidFill>
              <a:srgbClr val="E8ECF0"/>
            </a:solidFill>
          </a:ln>
        </p:spPr>
      </p:sp>
      <p:sp>
        <p:nvSpPr>
          <p:cNvPr id="20" name="Step00"/>
          <p:cNvSpPr txBox="1">
            <a:spLocks/>
          </p:cNvSpPr>
          <p:nvPr/>
        </p:nvSpPr>
        <p:spPr>
          <a:xfrm>
            <a:off x="256032" y="1508760"/>
            <a:ext cx="2249424" cy="1783080"/>
          </a:xfrm>
          <a:prstGeom prst="roundRect">
            <a:avLst>
              <a:gd name="adj" fmla="val 20000"/>
            </a:avLst>
          </a:prstGeom>
          <a:solidFill>
            <a:srgbClr val="1C2B4A"/>
          </a:solidFill>
          <a:ln>
            <a:solidFill>
              <a:srgbClr val="1C2B4A"/>
            </a:solidFill>
          </a:ln>
        </p:spPr>
        <p:txBody>
          <a:bodyPr spcFirstLastPara="0" wrap="square" lIns="45720" tIns="45720" rIns="45720" bIns="45720" anchor="t" anchorCtr="0">
            <a:normAutofit/>
          </a:bodyPr>
          <a:lstStyle/>
          <a:p>
            <a:pPr marL="0" indent="0" algn="ctr">
              <a:lnSpc>
                <a:spcPct val="90000"/>
              </a:lnSpc>
              <a:spcBef>
                <a:spcPts val="0"/>
              </a:spcBef>
              <a:spcAft>
                <a:spcPts val="0"/>
              </a:spcAft>
              <a:buNone/>
            </a:pPr>
            <a:r>
              <a:rPr lang="en-US" sz="2200" b="1" dirty="0">
                <a:solidFill>
                  <a:srgbClr val="C8973A"/>
                </a:solidFill>
                <a:latin typeface="Calibri"/>
                <a:ea typeface="Calibri"/>
                <a:cs typeface="Calibri"/>
                <a:sym typeface="Calibri"/>
              </a:rPr>
              <a:t>1</a:t>
            </a:r>
          </a:p>
          <a:p>
            <a:pPr marL="0" indent="0" algn="ctr">
              <a:lnSpc>
                <a:spcPct val="90000"/>
              </a:lnSpc>
              <a:spcBef>
                <a:spcPts val="100"/>
              </a:spcBef>
              <a:spcAft>
                <a:spcPts val="0"/>
              </a:spcAft>
              <a:buNone/>
            </a:pPr>
            <a:r>
              <a:rPr lang="en-US" sz="1600" b="1" dirty="0">
                <a:solidFill>
                  <a:srgbClr val="FFFFFF"/>
                </a:solidFill>
                <a:latin typeface="Calibri"/>
                <a:ea typeface="Calibri"/>
                <a:cs typeface="Calibri"/>
                <a:sym typeface="Calibri"/>
              </a:rPr>
              <a:t>Data
Loading</a:t>
            </a:r>
          </a:p>
          <a:p>
            <a:pPr marL="0" indent="0" algn="ctr">
              <a:lnSpc>
                <a:spcPct val="90000"/>
              </a:lnSpc>
              <a:spcBef>
                <a:spcPts val="100"/>
              </a:spcBef>
              <a:spcAft>
                <a:spcPts val="0"/>
              </a:spcAft>
              <a:buNone/>
            </a:pPr>
            <a:r>
              <a:rPr lang="en-US" sz="1300" b="0" dirty="0">
                <a:solidFill>
                  <a:srgbClr val="AACCDD"/>
                </a:solidFill>
                <a:latin typeface="Calibri"/>
                <a:ea typeface="Calibri"/>
                <a:cs typeface="Calibri"/>
                <a:sym typeface="Calibri"/>
              </a:rPr>
              <a:t>Kaggle CSV
2,392 rows</a:t>
            </a:r>
          </a:p>
        </p:txBody>
      </p:sp>
      <p:sp>
        <p:nvSpPr>
          <p:cNvPr id="70" name="Arr00"/>
          <p:cNvSpPr txBox="1">
            <a:spLocks/>
          </p:cNvSpPr>
          <p:nvPr/>
        </p:nvSpPr>
        <p:spPr>
          <a:xfrm>
            <a:off x="2523744" y="2194560"/>
            <a:ext cx="109728" cy="411480"/>
          </a:xfrm>
          <a:prstGeom prst="rect">
            <a:avLst/>
          </a:prstGeom>
          <a:noFill/>
          <a:ln>
            <a:noFill/>
          </a:ln>
        </p:spPr>
        <p:txBody>
          <a:bodyPr spcFirstLastPara="0" wrap="square" lIns="91425" tIns="45700" rIns="91425" bIns="45700" anchor="ctr" anchorCtr="0">
            <a:normAutofit/>
          </a:bodyPr>
          <a:lstStyle/>
          <a:p>
            <a:pPr marL="0" indent="0" algn="ctr">
              <a:lnSpc>
                <a:spcPct val="90000"/>
              </a:lnSpc>
              <a:spcBef>
                <a:spcPts val="200"/>
              </a:spcBef>
              <a:spcAft>
                <a:spcPts val="0"/>
              </a:spcAft>
              <a:buNone/>
            </a:pPr>
            <a:r>
              <a:rPr lang="en-US" sz="1400" b="0" dirty="0">
                <a:solidFill>
                  <a:srgbClr val="C8973A"/>
                </a:solidFill>
                <a:latin typeface="Calibri"/>
                <a:ea typeface="Calibri"/>
                <a:cs typeface="Calibri"/>
                <a:sym typeface="Calibri"/>
              </a:rPr>
              <a:t>▶</a:t>
            </a:r>
          </a:p>
        </p:txBody>
      </p:sp>
      <p:sp>
        <p:nvSpPr>
          <p:cNvPr id="21" name="Step01"/>
          <p:cNvSpPr txBox="1">
            <a:spLocks/>
          </p:cNvSpPr>
          <p:nvPr/>
        </p:nvSpPr>
        <p:spPr>
          <a:xfrm>
            <a:off x="2642616" y="1508760"/>
            <a:ext cx="2249424" cy="1783080"/>
          </a:xfrm>
          <a:prstGeom prst="roundRect">
            <a:avLst>
              <a:gd name="adj" fmla="val 20000"/>
            </a:avLst>
          </a:prstGeom>
          <a:solidFill>
            <a:srgbClr val="1C2B4A"/>
          </a:solidFill>
          <a:ln>
            <a:solidFill>
              <a:srgbClr val="1C2B4A"/>
            </a:solidFill>
          </a:ln>
        </p:spPr>
        <p:txBody>
          <a:bodyPr spcFirstLastPara="0" wrap="square" lIns="45720" tIns="45720" rIns="45720" bIns="45720" anchor="t" anchorCtr="0">
            <a:normAutofit/>
          </a:bodyPr>
          <a:lstStyle/>
          <a:p>
            <a:pPr marL="0" indent="0" algn="ctr">
              <a:lnSpc>
                <a:spcPct val="90000"/>
              </a:lnSpc>
              <a:spcBef>
                <a:spcPts val="0"/>
              </a:spcBef>
              <a:spcAft>
                <a:spcPts val="0"/>
              </a:spcAft>
              <a:buNone/>
            </a:pPr>
            <a:r>
              <a:rPr lang="en-US" sz="2200" b="1" dirty="0">
                <a:solidFill>
                  <a:srgbClr val="C8973A"/>
                </a:solidFill>
                <a:latin typeface="Calibri"/>
                <a:ea typeface="Calibri"/>
                <a:cs typeface="Calibri"/>
                <a:sym typeface="Calibri"/>
              </a:rPr>
              <a:t>2</a:t>
            </a:r>
          </a:p>
          <a:p>
            <a:pPr marL="0" indent="0" algn="ctr">
              <a:lnSpc>
                <a:spcPct val="90000"/>
              </a:lnSpc>
              <a:spcBef>
                <a:spcPts val="100"/>
              </a:spcBef>
              <a:spcAft>
                <a:spcPts val="0"/>
              </a:spcAft>
              <a:buNone/>
            </a:pPr>
            <a:r>
              <a:rPr lang="en-US" sz="1600" b="1" dirty="0">
                <a:solidFill>
                  <a:srgbClr val="FFFFFF"/>
                </a:solidFill>
                <a:latin typeface="Calibri"/>
                <a:ea typeface="Calibri"/>
                <a:cs typeface="Calibri"/>
                <a:sym typeface="Calibri"/>
              </a:rPr>
              <a:t>EDA</a:t>
            </a:r>
          </a:p>
          <a:p>
            <a:pPr marL="0" indent="0" algn="ctr">
              <a:lnSpc>
                <a:spcPct val="90000"/>
              </a:lnSpc>
              <a:spcBef>
                <a:spcPts val="100"/>
              </a:spcBef>
              <a:spcAft>
                <a:spcPts val="0"/>
              </a:spcAft>
              <a:buNone/>
            </a:pPr>
            <a:r>
              <a:rPr lang="en-US" sz="1300" b="0" dirty="0">
                <a:solidFill>
                  <a:srgbClr val="AACCDD"/>
                </a:solidFill>
                <a:latin typeface="Calibri"/>
                <a:ea typeface="Calibri"/>
                <a:cs typeface="Calibri"/>
                <a:sym typeface="Calibri"/>
              </a:rPr>
              <a:t>Correlation
analysis</a:t>
            </a:r>
          </a:p>
        </p:txBody>
      </p:sp>
      <p:sp>
        <p:nvSpPr>
          <p:cNvPr id="71" name="Arr01"/>
          <p:cNvSpPr txBox="1">
            <a:spLocks/>
          </p:cNvSpPr>
          <p:nvPr/>
        </p:nvSpPr>
        <p:spPr>
          <a:xfrm>
            <a:off x="4910328" y="2194560"/>
            <a:ext cx="109728" cy="411480"/>
          </a:xfrm>
          <a:prstGeom prst="rect">
            <a:avLst/>
          </a:prstGeom>
          <a:noFill/>
          <a:ln>
            <a:noFill/>
          </a:ln>
        </p:spPr>
        <p:txBody>
          <a:bodyPr spcFirstLastPara="0" wrap="square" lIns="91425" tIns="45700" rIns="91425" bIns="45700" anchor="ctr" anchorCtr="0">
            <a:normAutofit/>
          </a:bodyPr>
          <a:lstStyle/>
          <a:p>
            <a:pPr marL="0" indent="0" algn="ctr">
              <a:lnSpc>
                <a:spcPct val="90000"/>
              </a:lnSpc>
              <a:spcBef>
                <a:spcPts val="200"/>
              </a:spcBef>
              <a:spcAft>
                <a:spcPts val="0"/>
              </a:spcAft>
              <a:buNone/>
            </a:pPr>
            <a:r>
              <a:rPr lang="en-US" sz="1400" b="0" dirty="0">
                <a:solidFill>
                  <a:srgbClr val="C8973A"/>
                </a:solidFill>
                <a:latin typeface="Calibri"/>
                <a:ea typeface="Calibri"/>
                <a:cs typeface="Calibri"/>
                <a:sym typeface="Calibri"/>
              </a:rPr>
              <a:t>▶</a:t>
            </a:r>
          </a:p>
        </p:txBody>
      </p:sp>
      <p:sp>
        <p:nvSpPr>
          <p:cNvPr id="22" name="Step02"/>
          <p:cNvSpPr txBox="1">
            <a:spLocks/>
          </p:cNvSpPr>
          <p:nvPr/>
        </p:nvSpPr>
        <p:spPr>
          <a:xfrm>
            <a:off x="5029200" y="1508760"/>
            <a:ext cx="2249424" cy="1783080"/>
          </a:xfrm>
          <a:prstGeom prst="roundRect">
            <a:avLst>
              <a:gd name="adj" fmla="val 20000"/>
            </a:avLst>
          </a:prstGeom>
          <a:solidFill>
            <a:srgbClr val="8B0000"/>
          </a:solidFill>
          <a:ln>
            <a:solidFill>
              <a:srgbClr val="8B0000"/>
            </a:solidFill>
          </a:ln>
        </p:spPr>
        <p:txBody>
          <a:bodyPr spcFirstLastPara="0" wrap="square" lIns="45720" tIns="45720" rIns="45720" bIns="45720" anchor="t" anchorCtr="0">
            <a:normAutofit/>
          </a:bodyPr>
          <a:lstStyle/>
          <a:p>
            <a:pPr marL="0" indent="0" algn="ctr">
              <a:lnSpc>
                <a:spcPct val="90000"/>
              </a:lnSpc>
              <a:spcBef>
                <a:spcPts val="0"/>
              </a:spcBef>
              <a:spcAft>
                <a:spcPts val="0"/>
              </a:spcAft>
              <a:buNone/>
            </a:pPr>
            <a:r>
              <a:rPr lang="en-US" sz="2200" b="1" dirty="0">
                <a:solidFill>
                  <a:srgbClr val="C8973A"/>
                </a:solidFill>
                <a:latin typeface="Calibri"/>
                <a:ea typeface="Calibri"/>
                <a:cs typeface="Calibri"/>
                <a:sym typeface="Calibri"/>
              </a:rPr>
              <a:t>3</a:t>
            </a:r>
          </a:p>
          <a:p>
            <a:pPr marL="0" indent="0" algn="ctr">
              <a:lnSpc>
                <a:spcPct val="90000"/>
              </a:lnSpc>
              <a:spcBef>
                <a:spcPts val="100"/>
              </a:spcBef>
              <a:spcAft>
                <a:spcPts val="0"/>
              </a:spcAft>
              <a:buNone/>
            </a:pPr>
            <a:r>
              <a:rPr lang="en-US" sz="1600" b="1" dirty="0">
                <a:solidFill>
                  <a:srgbClr val="FFFFFF"/>
                </a:solidFill>
                <a:latin typeface="Calibri"/>
                <a:ea typeface="Calibri"/>
                <a:cs typeface="Calibri"/>
                <a:sym typeface="Calibri"/>
              </a:rPr>
              <a:t>Risk Label</a:t>
            </a:r>
          </a:p>
          <a:p>
            <a:pPr marL="0" indent="0" algn="ctr">
              <a:lnSpc>
                <a:spcPct val="90000"/>
              </a:lnSpc>
              <a:spcBef>
                <a:spcPts val="100"/>
              </a:spcBef>
              <a:spcAft>
                <a:spcPts val="0"/>
              </a:spcAft>
              <a:buNone/>
            </a:pPr>
            <a:r>
              <a:rPr lang="en-US" sz="1300" b="0" dirty="0">
                <a:solidFill>
                  <a:srgbClr val="AACCDD"/>
                </a:solidFill>
                <a:latin typeface="Calibri"/>
                <a:ea typeface="Calibri"/>
                <a:cs typeface="Calibri"/>
                <a:sym typeface="Calibri"/>
              </a:rPr>
              <a:t>GPA &lt; 2.0
= At Risk</a:t>
            </a:r>
          </a:p>
        </p:txBody>
      </p:sp>
      <p:sp>
        <p:nvSpPr>
          <p:cNvPr id="72" name="Arr02"/>
          <p:cNvSpPr txBox="1">
            <a:spLocks/>
          </p:cNvSpPr>
          <p:nvPr/>
        </p:nvSpPr>
        <p:spPr>
          <a:xfrm>
            <a:off x="7296912" y="2194560"/>
            <a:ext cx="109728" cy="411480"/>
          </a:xfrm>
          <a:prstGeom prst="rect">
            <a:avLst/>
          </a:prstGeom>
          <a:noFill/>
          <a:ln>
            <a:noFill/>
          </a:ln>
        </p:spPr>
        <p:txBody>
          <a:bodyPr spcFirstLastPara="0" wrap="square" lIns="91425" tIns="45700" rIns="91425" bIns="45700" anchor="ctr" anchorCtr="0">
            <a:normAutofit/>
          </a:bodyPr>
          <a:lstStyle/>
          <a:p>
            <a:pPr marL="0" indent="0" algn="ctr">
              <a:lnSpc>
                <a:spcPct val="90000"/>
              </a:lnSpc>
              <a:spcBef>
                <a:spcPts val="200"/>
              </a:spcBef>
              <a:spcAft>
                <a:spcPts val="0"/>
              </a:spcAft>
              <a:buNone/>
            </a:pPr>
            <a:r>
              <a:rPr lang="en-US" sz="1400" b="0" dirty="0">
                <a:solidFill>
                  <a:srgbClr val="C8973A"/>
                </a:solidFill>
                <a:latin typeface="Calibri"/>
                <a:ea typeface="Calibri"/>
                <a:cs typeface="Calibri"/>
                <a:sym typeface="Calibri"/>
              </a:rPr>
              <a:t>▶</a:t>
            </a:r>
          </a:p>
        </p:txBody>
      </p:sp>
      <p:sp>
        <p:nvSpPr>
          <p:cNvPr id="23" name="Step03"/>
          <p:cNvSpPr txBox="1">
            <a:spLocks/>
          </p:cNvSpPr>
          <p:nvPr/>
        </p:nvSpPr>
        <p:spPr>
          <a:xfrm>
            <a:off x="7415784" y="1508760"/>
            <a:ext cx="2249424" cy="1783080"/>
          </a:xfrm>
          <a:prstGeom prst="roundRect">
            <a:avLst>
              <a:gd name="adj" fmla="val 20000"/>
            </a:avLst>
          </a:prstGeom>
          <a:solidFill>
            <a:srgbClr val="1C2B4A"/>
          </a:solidFill>
          <a:ln>
            <a:solidFill>
              <a:srgbClr val="1C2B4A"/>
            </a:solidFill>
          </a:ln>
        </p:spPr>
        <p:txBody>
          <a:bodyPr spcFirstLastPara="0" wrap="square" lIns="45720" tIns="45720" rIns="45720" bIns="45720" anchor="t" anchorCtr="0">
            <a:normAutofit/>
          </a:bodyPr>
          <a:lstStyle/>
          <a:p>
            <a:pPr marL="0" indent="0" algn="ctr">
              <a:lnSpc>
                <a:spcPct val="90000"/>
              </a:lnSpc>
              <a:spcBef>
                <a:spcPts val="0"/>
              </a:spcBef>
              <a:spcAft>
                <a:spcPts val="0"/>
              </a:spcAft>
              <a:buNone/>
            </a:pPr>
            <a:r>
              <a:rPr lang="en-US" sz="2200" b="1" dirty="0">
                <a:solidFill>
                  <a:srgbClr val="C8973A"/>
                </a:solidFill>
                <a:latin typeface="Calibri"/>
                <a:ea typeface="Calibri"/>
                <a:cs typeface="Calibri"/>
                <a:sym typeface="Calibri"/>
              </a:rPr>
              <a:t>4</a:t>
            </a:r>
          </a:p>
          <a:p>
            <a:pPr marL="0" indent="0" algn="ctr">
              <a:lnSpc>
                <a:spcPct val="90000"/>
              </a:lnSpc>
              <a:spcBef>
                <a:spcPts val="100"/>
              </a:spcBef>
              <a:spcAft>
                <a:spcPts val="0"/>
              </a:spcAft>
              <a:buNone/>
            </a:pPr>
            <a:r>
              <a:rPr lang="en-US" sz="1600" b="1" dirty="0">
                <a:solidFill>
                  <a:srgbClr val="FFFFFF"/>
                </a:solidFill>
                <a:latin typeface="Calibri"/>
                <a:ea typeface="Calibri"/>
                <a:cs typeface="Calibri"/>
                <a:sym typeface="Calibri"/>
              </a:rPr>
              <a:t>Preprocess</a:t>
            </a:r>
          </a:p>
          <a:p>
            <a:pPr marL="0" indent="0" algn="ctr">
              <a:lnSpc>
                <a:spcPct val="90000"/>
              </a:lnSpc>
              <a:spcBef>
                <a:spcPts val="100"/>
              </a:spcBef>
              <a:spcAft>
                <a:spcPts val="0"/>
              </a:spcAft>
              <a:buNone/>
            </a:pPr>
            <a:r>
              <a:rPr lang="en-US" sz="1300" b="0" dirty="0">
                <a:solidFill>
                  <a:srgbClr val="AACCDD"/>
                </a:solidFill>
                <a:latin typeface="Calibri"/>
                <a:ea typeface="Calibri"/>
                <a:cs typeface="Calibri"/>
                <a:sym typeface="Calibri"/>
              </a:rPr>
              <a:t>Drop leaky
cols · 80/20</a:t>
            </a:r>
          </a:p>
        </p:txBody>
      </p:sp>
      <p:sp>
        <p:nvSpPr>
          <p:cNvPr id="73" name="Arr03"/>
          <p:cNvSpPr txBox="1">
            <a:spLocks/>
          </p:cNvSpPr>
          <p:nvPr/>
        </p:nvSpPr>
        <p:spPr>
          <a:xfrm>
            <a:off x="9683496" y="2194560"/>
            <a:ext cx="109728" cy="411480"/>
          </a:xfrm>
          <a:prstGeom prst="rect">
            <a:avLst/>
          </a:prstGeom>
          <a:noFill/>
          <a:ln>
            <a:noFill/>
          </a:ln>
        </p:spPr>
        <p:txBody>
          <a:bodyPr spcFirstLastPara="0" wrap="square" lIns="91425" tIns="45700" rIns="91425" bIns="45700" anchor="ctr" anchorCtr="0">
            <a:normAutofit/>
          </a:bodyPr>
          <a:lstStyle/>
          <a:p>
            <a:pPr marL="0" indent="0" algn="ctr">
              <a:lnSpc>
                <a:spcPct val="90000"/>
              </a:lnSpc>
              <a:spcBef>
                <a:spcPts val="200"/>
              </a:spcBef>
              <a:spcAft>
                <a:spcPts val="0"/>
              </a:spcAft>
              <a:buNone/>
            </a:pPr>
            <a:r>
              <a:rPr lang="en-US" sz="1400" b="0" dirty="0">
                <a:solidFill>
                  <a:srgbClr val="C8973A"/>
                </a:solidFill>
                <a:latin typeface="Calibri"/>
                <a:ea typeface="Calibri"/>
                <a:cs typeface="Calibri"/>
                <a:sym typeface="Calibri"/>
              </a:rPr>
              <a:t>▶</a:t>
            </a:r>
          </a:p>
        </p:txBody>
      </p:sp>
      <p:sp>
        <p:nvSpPr>
          <p:cNvPr id="24" name="Step04"/>
          <p:cNvSpPr txBox="1">
            <a:spLocks/>
          </p:cNvSpPr>
          <p:nvPr/>
        </p:nvSpPr>
        <p:spPr>
          <a:xfrm>
            <a:off x="9802368" y="1508760"/>
            <a:ext cx="2249424" cy="1783080"/>
          </a:xfrm>
          <a:prstGeom prst="roundRect">
            <a:avLst>
              <a:gd name="adj" fmla="val 20000"/>
            </a:avLst>
          </a:prstGeom>
          <a:solidFill>
            <a:srgbClr val="1C2B4A"/>
          </a:solidFill>
          <a:ln>
            <a:solidFill>
              <a:srgbClr val="1C2B4A"/>
            </a:solidFill>
          </a:ln>
        </p:spPr>
        <p:txBody>
          <a:bodyPr spcFirstLastPara="0" wrap="square" lIns="45720" tIns="45720" rIns="45720" bIns="45720" anchor="t" anchorCtr="0">
            <a:normAutofit/>
          </a:bodyPr>
          <a:lstStyle/>
          <a:p>
            <a:pPr marL="0" indent="0" algn="ctr">
              <a:lnSpc>
                <a:spcPct val="90000"/>
              </a:lnSpc>
              <a:spcBef>
                <a:spcPts val="0"/>
              </a:spcBef>
              <a:spcAft>
                <a:spcPts val="0"/>
              </a:spcAft>
              <a:buNone/>
            </a:pPr>
            <a:r>
              <a:rPr lang="en-US" sz="2200" b="1" dirty="0">
                <a:solidFill>
                  <a:srgbClr val="C8973A"/>
                </a:solidFill>
                <a:latin typeface="Calibri"/>
                <a:ea typeface="Calibri"/>
                <a:cs typeface="Calibri"/>
                <a:sym typeface="Calibri"/>
              </a:rPr>
              <a:t>5</a:t>
            </a:r>
          </a:p>
          <a:p>
            <a:pPr marL="0" indent="0" algn="ctr">
              <a:lnSpc>
                <a:spcPct val="90000"/>
              </a:lnSpc>
              <a:spcBef>
                <a:spcPts val="100"/>
              </a:spcBef>
              <a:spcAft>
                <a:spcPts val="0"/>
              </a:spcAft>
              <a:buNone/>
            </a:pPr>
            <a:r>
              <a:rPr lang="en-US" sz="1600" b="1" dirty="0">
                <a:solidFill>
                  <a:srgbClr val="FFFFFF"/>
                </a:solidFill>
                <a:latin typeface="Calibri"/>
                <a:ea typeface="Calibri"/>
                <a:cs typeface="Calibri"/>
                <a:sym typeface="Calibri"/>
              </a:rPr>
              <a:t>Train 3
Models</a:t>
            </a:r>
          </a:p>
          <a:p>
            <a:pPr marL="0" indent="0" algn="ctr">
              <a:lnSpc>
                <a:spcPct val="90000"/>
              </a:lnSpc>
              <a:spcBef>
                <a:spcPts val="100"/>
              </a:spcBef>
              <a:spcAft>
                <a:spcPts val="0"/>
              </a:spcAft>
              <a:buNone/>
            </a:pPr>
            <a:r>
              <a:rPr lang="en-US" sz="1300" b="0" dirty="0">
                <a:solidFill>
                  <a:srgbClr val="AACCDD"/>
                </a:solidFill>
                <a:latin typeface="Calibri"/>
                <a:ea typeface="Calibri"/>
                <a:cs typeface="Calibri"/>
                <a:sym typeface="Calibri"/>
              </a:rPr>
              <a:t>LR · RF
XGBoost</a:t>
            </a:r>
          </a:p>
        </p:txBody>
      </p:sp>
      <p:sp>
        <p:nvSpPr>
          <p:cNvPr id="30" name="Step10"/>
          <p:cNvSpPr txBox="1">
            <a:spLocks/>
          </p:cNvSpPr>
          <p:nvPr/>
        </p:nvSpPr>
        <p:spPr>
          <a:xfrm>
            <a:off x="256032" y="3611879"/>
            <a:ext cx="2846070" cy="1783080"/>
          </a:xfrm>
          <a:prstGeom prst="roundRect">
            <a:avLst>
              <a:gd name="adj" fmla="val 20000"/>
            </a:avLst>
          </a:prstGeom>
          <a:solidFill>
            <a:srgbClr val="8B0000"/>
          </a:solidFill>
          <a:ln>
            <a:solidFill>
              <a:srgbClr val="8B0000"/>
            </a:solidFill>
          </a:ln>
        </p:spPr>
        <p:txBody>
          <a:bodyPr spcFirstLastPara="0" wrap="square" lIns="45720" tIns="45720" rIns="45720" bIns="45720" anchor="t" anchorCtr="0">
            <a:normAutofit/>
          </a:bodyPr>
          <a:lstStyle/>
          <a:p>
            <a:pPr marL="0" indent="0" algn="ctr">
              <a:lnSpc>
                <a:spcPct val="90000"/>
              </a:lnSpc>
              <a:spcBef>
                <a:spcPts val="0"/>
              </a:spcBef>
              <a:spcAft>
                <a:spcPts val="0"/>
              </a:spcAft>
              <a:buNone/>
            </a:pPr>
            <a:r>
              <a:rPr lang="en-US" sz="2200" b="1" dirty="0">
                <a:solidFill>
                  <a:srgbClr val="C8973A"/>
                </a:solidFill>
                <a:latin typeface="Calibri"/>
                <a:ea typeface="Calibri"/>
                <a:cs typeface="Calibri"/>
                <a:sym typeface="Calibri"/>
              </a:rPr>
              <a:t>6</a:t>
            </a:r>
          </a:p>
          <a:p>
            <a:pPr marL="0" indent="0" algn="ctr">
              <a:lnSpc>
                <a:spcPct val="90000"/>
              </a:lnSpc>
              <a:spcBef>
                <a:spcPts val="100"/>
              </a:spcBef>
              <a:spcAft>
                <a:spcPts val="0"/>
              </a:spcAft>
              <a:buNone/>
            </a:pPr>
            <a:r>
              <a:rPr lang="en-US" sz="1600" b="1" dirty="0">
                <a:solidFill>
                  <a:srgbClr val="FFFFFF"/>
                </a:solidFill>
                <a:latin typeface="Calibri"/>
                <a:ea typeface="Calibri"/>
                <a:cs typeface="Calibri"/>
                <a:sym typeface="Calibri"/>
              </a:rPr>
              <a:t>GridSearch
CV</a:t>
            </a:r>
          </a:p>
          <a:p>
            <a:pPr marL="0" indent="0" algn="ctr">
              <a:lnSpc>
                <a:spcPct val="90000"/>
              </a:lnSpc>
              <a:spcBef>
                <a:spcPts val="100"/>
              </a:spcBef>
              <a:spcAft>
                <a:spcPts val="0"/>
              </a:spcAft>
              <a:buNone/>
            </a:pPr>
            <a:r>
              <a:rPr lang="en-US" sz="1300" b="0" dirty="0">
                <a:solidFill>
                  <a:srgbClr val="AACCDD"/>
                </a:solidFill>
                <a:latin typeface="Calibri"/>
                <a:ea typeface="Calibri"/>
                <a:cs typeface="Calibri"/>
                <a:sym typeface="Calibri"/>
              </a:rPr>
              <a:t>270 fits
5-fold CV</a:t>
            </a:r>
          </a:p>
        </p:txBody>
      </p:sp>
      <p:sp>
        <p:nvSpPr>
          <p:cNvPr id="80" name="Arr10"/>
          <p:cNvSpPr txBox="1">
            <a:spLocks/>
          </p:cNvSpPr>
          <p:nvPr/>
        </p:nvSpPr>
        <p:spPr>
          <a:xfrm>
            <a:off x="3120390" y="4297679"/>
            <a:ext cx="109728" cy="411480"/>
          </a:xfrm>
          <a:prstGeom prst="rect">
            <a:avLst/>
          </a:prstGeom>
          <a:noFill/>
          <a:ln>
            <a:noFill/>
          </a:ln>
        </p:spPr>
        <p:txBody>
          <a:bodyPr spcFirstLastPara="0" wrap="square" lIns="91425" tIns="45700" rIns="91425" bIns="45700" anchor="ctr" anchorCtr="0">
            <a:normAutofit/>
          </a:bodyPr>
          <a:lstStyle/>
          <a:p>
            <a:pPr marL="0" indent="0" algn="ctr">
              <a:lnSpc>
                <a:spcPct val="90000"/>
              </a:lnSpc>
              <a:spcBef>
                <a:spcPts val="200"/>
              </a:spcBef>
              <a:spcAft>
                <a:spcPts val="0"/>
              </a:spcAft>
              <a:buNone/>
            </a:pPr>
            <a:r>
              <a:rPr lang="en-US" sz="1400" b="0" dirty="0">
                <a:solidFill>
                  <a:srgbClr val="C8973A"/>
                </a:solidFill>
                <a:latin typeface="Calibri"/>
                <a:ea typeface="Calibri"/>
                <a:cs typeface="Calibri"/>
                <a:sym typeface="Calibri"/>
              </a:rPr>
              <a:t>▶</a:t>
            </a:r>
          </a:p>
        </p:txBody>
      </p:sp>
      <p:sp>
        <p:nvSpPr>
          <p:cNvPr id="31" name="Step11"/>
          <p:cNvSpPr txBox="1">
            <a:spLocks/>
          </p:cNvSpPr>
          <p:nvPr/>
        </p:nvSpPr>
        <p:spPr>
          <a:xfrm>
            <a:off x="3239262" y="3611879"/>
            <a:ext cx="2846070" cy="1783080"/>
          </a:xfrm>
          <a:prstGeom prst="roundRect">
            <a:avLst>
              <a:gd name="adj" fmla="val 20000"/>
            </a:avLst>
          </a:prstGeom>
          <a:solidFill>
            <a:srgbClr val="14536B"/>
          </a:solidFill>
          <a:ln>
            <a:solidFill>
              <a:srgbClr val="14536B"/>
            </a:solidFill>
          </a:ln>
        </p:spPr>
        <p:txBody>
          <a:bodyPr spcFirstLastPara="0" wrap="square" lIns="45720" tIns="45720" rIns="45720" bIns="45720" anchor="t" anchorCtr="0">
            <a:normAutofit/>
          </a:bodyPr>
          <a:lstStyle/>
          <a:p>
            <a:pPr marL="0" indent="0" algn="ctr">
              <a:lnSpc>
                <a:spcPct val="90000"/>
              </a:lnSpc>
              <a:spcBef>
                <a:spcPts val="0"/>
              </a:spcBef>
              <a:spcAft>
                <a:spcPts val="0"/>
              </a:spcAft>
              <a:buNone/>
            </a:pPr>
            <a:r>
              <a:rPr lang="en-US" sz="2200" b="1" dirty="0">
                <a:solidFill>
                  <a:srgbClr val="C8973A"/>
                </a:solidFill>
                <a:latin typeface="Calibri"/>
                <a:ea typeface="Calibri"/>
                <a:cs typeface="Calibri"/>
                <a:sym typeface="Calibri"/>
              </a:rPr>
              <a:t>7</a:t>
            </a:r>
          </a:p>
          <a:p>
            <a:pPr marL="0" indent="0" algn="ctr">
              <a:lnSpc>
                <a:spcPct val="90000"/>
              </a:lnSpc>
              <a:spcBef>
                <a:spcPts val="100"/>
              </a:spcBef>
              <a:spcAft>
                <a:spcPts val="0"/>
              </a:spcAft>
              <a:buNone/>
            </a:pPr>
            <a:r>
              <a:rPr lang="en-US" sz="1600" b="1" dirty="0">
                <a:solidFill>
                  <a:srgbClr val="FFFFFF"/>
                </a:solidFill>
                <a:latin typeface="Calibri"/>
                <a:ea typeface="Calibri"/>
                <a:cs typeface="Calibri"/>
                <a:sym typeface="Calibri"/>
              </a:rPr>
              <a:t>SHAP
Explain</a:t>
            </a:r>
          </a:p>
          <a:p>
            <a:pPr marL="0" indent="0" algn="ctr">
              <a:lnSpc>
                <a:spcPct val="90000"/>
              </a:lnSpc>
              <a:spcBef>
                <a:spcPts val="100"/>
              </a:spcBef>
              <a:spcAft>
                <a:spcPts val="0"/>
              </a:spcAft>
              <a:buNone/>
            </a:pPr>
            <a:r>
              <a:rPr lang="en-US" sz="1300" b="0" dirty="0">
                <a:solidFill>
                  <a:srgbClr val="AACCDD"/>
                </a:solidFill>
                <a:latin typeface="Calibri"/>
                <a:ea typeface="Calibri"/>
                <a:cs typeface="Calibri"/>
                <a:sym typeface="Calibri"/>
              </a:rPr>
              <a:t>Global +
per-student</a:t>
            </a:r>
          </a:p>
        </p:txBody>
      </p:sp>
      <p:sp>
        <p:nvSpPr>
          <p:cNvPr id="81" name="Arr11"/>
          <p:cNvSpPr txBox="1">
            <a:spLocks/>
          </p:cNvSpPr>
          <p:nvPr/>
        </p:nvSpPr>
        <p:spPr>
          <a:xfrm>
            <a:off x="6103620" y="4297679"/>
            <a:ext cx="109728" cy="411480"/>
          </a:xfrm>
          <a:prstGeom prst="rect">
            <a:avLst/>
          </a:prstGeom>
          <a:noFill/>
          <a:ln>
            <a:noFill/>
          </a:ln>
        </p:spPr>
        <p:txBody>
          <a:bodyPr spcFirstLastPara="0" wrap="square" lIns="91425" tIns="45700" rIns="91425" bIns="45700" anchor="ctr" anchorCtr="0">
            <a:normAutofit/>
          </a:bodyPr>
          <a:lstStyle/>
          <a:p>
            <a:pPr marL="0" indent="0" algn="ctr">
              <a:lnSpc>
                <a:spcPct val="90000"/>
              </a:lnSpc>
              <a:spcBef>
                <a:spcPts val="200"/>
              </a:spcBef>
              <a:spcAft>
                <a:spcPts val="0"/>
              </a:spcAft>
              <a:buNone/>
            </a:pPr>
            <a:r>
              <a:rPr lang="en-US" sz="1400" b="0" dirty="0">
                <a:solidFill>
                  <a:srgbClr val="C8973A"/>
                </a:solidFill>
                <a:latin typeface="Calibri"/>
                <a:ea typeface="Calibri"/>
                <a:cs typeface="Calibri"/>
                <a:sym typeface="Calibri"/>
              </a:rPr>
              <a:t>▶</a:t>
            </a:r>
          </a:p>
        </p:txBody>
      </p:sp>
      <p:sp>
        <p:nvSpPr>
          <p:cNvPr id="32" name="Step12"/>
          <p:cNvSpPr txBox="1">
            <a:spLocks/>
          </p:cNvSpPr>
          <p:nvPr/>
        </p:nvSpPr>
        <p:spPr>
          <a:xfrm>
            <a:off x="6222492" y="3611879"/>
            <a:ext cx="2846070" cy="1783080"/>
          </a:xfrm>
          <a:prstGeom prst="roundRect">
            <a:avLst>
              <a:gd name="adj" fmla="val 20000"/>
            </a:avLst>
          </a:prstGeom>
          <a:solidFill>
            <a:srgbClr val="1C2B4A"/>
          </a:solidFill>
          <a:ln>
            <a:solidFill>
              <a:srgbClr val="1C2B4A"/>
            </a:solidFill>
          </a:ln>
        </p:spPr>
        <p:txBody>
          <a:bodyPr spcFirstLastPara="0" wrap="square" lIns="45720" tIns="45720" rIns="45720" bIns="45720" anchor="t" anchorCtr="0">
            <a:normAutofit/>
          </a:bodyPr>
          <a:lstStyle/>
          <a:p>
            <a:pPr marL="0" indent="0" algn="ctr">
              <a:lnSpc>
                <a:spcPct val="90000"/>
              </a:lnSpc>
              <a:spcBef>
                <a:spcPts val="0"/>
              </a:spcBef>
              <a:spcAft>
                <a:spcPts val="0"/>
              </a:spcAft>
              <a:buNone/>
            </a:pPr>
            <a:r>
              <a:rPr lang="en-US" sz="2200" b="1" dirty="0">
                <a:solidFill>
                  <a:srgbClr val="C8973A"/>
                </a:solidFill>
                <a:latin typeface="Calibri"/>
                <a:ea typeface="Calibri"/>
                <a:cs typeface="Calibri"/>
                <a:sym typeface="Calibri"/>
              </a:rPr>
              <a:t>8</a:t>
            </a:r>
          </a:p>
          <a:p>
            <a:pPr marL="0" indent="0" algn="ctr">
              <a:lnSpc>
                <a:spcPct val="90000"/>
              </a:lnSpc>
              <a:spcBef>
                <a:spcPts val="100"/>
              </a:spcBef>
              <a:spcAft>
                <a:spcPts val="0"/>
              </a:spcAft>
              <a:buNone/>
            </a:pPr>
            <a:r>
              <a:rPr lang="en-US" sz="1600" b="1" dirty="0">
                <a:solidFill>
                  <a:srgbClr val="FFFFFF"/>
                </a:solidFill>
                <a:latin typeface="Calibri"/>
                <a:ea typeface="Calibri"/>
                <a:cs typeface="Calibri"/>
                <a:sym typeface="Calibri"/>
              </a:rPr>
              <a:t>Save
Model</a:t>
            </a:r>
          </a:p>
          <a:p>
            <a:pPr marL="0" indent="0" algn="ctr">
              <a:lnSpc>
                <a:spcPct val="90000"/>
              </a:lnSpc>
              <a:spcBef>
                <a:spcPts val="100"/>
              </a:spcBef>
              <a:spcAft>
                <a:spcPts val="0"/>
              </a:spcAft>
              <a:buNone/>
            </a:pPr>
            <a:r>
              <a:rPr lang="en-US" sz="1300" b="0" dirty="0">
                <a:solidFill>
                  <a:srgbClr val="AACCDD"/>
                </a:solidFill>
                <a:latin typeface="Calibri"/>
                <a:ea typeface="Calibri"/>
                <a:cs typeface="Calibri"/>
                <a:sym typeface="Calibri"/>
              </a:rPr>
              <a:t>joblib
.pkl file</a:t>
            </a:r>
          </a:p>
        </p:txBody>
      </p:sp>
      <p:sp>
        <p:nvSpPr>
          <p:cNvPr id="82" name="Arr12"/>
          <p:cNvSpPr txBox="1">
            <a:spLocks/>
          </p:cNvSpPr>
          <p:nvPr/>
        </p:nvSpPr>
        <p:spPr>
          <a:xfrm>
            <a:off x="9086850" y="4297679"/>
            <a:ext cx="109728" cy="411480"/>
          </a:xfrm>
          <a:prstGeom prst="rect">
            <a:avLst/>
          </a:prstGeom>
          <a:noFill/>
          <a:ln>
            <a:noFill/>
          </a:ln>
        </p:spPr>
        <p:txBody>
          <a:bodyPr spcFirstLastPara="0" wrap="square" lIns="91425" tIns="45700" rIns="91425" bIns="45700" anchor="ctr" anchorCtr="0">
            <a:normAutofit/>
          </a:bodyPr>
          <a:lstStyle/>
          <a:p>
            <a:pPr marL="0" indent="0" algn="ctr">
              <a:lnSpc>
                <a:spcPct val="90000"/>
              </a:lnSpc>
              <a:spcBef>
                <a:spcPts val="200"/>
              </a:spcBef>
              <a:spcAft>
                <a:spcPts val="0"/>
              </a:spcAft>
              <a:buNone/>
            </a:pPr>
            <a:r>
              <a:rPr lang="en-US" sz="1400" b="0" dirty="0">
                <a:solidFill>
                  <a:srgbClr val="C8973A"/>
                </a:solidFill>
                <a:latin typeface="Calibri"/>
                <a:ea typeface="Calibri"/>
                <a:cs typeface="Calibri"/>
                <a:sym typeface="Calibri"/>
              </a:rPr>
              <a:t>▶</a:t>
            </a:r>
          </a:p>
        </p:txBody>
      </p:sp>
      <p:sp>
        <p:nvSpPr>
          <p:cNvPr id="33" name="Step13"/>
          <p:cNvSpPr txBox="1">
            <a:spLocks/>
          </p:cNvSpPr>
          <p:nvPr/>
        </p:nvSpPr>
        <p:spPr>
          <a:xfrm>
            <a:off x="9205722" y="3611879"/>
            <a:ext cx="2846070" cy="1783080"/>
          </a:xfrm>
          <a:prstGeom prst="roundRect">
            <a:avLst>
              <a:gd name="adj" fmla="val 20000"/>
            </a:avLst>
          </a:prstGeom>
          <a:solidFill>
            <a:srgbClr val="5A4A8A"/>
          </a:solidFill>
          <a:ln>
            <a:solidFill>
              <a:srgbClr val="5A4A8A"/>
            </a:solidFill>
          </a:ln>
        </p:spPr>
        <p:txBody>
          <a:bodyPr spcFirstLastPara="0" wrap="square" lIns="45720" tIns="45720" rIns="45720" bIns="45720" anchor="t" anchorCtr="0">
            <a:normAutofit/>
          </a:bodyPr>
          <a:lstStyle/>
          <a:p>
            <a:pPr marL="0" indent="0" algn="ctr">
              <a:lnSpc>
                <a:spcPct val="90000"/>
              </a:lnSpc>
              <a:spcBef>
                <a:spcPts val="0"/>
              </a:spcBef>
              <a:spcAft>
                <a:spcPts val="0"/>
              </a:spcAft>
              <a:buNone/>
            </a:pPr>
            <a:r>
              <a:rPr lang="en-US" sz="2200" b="1" dirty="0">
                <a:solidFill>
                  <a:srgbClr val="C8973A"/>
                </a:solidFill>
                <a:latin typeface="Calibri"/>
                <a:ea typeface="Calibri"/>
                <a:cs typeface="Calibri"/>
                <a:sym typeface="Calibri"/>
              </a:rPr>
              <a:t>9</a:t>
            </a:r>
          </a:p>
          <a:p>
            <a:pPr marL="0" indent="0" algn="ctr">
              <a:lnSpc>
                <a:spcPct val="90000"/>
              </a:lnSpc>
              <a:spcBef>
                <a:spcPts val="100"/>
              </a:spcBef>
              <a:spcAft>
                <a:spcPts val="0"/>
              </a:spcAft>
              <a:buNone/>
            </a:pPr>
            <a:r>
              <a:rPr lang="en-US" sz="1600" b="1" dirty="0">
                <a:solidFill>
                  <a:srgbClr val="FFFFFF"/>
                </a:solidFill>
                <a:latin typeface="Calibri"/>
                <a:ea typeface="Calibri"/>
                <a:cs typeface="Calibri"/>
                <a:sym typeface="Calibri"/>
              </a:rPr>
              <a:t>Streamlit
Deploy</a:t>
            </a:r>
          </a:p>
          <a:p>
            <a:pPr marL="0" indent="0" algn="ctr">
              <a:lnSpc>
                <a:spcPct val="90000"/>
              </a:lnSpc>
              <a:spcBef>
                <a:spcPts val="100"/>
              </a:spcBef>
              <a:spcAft>
                <a:spcPts val="0"/>
              </a:spcAft>
              <a:buNone/>
            </a:pPr>
            <a:r>
              <a:rPr lang="en-US" sz="1300" b="0" dirty="0">
                <a:solidFill>
                  <a:srgbClr val="AACCDD"/>
                </a:solidFill>
                <a:latin typeface="Calibri"/>
                <a:ea typeface="Calibri"/>
                <a:cs typeface="Calibri"/>
                <a:sym typeface="Calibri"/>
              </a:rPr>
              <a:t>Real-time
UI for educators</a:t>
            </a:r>
          </a:p>
        </p:txBody>
      </p:sp>
      <p:sp>
        <p:nvSpPr>
          <p:cNvPr id="90" name="Params"/>
          <p:cNvSpPr txBox="1">
            <a:spLocks/>
          </p:cNvSpPr>
          <p:nvPr/>
        </p:nvSpPr>
        <p:spPr>
          <a:xfrm>
            <a:off x="256032" y="5623560"/>
            <a:ext cx="11676888" cy="475488"/>
          </a:xfrm>
          <a:prstGeom prst="roundRect">
            <a:avLst>
              <a:gd name="adj" fmla="val 20000"/>
            </a:avLst>
          </a:prstGeom>
          <a:solidFill>
            <a:srgbClr val="F0F4F8"/>
          </a:solidFill>
          <a:ln>
            <a:solidFill>
              <a:srgbClr val="F0F4F8"/>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600" b="1" dirty="0">
                <a:solidFill>
                  <a:srgbClr val="1C2B4A"/>
                </a:solidFill>
                <a:latin typeface="Courier New"/>
                <a:ea typeface="Courier New"/>
                <a:cs typeface="Courier New"/>
                <a:sym typeface="Courier New"/>
              </a:rPr>
              <a:t>Best XGBoost Params:  learning_rate=0.1  ·  max_depth=3  ·  n_estimators=200  ·  subsample=0.8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Grp"/>
        <p:cNvGrpSpPr/>
        <p:nvPr/>
      </p:nvGrpSpPr>
      <p:grpSpPr>
        <a:xfrm>
          <a:off x="0" y="0"/>
          <a:ext cx="0" cy="0"/>
          <a:chOff x="0" y="0"/>
          <a:chExt cx="0" cy="0"/>
        </a:xfrm>
      </p:grpSpPr>
      <p:sp>
        <p:nvSpPr>
          <p:cNvPr id="10" name="TitleStripe"/>
          <p:cNvSpPr txBox="1">
            <a:spLocks/>
          </p:cNvSpPr>
          <p:nvPr/>
        </p:nvSpPr>
        <p:spPr>
          <a:xfrm>
            <a:off x="291553" y="804672"/>
            <a:ext cx="64008" cy="658368"/>
          </a:xfrm>
          <a:prstGeom prst="rect">
            <a:avLst/>
          </a:prstGeom>
          <a:solidFill>
            <a:srgbClr val="8B0000"/>
          </a:solidFill>
          <a:ln>
            <a:solidFill>
              <a:srgbClr val="8B0000"/>
            </a:solidFill>
          </a:ln>
        </p:spPr>
      </p:sp>
      <p:sp>
        <p:nvSpPr>
          <p:cNvPr id="11" name="Title"/>
          <p:cNvSpPr txBox="1">
            <a:spLocks/>
          </p:cNvSpPr>
          <p:nvPr/>
        </p:nvSpPr>
        <p:spPr>
          <a:xfrm>
            <a:off x="484632" y="763524"/>
            <a:ext cx="11128248" cy="658368"/>
          </a:xfrm>
          <a:prstGeom prst="rect">
            <a:avLst/>
          </a:prstGeom>
          <a:noFill/>
          <a:ln>
            <a:noFill/>
          </a:ln>
        </p:spPr>
        <p:txBody>
          <a:bodyPr spcFirstLastPara="0" wrap="square" lIns="91425" tIns="45700" rIns="91425" bIns="45700" anchor="ctr" anchorCtr="0">
            <a:normAutofit fontScale="92500" lnSpcReduction="10000"/>
          </a:bodyPr>
          <a:lstStyle/>
          <a:p>
            <a:pPr marL="0" indent="0" algn="l">
              <a:lnSpc>
                <a:spcPct val="90000"/>
              </a:lnSpc>
              <a:spcBef>
                <a:spcPts val="0"/>
              </a:spcBef>
              <a:spcAft>
                <a:spcPts val="0"/>
              </a:spcAft>
              <a:buNone/>
            </a:pPr>
            <a:r>
              <a:rPr lang="en-US" sz="3200" b="1" dirty="0">
                <a:solidFill>
                  <a:srgbClr val="1C2B4A"/>
                </a:solidFill>
                <a:latin typeface="Calibri"/>
                <a:ea typeface="Calibri"/>
                <a:cs typeface="Calibri"/>
                <a:sym typeface="Calibri"/>
              </a:rPr>
              <a:t>Implementation</a:t>
            </a:r>
          </a:p>
          <a:p>
            <a:pPr marL="0" indent="0" algn="l">
              <a:lnSpc>
                <a:spcPct val="90000"/>
              </a:lnSpc>
              <a:spcBef>
                <a:spcPts val="60"/>
              </a:spcBef>
              <a:spcAft>
                <a:spcPts val="0"/>
              </a:spcAft>
              <a:buNone/>
            </a:pPr>
            <a:r>
              <a:rPr lang="en-US" sz="1600" b="0" i="1" dirty="0">
                <a:solidFill>
                  <a:srgbClr val="8A9BB0"/>
                </a:solidFill>
                <a:latin typeface="Calibri"/>
                <a:ea typeface="Calibri"/>
                <a:cs typeface="Calibri"/>
                <a:sym typeface="Calibri"/>
              </a:rPr>
              <a:t>Project structure · Streamlit deployment</a:t>
            </a:r>
          </a:p>
        </p:txBody>
      </p:sp>
      <p:sp>
        <p:nvSpPr>
          <p:cNvPr id="12" name="Divider"/>
          <p:cNvSpPr txBox="1">
            <a:spLocks/>
          </p:cNvSpPr>
          <p:nvPr/>
        </p:nvSpPr>
        <p:spPr>
          <a:xfrm>
            <a:off x="393192" y="1380744"/>
            <a:ext cx="11311128" cy="36576"/>
          </a:xfrm>
          <a:prstGeom prst="rect">
            <a:avLst/>
          </a:prstGeom>
          <a:solidFill>
            <a:srgbClr val="E8ECF0"/>
          </a:solidFill>
          <a:ln>
            <a:solidFill>
              <a:srgbClr val="E8ECF0"/>
            </a:solidFill>
          </a:ln>
        </p:spPr>
      </p:sp>
      <p:sp>
        <p:nvSpPr>
          <p:cNvPr id="20" name="File0"/>
          <p:cNvSpPr txBox="1">
            <a:spLocks/>
          </p:cNvSpPr>
          <p:nvPr/>
        </p:nvSpPr>
        <p:spPr>
          <a:xfrm>
            <a:off x="256032" y="1463040"/>
            <a:ext cx="5669280" cy="1554480"/>
          </a:xfrm>
          <a:prstGeom prst="roundRect">
            <a:avLst>
              <a:gd name="adj" fmla="val 20000"/>
            </a:avLst>
          </a:prstGeom>
          <a:solidFill>
            <a:srgbClr val="1C2B4A"/>
          </a:solidFill>
          <a:ln>
            <a:solidFill>
              <a:srgbClr val="1C2B4A"/>
            </a:solidFill>
          </a:ln>
        </p:spPr>
        <p:txBody>
          <a:bodyPr spcFirstLastPara="0" wrap="square" lIns="91425" tIns="45700" rIns="91425" bIns="45700" anchor="t" anchorCtr="0">
            <a:normAutofit/>
          </a:bodyPr>
          <a:lstStyle/>
          <a:p>
            <a:pPr marL="0" indent="0" algn="l">
              <a:lnSpc>
                <a:spcPct val="90000"/>
              </a:lnSpc>
              <a:spcBef>
                <a:spcPts val="0"/>
              </a:spcBef>
              <a:spcAft>
                <a:spcPts val="0"/>
              </a:spcAft>
              <a:buNone/>
            </a:pPr>
            <a:r>
              <a:rPr lang="en-US" sz="2000" b="1" dirty="0">
                <a:solidFill>
                  <a:srgbClr val="C8973A"/>
                </a:solidFill>
                <a:latin typeface="Courier New"/>
                <a:ea typeface="Courier New"/>
                <a:cs typeface="Courier New"/>
                <a:sym typeface="Courier New"/>
              </a:rPr>
              <a:t>main.py</a:t>
            </a:r>
          </a:p>
          <a:p>
            <a:pPr marL="0" indent="0" algn="l">
              <a:lnSpc>
                <a:spcPct val="95000"/>
              </a:lnSpc>
              <a:spcBef>
                <a:spcPts val="120"/>
              </a:spcBef>
              <a:spcAft>
                <a:spcPts val="0"/>
              </a:spcAft>
              <a:buNone/>
            </a:pPr>
            <a:r>
              <a:rPr lang="en-US" sz="1500" b="0" dirty="0">
                <a:solidFill>
                  <a:srgbClr val="CCDDEF"/>
                </a:solidFill>
                <a:latin typeface="Calibri"/>
                <a:ea typeface="Calibri"/>
                <a:cs typeface="Calibri"/>
                <a:sym typeface="Calibri"/>
              </a:rPr>
              <a:t>Training pipeline: data loading · EDA · risk label engineering · 3-model training · GridSearchCV tuning · SHAP chart generation · model persistence</a:t>
            </a:r>
          </a:p>
        </p:txBody>
      </p:sp>
      <p:sp>
        <p:nvSpPr>
          <p:cNvPr id="21" name="File1"/>
          <p:cNvSpPr txBox="1">
            <a:spLocks/>
          </p:cNvSpPr>
          <p:nvPr/>
        </p:nvSpPr>
        <p:spPr>
          <a:xfrm>
            <a:off x="256032" y="3154680"/>
            <a:ext cx="5669280" cy="1554480"/>
          </a:xfrm>
          <a:prstGeom prst="roundRect">
            <a:avLst>
              <a:gd name="adj" fmla="val 20000"/>
            </a:avLst>
          </a:prstGeom>
          <a:solidFill>
            <a:srgbClr val="8B0000"/>
          </a:solidFill>
          <a:ln>
            <a:solidFill>
              <a:srgbClr val="8B0000"/>
            </a:solidFill>
          </a:ln>
        </p:spPr>
        <p:txBody>
          <a:bodyPr spcFirstLastPara="0" wrap="square" lIns="91425" tIns="45700" rIns="91425" bIns="45700" anchor="t" anchorCtr="0">
            <a:normAutofit/>
          </a:bodyPr>
          <a:lstStyle/>
          <a:p>
            <a:pPr marL="0" indent="0" algn="l">
              <a:lnSpc>
                <a:spcPct val="90000"/>
              </a:lnSpc>
              <a:spcBef>
                <a:spcPts val="0"/>
              </a:spcBef>
              <a:spcAft>
                <a:spcPts val="0"/>
              </a:spcAft>
              <a:buNone/>
            </a:pPr>
            <a:r>
              <a:rPr lang="en-US" sz="2000" b="1" dirty="0">
                <a:solidFill>
                  <a:srgbClr val="C8973A"/>
                </a:solidFill>
                <a:latin typeface="Courier New"/>
                <a:ea typeface="Courier New"/>
                <a:cs typeface="Courier New"/>
                <a:sym typeface="Courier New"/>
              </a:rPr>
              <a:t>app.py</a:t>
            </a:r>
          </a:p>
          <a:p>
            <a:pPr marL="0" indent="0" algn="l">
              <a:lnSpc>
                <a:spcPct val="95000"/>
              </a:lnSpc>
              <a:spcBef>
                <a:spcPts val="120"/>
              </a:spcBef>
              <a:spcAft>
                <a:spcPts val="0"/>
              </a:spcAft>
              <a:buNone/>
            </a:pPr>
            <a:r>
              <a:rPr lang="en-US" sz="1500" b="0" dirty="0">
                <a:solidFill>
                  <a:srgbClr val="CCDDEF"/>
                </a:solidFill>
                <a:latin typeface="Calibri"/>
                <a:ea typeface="Calibri"/>
                <a:cs typeface="Calibri"/>
                <a:sym typeface="Calibri"/>
              </a:rPr>
              <a:t>Streamlit web app: 12-feature input form · real-time XGBoost prediction · SHAP waterfall chart rendered inline via st.pyplot()</a:t>
            </a:r>
          </a:p>
        </p:txBody>
      </p:sp>
      <p:sp>
        <p:nvSpPr>
          <p:cNvPr id="22" name="File2"/>
          <p:cNvSpPr txBox="1">
            <a:spLocks/>
          </p:cNvSpPr>
          <p:nvPr/>
        </p:nvSpPr>
        <p:spPr>
          <a:xfrm>
            <a:off x="256032" y="4846320"/>
            <a:ext cx="5669280" cy="1554480"/>
          </a:xfrm>
          <a:prstGeom prst="roundRect">
            <a:avLst>
              <a:gd name="adj" fmla="val 20000"/>
            </a:avLst>
          </a:prstGeom>
          <a:solidFill>
            <a:srgbClr val="1A6B7C"/>
          </a:solidFill>
          <a:ln>
            <a:solidFill>
              <a:srgbClr val="1A6B7C"/>
            </a:solidFill>
          </a:ln>
        </p:spPr>
        <p:txBody>
          <a:bodyPr spcFirstLastPara="0" wrap="square" lIns="91425" tIns="45700" rIns="91425" bIns="45700" anchor="t" anchorCtr="0">
            <a:normAutofit/>
          </a:bodyPr>
          <a:lstStyle/>
          <a:p>
            <a:pPr marL="0" indent="0" algn="l">
              <a:lnSpc>
                <a:spcPct val="90000"/>
              </a:lnSpc>
              <a:spcBef>
                <a:spcPts val="0"/>
              </a:spcBef>
              <a:spcAft>
                <a:spcPts val="0"/>
              </a:spcAft>
              <a:buNone/>
            </a:pPr>
            <a:r>
              <a:rPr lang="en-US" sz="2000" b="1" dirty="0">
                <a:solidFill>
                  <a:srgbClr val="C8973A"/>
                </a:solidFill>
                <a:latin typeface="Courier New"/>
                <a:ea typeface="Courier New"/>
                <a:cs typeface="Courier New"/>
                <a:sym typeface="Courier New"/>
              </a:rPr>
              <a:t>model.pkl</a:t>
            </a:r>
          </a:p>
          <a:p>
            <a:pPr marL="0" indent="0" algn="l">
              <a:lnSpc>
                <a:spcPct val="95000"/>
              </a:lnSpc>
              <a:spcBef>
                <a:spcPts val="120"/>
              </a:spcBef>
              <a:spcAft>
                <a:spcPts val="0"/>
              </a:spcAft>
              <a:buNone/>
            </a:pPr>
            <a:r>
              <a:rPr lang="en-US" sz="1500" b="0" dirty="0">
                <a:solidFill>
                  <a:srgbClr val="CCDDEF"/>
                </a:solidFill>
                <a:latin typeface="Calibri"/>
                <a:ea typeface="Calibri"/>
                <a:cs typeface="Calibri"/>
                <a:sym typeface="Calibri"/>
              </a:rPr>
              <a:t>academic_risk_xgboost.pkl — saved tuned model via joblib. Loaded at app startup. No retraining needed.</a:t>
            </a:r>
          </a:p>
        </p:txBody>
      </p:sp>
      <p:sp>
        <p:nvSpPr>
          <p:cNvPr id="30" name="FlowLabel"/>
          <p:cNvSpPr txBox="1">
            <a:spLocks/>
          </p:cNvSpPr>
          <p:nvPr/>
        </p:nvSpPr>
        <p:spPr>
          <a:xfrm>
            <a:off x="6172200" y="1417320"/>
            <a:ext cx="5760720" cy="347472"/>
          </a:xfrm>
          <a:prstGeom prst="rect">
            <a:avLst/>
          </a:prstGeom>
          <a:noFill/>
          <a:ln>
            <a:noFill/>
          </a:ln>
        </p:spPr>
        <p:txBody>
          <a:bodyPr spcFirstLastPara="0" wrap="square" lIns="91425" tIns="45700" rIns="91425" bIns="45700" anchor="ctr" anchorCtr="0">
            <a:normAutofit/>
          </a:bodyPr>
          <a:lstStyle/>
          <a:p>
            <a:pPr marL="0" indent="0" algn="l">
              <a:lnSpc>
                <a:spcPct val="90000"/>
              </a:lnSpc>
              <a:spcBef>
                <a:spcPts val="200"/>
              </a:spcBef>
              <a:spcAft>
                <a:spcPts val="0"/>
              </a:spcAft>
              <a:buNone/>
            </a:pPr>
            <a:r>
              <a:rPr lang="en-US" sz="1700" b="1" dirty="0">
                <a:solidFill>
                  <a:srgbClr val="1C2B4A"/>
                </a:solidFill>
                <a:latin typeface="Calibri"/>
                <a:ea typeface="Calibri"/>
                <a:cs typeface="Calibri"/>
                <a:sym typeface="Calibri"/>
              </a:rPr>
              <a:t>Streamlit UI Flow</a:t>
            </a:r>
          </a:p>
        </p:txBody>
      </p:sp>
      <p:sp>
        <p:nvSpPr>
          <p:cNvPr id="40" name="Flow0"/>
          <p:cNvSpPr txBox="1">
            <a:spLocks/>
          </p:cNvSpPr>
          <p:nvPr/>
        </p:nvSpPr>
        <p:spPr>
          <a:xfrm>
            <a:off x="6172200" y="1828800"/>
            <a:ext cx="5760720" cy="960120"/>
          </a:xfrm>
          <a:prstGeom prst="roundRect">
            <a:avLst>
              <a:gd name="adj" fmla="val 20000"/>
            </a:avLst>
          </a:prstGeom>
          <a:solidFill>
            <a:srgbClr val="1C2B4A"/>
          </a:solidFill>
          <a:ln>
            <a:solidFill>
              <a:srgbClr val="1C2B4A"/>
            </a:solidFill>
          </a:ln>
        </p:spPr>
        <p:txBody>
          <a:bodyPr spcFirstLastPara="0" wrap="square" lIns="45720" tIns="45720" rIns="45720" bIns="45720" anchor="ctr" anchorCtr="0">
            <a:normAutofit/>
          </a:bodyPr>
          <a:lstStyle/>
          <a:p>
            <a:pPr marL="0" indent="0" algn="l">
              <a:lnSpc>
                <a:spcPct val="90000"/>
              </a:lnSpc>
              <a:spcBef>
                <a:spcPts val="200"/>
              </a:spcBef>
              <a:spcAft>
                <a:spcPts val="0"/>
              </a:spcAft>
              <a:buNone/>
            </a:pPr>
            <a:r>
              <a:rPr lang="en-US" sz="1600" b="1" dirty="0">
                <a:solidFill>
                  <a:srgbClr val="FFFFFF"/>
                </a:solidFill>
                <a:latin typeface="Calibri"/>
                <a:ea typeface="Calibri"/>
                <a:cs typeface="Calibri"/>
                <a:sym typeface="Calibri"/>
              </a:rPr>
              <a:t>INPUT  ·  Educator enters 12 features via sliders &amp; dropdowns</a:t>
            </a:r>
          </a:p>
        </p:txBody>
      </p:sp>
      <p:sp>
        <p:nvSpPr>
          <p:cNvPr id="50" name="FArr0"/>
          <p:cNvSpPr txBox="1">
            <a:spLocks/>
          </p:cNvSpPr>
          <p:nvPr/>
        </p:nvSpPr>
        <p:spPr>
          <a:xfrm>
            <a:off x="8686800" y="2788920"/>
            <a:ext cx="457200" cy="128016"/>
          </a:xfrm>
          <a:prstGeom prst="rect">
            <a:avLst/>
          </a:prstGeom>
          <a:noFill/>
          <a:ln>
            <a:noFill/>
          </a:ln>
        </p:spPr>
        <p:txBody>
          <a:bodyPr spcFirstLastPara="0" wrap="square" lIns="91425" tIns="45700" rIns="91425" bIns="45700" anchor="ctr" anchorCtr="0">
            <a:normAutofit fontScale="25000" lnSpcReduction="20000"/>
          </a:bodyPr>
          <a:lstStyle/>
          <a:p>
            <a:pPr marL="0" indent="0" algn="ctr">
              <a:lnSpc>
                <a:spcPct val="90000"/>
              </a:lnSpc>
              <a:spcBef>
                <a:spcPts val="200"/>
              </a:spcBef>
              <a:spcAft>
                <a:spcPts val="0"/>
              </a:spcAft>
              <a:buNone/>
            </a:pPr>
            <a:r>
              <a:rPr lang="en-US" sz="1200" b="0" dirty="0">
                <a:solidFill>
                  <a:srgbClr val="C8973A"/>
                </a:solidFill>
                <a:latin typeface="Calibri"/>
                <a:ea typeface="Calibri"/>
                <a:cs typeface="Calibri"/>
                <a:sym typeface="Calibri"/>
              </a:rPr>
              <a:t>▼</a:t>
            </a:r>
          </a:p>
        </p:txBody>
      </p:sp>
      <p:sp>
        <p:nvSpPr>
          <p:cNvPr id="41" name="Flow1"/>
          <p:cNvSpPr txBox="1">
            <a:spLocks/>
          </p:cNvSpPr>
          <p:nvPr/>
        </p:nvSpPr>
        <p:spPr>
          <a:xfrm>
            <a:off x="6172200" y="2926080"/>
            <a:ext cx="5760720" cy="960120"/>
          </a:xfrm>
          <a:prstGeom prst="roundRect">
            <a:avLst>
              <a:gd name="adj" fmla="val 20000"/>
            </a:avLst>
          </a:prstGeom>
          <a:solidFill>
            <a:srgbClr val="8B0000"/>
          </a:solidFill>
          <a:ln>
            <a:solidFill>
              <a:srgbClr val="8B0000"/>
            </a:solidFill>
          </a:ln>
        </p:spPr>
        <p:txBody>
          <a:bodyPr spcFirstLastPara="0" wrap="square" lIns="45720" tIns="45720" rIns="45720" bIns="45720" anchor="ctr" anchorCtr="0">
            <a:normAutofit/>
          </a:bodyPr>
          <a:lstStyle/>
          <a:p>
            <a:pPr marL="0" indent="0" algn="l">
              <a:lnSpc>
                <a:spcPct val="90000"/>
              </a:lnSpc>
              <a:spcBef>
                <a:spcPts val="200"/>
              </a:spcBef>
              <a:spcAft>
                <a:spcPts val="0"/>
              </a:spcAft>
              <a:buNone/>
            </a:pPr>
            <a:r>
              <a:rPr lang="en-US" sz="1600" b="1" dirty="0">
                <a:solidFill>
                  <a:srgbClr val="FFFFFF"/>
                </a:solidFill>
                <a:latin typeface="Calibri"/>
                <a:ea typeface="Calibri"/>
                <a:cs typeface="Calibri"/>
                <a:sym typeface="Calibri"/>
              </a:rPr>
              <a:t>PREDICT  ·  XGBoost computes risk probability in real time</a:t>
            </a:r>
          </a:p>
        </p:txBody>
      </p:sp>
      <p:sp>
        <p:nvSpPr>
          <p:cNvPr id="51" name="FArr1"/>
          <p:cNvSpPr txBox="1">
            <a:spLocks/>
          </p:cNvSpPr>
          <p:nvPr/>
        </p:nvSpPr>
        <p:spPr>
          <a:xfrm>
            <a:off x="8686800" y="3886200"/>
            <a:ext cx="457200" cy="128016"/>
          </a:xfrm>
          <a:prstGeom prst="rect">
            <a:avLst/>
          </a:prstGeom>
          <a:noFill/>
          <a:ln>
            <a:noFill/>
          </a:ln>
        </p:spPr>
        <p:txBody>
          <a:bodyPr spcFirstLastPara="0" wrap="square" lIns="91425" tIns="45700" rIns="91425" bIns="45700" anchor="ctr" anchorCtr="0">
            <a:normAutofit fontScale="25000" lnSpcReduction="20000"/>
          </a:bodyPr>
          <a:lstStyle/>
          <a:p>
            <a:pPr marL="0" indent="0" algn="ctr">
              <a:lnSpc>
                <a:spcPct val="90000"/>
              </a:lnSpc>
              <a:spcBef>
                <a:spcPts val="200"/>
              </a:spcBef>
              <a:spcAft>
                <a:spcPts val="0"/>
              </a:spcAft>
              <a:buNone/>
            </a:pPr>
            <a:r>
              <a:rPr lang="en-US" sz="1200" b="0" dirty="0">
                <a:solidFill>
                  <a:srgbClr val="C8973A"/>
                </a:solidFill>
                <a:latin typeface="Calibri"/>
                <a:ea typeface="Calibri"/>
                <a:cs typeface="Calibri"/>
                <a:sym typeface="Calibri"/>
              </a:rPr>
              <a:t>▼</a:t>
            </a:r>
          </a:p>
        </p:txBody>
      </p:sp>
      <p:sp>
        <p:nvSpPr>
          <p:cNvPr id="42" name="Flow2"/>
          <p:cNvSpPr txBox="1">
            <a:spLocks/>
          </p:cNvSpPr>
          <p:nvPr/>
        </p:nvSpPr>
        <p:spPr>
          <a:xfrm>
            <a:off x="6172200" y="4023360"/>
            <a:ext cx="5760720" cy="960120"/>
          </a:xfrm>
          <a:prstGeom prst="roundRect">
            <a:avLst>
              <a:gd name="adj" fmla="val 20000"/>
            </a:avLst>
          </a:prstGeom>
          <a:solidFill>
            <a:srgbClr val="1A6B7C"/>
          </a:solidFill>
          <a:ln>
            <a:solidFill>
              <a:srgbClr val="1A6B7C"/>
            </a:solidFill>
          </a:ln>
        </p:spPr>
        <p:txBody>
          <a:bodyPr spcFirstLastPara="0" wrap="square" lIns="45720" tIns="45720" rIns="45720" bIns="45720" anchor="ctr" anchorCtr="0">
            <a:normAutofit/>
          </a:bodyPr>
          <a:lstStyle/>
          <a:p>
            <a:pPr marL="0" indent="0" algn="l">
              <a:lnSpc>
                <a:spcPct val="90000"/>
              </a:lnSpc>
              <a:spcBef>
                <a:spcPts val="200"/>
              </a:spcBef>
              <a:spcAft>
                <a:spcPts val="0"/>
              </a:spcAft>
              <a:buNone/>
            </a:pPr>
            <a:r>
              <a:rPr lang="en-US" sz="1600" b="1" dirty="0">
                <a:solidFill>
                  <a:srgbClr val="FFFFFF"/>
                </a:solidFill>
                <a:latin typeface="Calibri"/>
                <a:ea typeface="Calibri"/>
                <a:cs typeface="Calibri"/>
                <a:sym typeface="Calibri"/>
              </a:rPr>
              <a:t>EXPLAIN  ·  SHAP waterfall chart generated per student</a:t>
            </a:r>
          </a:p>
        </p:txBody>
      </p:sp>
      <p:sp>
        <p:nvSpPr>
          <p:cNvPr id="52" name="FArr2"/>
          <p:cNvSpPr txBox="1">
            <a:spLocks/>
          </p:cNvSpPr>
          <p:nvPr/>
        </p:nvSpPr>
        <p:spPr>
          <a:xfrm>
            <a:off x="8686800" y="4983480"/>
            <a:ext cx="457200" cy="128016"/>
          </a:xfrm>
          <a:prstGeom prst="rect">
            <a:avLst/>
          </a:prstGeom>
          <a:noFill/>
          <a:ln>
            <a:noFill/>
          </a:ln>
        </p:spPr>
        <p:txBody>
          <a:bodyPr spcFirstLastPara="0" wrap="square" lIns="91425" tIns="45700" rIns="91425" bIns="45700" anchor="ctr" anchorCtr="0">
            <a:normAutofit fontScale="25000" lnSpcReduction="20000"/>
          </a:bodyPr>
          <a:lstStyle/>
          <a:p>
            <a:pPr marL="0" indent="0" algn="ctr">
              <a:lnSpc>
                <a:spcPct val="90000"/>
              </a:lnSpc>
              <a:spcBef>
                <a:spcPts val="200"/>
              </a:spcBef>
              <a:spcAft>
                <a:spcPts val="0"/>
              </a:spcAft>
              <a:buNone/>
            </a:pPr>
            <a:r>
              <a:rPr lang="en-US" sz="1200" b="0" dirty="0">
                <a:solidFill>
                  <a:srgbClr val="C8973A"/>
                </a:solidFill>
                <a:latin typeface="Calibri"/>
                <a:ea typeface="Calibri"/>
                <a:cs typeface="Calibri"/>
                <a:sym typeface="Calibri"/>
              </a:rPr>
              <a:t>▼</a:t>
            </a:r>
          </a:p>
        </p:txBody>
      </p:sp>
      <p:sp>
        <p:nvSpPr>
          <p:cNvPr id="43" name="Flow3"/>
          <p:cNvSpPr txBox="1">
            <a:spLocks/>
          </p:cNvSpPr>
          <p:nvPr/>
        </p:nvSpPr>
        <p:spPr>
          <a:xfrm>
            <a:off x="6172200" y="5120640"/>
            <a:ext cx="5760720" cy="960120"/>
          </a:xfrm>
          <a:prstGeom prst="roundRect">
            <a:avLst>
              <a:gd name="adj" fmla="val 20000"/>
            </a:avLst>
          </a:prstGeom>
          <a:solidFill>
            <a:srgbClr val="3A6040"/>
          </a:solidFill>
          <a:ln>
            <a:solidFill>
              <a:srgbClr val="3A6040"/>
            </a:solidFill>
          </a:ln>
        </p:spPr>
        <p:txBody>
          <a:bodyPr spcFirstLastPara="0" wrap="square" lIns="45720" tIns="45720" rIns="45720" bIns="45720" anchor="ctr" anchorCtr="0">
            <a:normAutofit/>
          </a:bodyPr>
          <a:lstStyle/>
          <a:p>
            <a:pPr marL="0" indent="0" algn="l">
              <a:lnSpc>
                <a:spcPct val="90000"/>
              </a:lnSpc>
              <a:spcBef>
                <a:spcPts val="200"/>
              </a:spcBef>
              <a:spcAft>
                <a:spcPts val="0"/>
              </a:spcAft>
              <a:buNone/>
            </a:pPr>
            <a:r>
              <a:rPr lang="en-US" sz="1600" b="1" dirty="0">
                <a:solidFill>
                  <a:srgbClr val="FFFFFF"/>
                </a:solidFill>
                <a:latin typeface="Calibri"/>
                <a:ea typeface="Calibri"/>
                <a:cs typeface="Calibri"/>
                <a:sym typeface="Calibri"/>
              </a:rPr>
              <a:t>ACT  ·  Teacher knows WHICH factor to address &amp; how</a:t>
            </a:r>
          </a:p>
        </p:txBody>
      </p:sp>
      <p:sp>
        <p:nvSpPr>
          <p:cNvPr id="60" name="LaunchNote"/>
          <p:cNvSpPr txBox="1">
            <a:spLocks/>
          </p:cNvSpPr>
          <p:nvPr/>
        </p:nvSpPr>
        <p:spPr>
          <a:xfrm>
            <a:off x="6172200" y="6309360"/>
            <a:ext cx="5760720" cy="292608"/>
          </a:xfrm>
          <a:prstGeom prst="rect">
            <a:avLst/>
          </a:prstGeom>
          <a:noFill/>
          <a:ln>
            <a:noFill/>
          </a:ln>
        </p:spPr>
        <p:txBody>
          <a:bodyPr spcFirstLastPara="0" wrap="square" lIns="91425" tIns="45700" rIns="91425" bIns="45700" anchor="ctr" anchorCtr="0">
            <a:normAutofit fontScale="70000" lnSpcReduction="20000"/>
          </a:bodyPr>
          <a:lstStyle/>
          <a:p>
            <a:pPr marL="0" indent="0" algn="ctr">
              <a:lnSpc>
                <a:spcPct val="90000"/>
              </a:lnSpc>
              <a:spcBef>
                <a:spcPts val="200"/>
              </a:spcBef>
              <a:spcAft>
                <a:spcPts val="0"/>
              </a:spcAft>
              <a:buNone/>
            </a:pPr>
            <a:r>
              <a:rPr lang="en-US" sz="1400" b="0" i="1" dirty="0">
                <a:solidFill>
                  <a:srgbClr val="8A9BB0"/>
                </a:solidFill>
                <a:latin typeface="Courier New"/>
                <a:ea typeface="Courier New"/>
                <a:cs typeface="Courier New"/>
                <a:sym typeface="Courier New"/>
              </a:rPr>
              <a:t>Launch: streamlit run app.py  →  localhost:8501  ·  &lt;2 sec response time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Grp"/>
        <p:cNvGrpSpPr/>
        <p:nvPr/>
      </p:nvGrpSpPr>
      <p:grpSpPr>
        <a:xfrm>
          <a:off x="0" y="0"/>
          <a:ext cx="0" cy="0"/>
          <a:chOff x="0" y="0"/>
          <a:chExt cx="0" cy="0"/>
        </a:xfrm>
      </p:grpSpPr>
      <p:sp>
        <p:nvSpPr>
          <p:cNvPr id="10" name="TitleStripe"/>
          <p:cNvSpPr txBox="1">
            <a:spLocks/>
          </p:cNvSpPr>
          <p:nvPr/>
        </p:nvSpPr>
        <p:spPr>
          <a:xfrm>
            <a:off x="248998" y="850393"/>
            <a:ext cx="64008" cy="658368"/>
          </a:xfrm>
          <a:prstGeom prst="rect">
            <a:avLst/>
          </a:prstGeom>
          <a:solidFill>
            <a:srgbClr val="8B0000"/>
          </a:solidFill>
          <a:ln>
            <a:solidFill>
              <a:srgbClr val="8B0000"/>
            </a:solidFill>
          </a:ln>
        </p:spPr>
      </p:sp>
      <p:sp>
        <p:nvSpPr>
          <p:cNvPr id="11" name="Title"/>
          <p:cNvSpPr txBox="1">
            <a:spLocks/>
          </p:cNvSpPr>
          <p:nvPr/>
        </p:nvSpPr>
        <p:spPr>
          <a:xfrm>
            <a:off x="397764" y="813815"/>
            <a:ext cx="11128248" cy="658368"/>
          </a:xfrm>
          <a:prstGeom prst="rect">
            <a:avLst/>
          </a:prstGeom>
          <a:noFill/>
          <a:ln>
            <a:noFill/>
          </a:ln>
        </p:spPr>
        <p:txBody>
          <a:bodyPr spcFirstLastPara="0" wrap="square" lIns="91425" tIns="45700" rIns="91425" bIns="45700" anchor="ctr" anchorCtr="0">
            <a:normAutofit fontScale="92500" lnSpcReduction="10000"/>
          </a:bodyPr>
          <a:lstStyle/>
          <a:p>
            <a:pPr marL="0" indent="0" algn="l">
              <a:lnSpc>
                <a:spcPct val="90000"/>
              </a:lnSpc>
              <a:spcBef>
                <a:spcPts val="0"/>
              </a:spcBef>
              <a:spcAft>
                <a:spcPts val="0"/>
              </a:spcAft>
              <a:buNone/>
            </a:pPr>
            <a:r>
              <a:rPr lang="en-US" sz="3200" b="1" dirty="0">
                <a:solidFill>
                  <a:srgbClr val="1C2B4A"/>
                </a:solidFill>
                <a:latin typeface="Calibri"/>
                <a:ea typeface="Calibri"/>
                <a:cs typeface="Calibri"/>
                <a:sym typeface="Calibri"/>
              </a:rPr>
              <a:t>SHAP Explainability</a:t>
            </a:r>
          </a:p>
          <a:p>
            <a:pPr marL="0" indent="0" algn="l">
              <a:lnSpc>
                <a:spcPct val="90000"/>
              </a:lnSpc>
              <a:spcBef>
                <a:spcPts val="60"/>
              </a:spcBef>
              <a:spcAft>
                <a:spcPts val="0"/>
              </a:spcAft>
              <a:buNone/>
            </a:pPr>
            <a:r>
              <a:rPr lang="en-US" sz="1600" b="0" i="1" dirty="0">
                <a:solidFill>
                  <a:srgbClr val="8A9BB0"/>
                </a:solidFill>
                <a:latin typeface="Calibri"/>
                <a:ea typeface="Calibri"/>
                <a:cs typeface="Calibri"/>
                <a:sym typeface="Calibri"/>
              </a:rPr>
              <a:t>SHapley Additive exPlanations · cooperative game theory</a:t>
            </a:r>
          </a:p>
        </p:txBody>
      </p:sp>
      <p:sp>
        <p:nvSpPr>
          <p:cNvPr id="12" name="Divider"/>
          <p:cNvSpPr txBox="1">
            <a:spLocks/>
          </p:cNvSpPr>
          <p:nvPr/>
        </p:nvSpPr>
        <p:spPr>
          <a:xfrm>
            <a:off x="306324" y="1412748"/>
            <a:ext cx="11311128" cy="36576"/>
          </a:xfrm>
          <a:prstGeom prst="rect">
            <a:avLst/>
          </a:prstGeom>
          <a:solidFill>
            <a:srgbClr val="E8ECF0"/>
          </a:solidFill>
          <a:ln>
            <a:solidFill>
              <a:srgbClr val="E8ECF0"/>
            </a:solidFill>
          </a:ln>
        </p:spPr>
      </p:sp>
      <p:sp>
        <p:nvSpPr>
          <p:cNvPr id="20" name="Formula"/>
          <p:cNvSpPr txBox="1">
            <a:spLocks/>
          </p:cNvSpPr>
          <p:nvPr/>
        </p:nvSpPr>
        <p:spPr>
          <a:xfrm>
            <a:off x="256032" y="1481328"/>
            <a:ext cx="11676888" cy="594360"/>
          </a:xfrm>
          <a:prstGeom prst="roundRect">
            <a:avLst>
              <a:gd name="adj" fmla="val 20000"/>
            </a:avLst>
          </a:prstGeom>
          <a:solidFill>
            <a:srgbClr val="1C2B4A"/>
          </a:solidFill>
          <a:ln>
            <a:solidFill>
              <a:srgbClr val="1C2B4A"/>
            </a:solidFill>
          </a:ln>
        </p:spPr>
        <p:txBody>
          <a:bodyPr spcFirstLastPara="0" wrap="square" lIns="45720" tIns="45720" rIns="45720" bIns="45720" anchor="ctr" anchorCtr="0">
            <a:normAutofit lnSpcReduction="10000"/>
          </a:bodyPr>
          <a:lstStyle/>
          <a:p>
            <a:pPr marL="0" indent="0" algn="ctr">
              <a:lnSpc>
                <a:spcPct val="90000"/>
              </a:lnSpc>
              <a:spcBef>
                <a:spcPts val="200"/>
              </a:spcBef>
              <a:spcAft>
                <a:spcPts val="0"/>
              </a:spcAft>
              <a:buNone/>
            </a:pPr>
            <a:r>
              <a:rPr lang="en-US" sz="1700" b="1" dirty="0">
                <a:solidFill>
                  <a:srgbClr val="C8973A"/>
                </a:solidFill>
                <a:latin typeface="Courier New"/>
                <a:ea typeface="Courier New"/>
                <a:cs typeface="Courier New"/>
                <a:sym typeface="Courier New"/>
              </a:rPr>
              <a:t>f(x) = φ₀ + φ₁ + φ₂ + ... + φₙ     where: φ₀ = base value  ·  φⱼ &gt; 0 pushes toward At Risk  ·  φⱼ &lt; 0 reduces risk</a:t>
            </a:r>
          </a:p>
        </p:txBody>
      </p:sp>
      <p:sp>
        <p:nvSpPr>
          <p:cNvPr id="30" name="ChartCard0"/>
          <p:cNvSpPr txBox="1">
            <a:spLocks/>
          </p:cNvSpPr>
          <p:nvPr/>
        </p:nvSpPr>
        <p:spPr>
          <a:xfrm>
            <a:off x="256032" y="2212848"/>
            <a:ext cx="3749039" cy="2240280"/>
          </a:xfrm>
          <a:prstGeom prst="roundRect">
            <a:avLst>
              <a:gd name="adj" fmla="val 20000"/>
            </a:avLst>
          </a:prstGeom>
          <a:solidFill>
            <a:srgbClr val="8B0000"/>
          </a:solidFill>
          <a:ln>
            <a:solidFill>
              <a:srgbClr val="8B0000"/>
            </a:solidFill>
          </a:ln>
        </p:spPr>
        <p:txBody>
          <a:bodyPr spcFirstLastPara="0" wrap="square" lIns="45720" tIns="45720" rIns="45720" bIns="45720" anchor="t" anchorCtr="0">
            <a:normAutofit/>
          </a:bodyPr>
          <a:lstStyle/>
          <a:p>
            <a:pPr marL="0" indent="0" algn="ctr">
              <a:lnSpc>
                <a:spcPct val="90000"/>
              </a:lnSpc>
              <a:spcBef>
                <a:spcPts val="0"/>
              </a:spcBef>
              <a:spcAft>
                <a:spcPts val="0"/>
              </a:spcAft>
              <a:buNone/>
            </a:pPr>
            <a:r>
              <a:rPr lang="en-US" sz="3200" b="1" dirty="0">
                <a:solidFill>
                  <a:srgbClr val="C8973A"/>
                </a:solidFill>
                <a:latin typeface="Calibri"/>
                <a:ea typeface="Calibri"/>
                <a:cs typeface="Calibri"/>
                <a:sym typeface="Calibri"/>
              </a:rPr>
              <a:t>01</a:t>
            </a:r>
          </a:p>
          <a:p>
            <a:pPr marL="0" indent="0" algn="ctr">
              <a:lnSpc>
                <a:spcPct val="90000"/>
              </a:lnSpc>
              <a:spcBef>
                <a:spcPts val="80"/>
              </a:spcBef>
              <a:spcAft>
                <a:spcPts val="0"/>
              </a:spcAft>
              <a:buNone/>
            </a:pPr>
            <a:r>
              <a:rPr lang="en-US" sz="1800" b="1" dirty="0">
                <a:solidFill>
                  <a:srgbClr val="FFFFFF"/>
                </a:solidFill>
                <a:latin typeface="Calibri"/>
                <a:ea typeface="Calibri"/>
                <a:cs typeface="Calibri"/>
                <a:sym typeface="Calibri"/>
              </a:rPr>
              <a:t>Global Bar Chart</a:t>
            </a:r>
          </a:p>
          <a:p>
            <a:pPr marL="0" indent="0" algn="ctr">
              <a:lnSpc>
                <a:spcPct val="95000"/>
              </a:lnSpc>
              <a:spcBef>
                <a:spcPts val="150"/>
              </a:spcBef>
              <a:spcAft>
                <a:spcPts val="0"/>
              </a:spcAft>
              <a:buNone/>
            </a:pPr>
            <a:r>
              <a:rPr lang="en-US" sz="1400" b="0" dirty="0">
                <a:solidFill>
                  <a:srgbClr val="CCDDEF"/>
                </a:solidFill>
                <a:latin typeface="Calibri"/>
                <a:ea typeface="Calibri"/>
                <a:cs typeface="Calibri"/>
                <a:sym typeface="Calibri"/>
              </a:rPr>
              <a:t>Mean |SHAP| per feature — reveals which features matter most across ALL 479 test students</a:t>
            </a:r>
          </a:p>
        </p:txBody>
      </p:sp>
      <p:sp>
        <p:nvSpPr>
          <p:cNvPr id="31" name="ChartCard1"/>
          <p:cNvSpPr txBox="1">
            <a:spLocks/>
          </p:cNvSpPr>
          <p:nvPr/>
        </p:nvSpPr>
        <p:spPr>
          <a:xfrm>
            <a:off x="4261104" y="2212848"/>
            <a:ext cx="3749039" cy="2240280"/>
          </a:xfrm>
          <a:prstGeom prst="roundRect">
            <a:avLst>
              <a:gd name="adj" fmla="val 20000"/>
            </a:avLst>
          </a:prstGeom>
          <a:solidFill>
            <a:srgbClr val="1C2B4A"/>
          </a:solidFill>
          <a:ln>
            <a:solidFill>
              <a:srgbClr val="1C2B4A"/>
            </a:solidFill>
          </a:ln>
        </p:spPr>
        <p:txBody>
          <a:bodyPr spcFirstLastPara="0" wrap="square" lIns="45720" tIns="45720" rIns="45720" bIns="45720" anchor="t" anchorCtr="0">
            <a:normAutofit/>
          </a:bodyPr>
          <a:lstStyle/>
          <a:p>
            <a:pPr marL="0" indent="0" algn="ctr">
              <a:lnSpc>
                <a:spcPct val="90000"/>
              </a:lnSpc>
              <a:spcBef>
                <a:spcPts val="0"/>
              </a:spcBef>
              <a:spcAft>
                <a:spcPts val="0"/>
              </a:spcAft>
              <a:buNone/>
            </a:pPr>
            <a:r>
              <a:rPr lang="en-US" sz="3200" b="1" dirty="0">
                <a:solidFill>
                  <a:srgbClr val="C8973A"/>
                </a:solidFill>
                <a:latin typeface="Calibri"/>
                <a:ea typeface="Calibri"/>
                <a:cs typeface="Calibri"/>
                <a:sym typeface="Calibri"/>
              </a:rPr>
              <a:t>02</a:t>
            </a:r>
          </a:p>
          <a:p>
            <a:pPr marL="0" indent="0" algn="ctr">
              <a:lnSpc>
                <a:spcPct val="90000"/>
              </a:lnSpc>
              <a:spcBef>
                <a:spcPts val="80"/>
              </a:spcBef>
              <a:spcAft>
                <a:spcPts val="0"/>
              </a:spcAft>
              <a:buNone/>
            </a:pPr>
            <a:r>
              <a:rPr lang="en-US" sz="1800" b="1" dirty="0">
                <a:solidFill>
                  <a:srgbClr val="FFFFFF"/>
                </a:solidFill>
                <a:latin typeface="Calibri"/>
                <a:ea typeface="Calibri"/>
                <a:cs typeface="Calibri"/>
                <a:sym typeface="Calibri"/>
              </a:rPr>
              <a:t>Bee Swarm Plot</a:t>
            </a:r>
          </a:p>
          <a:p>
            <a:pPr marL="0" indent="0" algn="ctr">
              <a:lnSpc>
                <a:spcPct val="95000"/>
              </a:lnSpc>
              <a:spcBef>
                <a:spcPts val="150"/>
              </a:spcBef>
              <a:spcAft>
                <a:spcPts val="0"/>
              </a:spcAft>
              <a:buNone/>
            </a:pPr>
            <a:r>
              <a:rPr lang="en-US" sz="1400" b="0" dirty="0">
                <a:solidFill>
                  <a:srgbClr val="CCDDEF"/>
                </a:solidFill>
                <a:latin typeface="Calibri"/>
                <a:ea typeface="Calibri"/>
                <a:cs typeface="Calibri"/>
                <a:sym typeface="Calibri"/>
              </a:rPr>
              <a:t>Shows DIRECTION of each feature: how high/low values push predictions toward At Risk or Safe</a:t>
            </a:r>
          </a:p>
        </p:txBody>
      </p:sp>
      <p:sp>
        <p:nvSpPr>
          <p:cNvPr id="32" name="ChartCard2"/>
          <p:cNvSpPr txBox="1">
            <a:spLocks/>
          </p:cNvSpPr>
          <p:nvPr/>
        </p:nvSpPr>
        <p:spPr>
          <a:xfrm>
            <a:off x="8266175" y="2212848"/>
            <a:ext cx="3749039" cy="2240280"/>
          </a:xfrm>
          <a:prstGeom prst="roundRect">
            <a:avLst>
              <a:gd name="adj" fmla="val 20000"/>
            </a:avLst>
          </a:prstGeom>
          <a:solidFill>
            <a:srgbClr val="1A6B7C"/>
          </a:solidFill>
          <a:ln>
            <a:solidFill>
              <a:srgbClr val="1A6B7C"/>
            </a:solidFill>
          </a:ln>
        </p:spPr>
        <p:txBody>
          <a:bodyPr spcFirstLastPara="0" wrap="square" lIns="45720" tIns="45720" rIns="45720" bIns="45720" anchor="t" anchorCtr="0">
            <a:normAutofit/>
          </a:bodyPr>
          <a:lstStyle/>
          <a:p>
            <a:pPr marL="0" indent="0" algn="ctr">
              <a:lnSpc>
                <a:spcPct val="90000"/>
              </a:lnSpc>
              <a:spcBef>
                <a:spcPts val="0"/>
              </a:spcBef>
              <a:spcAft>
                <a:spcPts val="0"/>
              </a:spcAft>
              <a:buNone/>
            </a:pPr>
            <a:r>
              <a:rPr lang="en-US" sz="3200" b="1" dirty="0">
                <a:solidFill>
                  <a:srgbClr val="C8973A"/>
                </a:solidFill>
                <a:latin typeface="Calibri"/>
                <a:ea typeface="Calibri"/>
                <a:cs typeface="Calibri"/>
                <a:sym typeface="Calibri"/>
              </a:rPr>
              <a:t>03</a:t>
            </a:r>
          </a:p>
          <a:p>
            <a:pPr marL="0" indent="0" algn="ctr">
              <a:lnSpc>
                <a:spcPct val="90000"/>
              </a:lnSpc>
              <a:spcBef>
                <a:spcPts val="80"/>
              </a:spcBef>
              <a:spcAft>
                <a:spcPts val="0"/>
              </a:spcAft>
              <a:buNone/>
            </a:pPr>
            <a:r>
              <a:rPr lang="en-US" sz="1800" b="1" dirty="0">
                <a:solidFill>
                  <a:srgbClr val="FFFFFF"/>
                </a:solidFill>
                <a:latin typeface="Calibri"/>
                <a:ea typeface="Calibri"/>
                <a:cs typeface="Calibri"/>
                <a:sym typeface="Calibri"/>
              </a:rPr>
              <a:t>Waterfall Chart</a:t>
            </a:r>
          </a:p>
          <a:p>
            <a:pPr marL="0" indent="0" algn="ctr">
              <a:lnSpc>
                <a:spcPct val="95000"/>
              </a:lnSpc>
              <a:spcBef>
                <a:spcPts val="150"/>
              </a:spcBef>
              <a:spcAft>
                <a:spcPts val="0"/>
              </a:spcAft>
              <a:buNone/>
            </a:pPr>
            <a:r>
              <a:rPr lang="en-US" sz="1400" b="0" dirty="0">
                <a:solidFill>
                  <a:srgbClr val="CCDDEF"/>
                </a:solidFill>
                <a:latin typeface="Calibri"/>
                <a:ea typeface="Calibri"/>
                <a:cs typeface="Calibri"/>
                <a:sym typeface="Calibri"/>
              </a:rPr>
              <a:t>Individual per-student explanation — shows EXACTLY why THIS student is predicted At Risk</a:t>
            </a:r>
          </a:p>
        </p:txBody>
      </p:sp>
      <p:sp>
        <p:nvSpPr>
          <p:cNvPr id="50" name="FILabel"/>
          <p:cNvSpPr txBox="1">
            <a:spLocks/>
          </p:cNvSpPr>
          <p:nvPr/>
        </p:nvSpPr>
        <p:spPr>
          <a:xfrm>
            <a:off x="256032" y="4617720"/>
            <a:ext cx="5486400" cy="347472"/>
          </a:xfrm>
          <a:prstGeom prst="rect">
            <a:avLst/>
          </a:prstGeom>
          <a:noFill/>
          <a:ln>
            <a:noFill/>
          </a:ln>
        </p:spPr>
        <p:txBody>
          <a:bodyPr spcFirstLastPara="0" wrap="square" lIns="91425" tIns="45700" rIns="91425" bIns="45700" anchor="ctr" anchorCtr="0">
            <a:normAutofit/>
          </a:bodyPr>
          <a:lstStyle/>
          <a:p>
            <a:pPr marL="0" indent="0" algn="l">
              <a:lnSpc>
                <a:spcPct val="90000"/>
              </a:lnSpc>
              <a:spcBef>
                <a:spcPts val="200"/>
              </a:spcBef>
              <a:spcAft>
                <a:spcPts val="0"/>
              </a:spcAft>
              <a:buNone/>
            </a:pPr>
            <a:r>
              <a:rPr lang="en-US" sz="1600" b="1" dirty="0">
                <a:solidFill>
                  <a:srgbClr val="1C2B4A"/>
                </a:solidFill>
                <a:latin typeface="Calibri"/>
                <a:ea typeface="Calibri"/>
                <a:cs typeface="Calibri"/>
                <a:sym typeface="Calibri"/>
              </a:rPr>
              <a:t>Global Feature Importance (Mean |SHAP|)</a:t>
            </a:r>
          </a:p>
        </p:txBody>
      </p:sp>
      <p:sp>
        <p:nvSpPr>
          <p:cNvPr id="60" name="Bar0"/>
          <p:cNvSpPr txBox="1">
            <a:spLocks/>
          </p:cNvSpPr>
          <p:nvPr/>
        </p:nvSpPr>
        <p:spPr>
          <a:xfrm>
            <a:off x="2176272" y="5047488"/>
            <a:ext cx="4846320" cy="210312"/>
          </a:xfrm>
          <a:prstGeom prst="rect">
            <a:avLst/>
          </a:prstGeom>
          <a:solidFill>
            <a:srgbClr val="8B0000"/>
          </a:solidFill>
          <a:ln>
            <a:solidFill>
              <a:srgbClr val="8B0000"/>
            </a:solidFill>
          </a:ln>
        </p:spPr>
      </p:sp>
      <p:sp>
        <p:nvSpPr>
          <p:cNvPr id="70" name="FLbl0"/>
          <p:cNvSpPr txBox="1">
            <a:spLocks/>
          </p:cNvSpPr>
          <p:nvPr/>
        </p:nvSpPr>
        <p:spPr>
          <a:xfrm>
            <a:off x="256032" y="5047488"/>
            <a:ext cx="1874519" cy="210312"/>
          </a:xfrm>
          <a:prstGeom prst="rect">
            <a:avLst/>
          </a:prstGeom>
          <a:noFill/>
          <a:ln>
            <a:noFill/>
          </a:ln>
        </p:spPr>
        <p:txBody>
          <a:bodyPr spcFirstLastPara="0" wrap="square" lIns="91425" tIns="45700" rIns="91425" bIns="45700" anchor="ctr" anchorCtr="0">
            <a:normAutofit fontScale="77500" lnSpcReduction="20000"/>
          </a:bodyPr>
          <a:lstStyle/>
          <a:p>
            <a:pPr marL="0" indent="0" algn="r">
              <a:lnSpc>
                <a:spcPct val="90000"/>
              </a:lnSpc>
              <a:spcBef>
                <a:spcPts val="200"/>
              </a:spcBef>
              <a:spcAft>
                <a:spcPts val="0"/>
              </a:spcAft>
              <a:buNone/>
            </a:pPr>
            <a:r>
              <a:rPr lang="en-US" sz="1300" b="0" dirty="0">
                <a:solidFill>
                  <a:srgbClr val="1A2535"/>
                </a:solidFill>
                <a:latin typeface="Calibri"/>
                <a:ea typeface="Calibri"/>
                <a:cs typeface="Calibri"/>
                <a:sym typeface="Calibri"/>
              </a:rPr>
              <a:t>Absences</a:t>
            </a:r>
          </a:p>
        </p:txBody>
      </p:sp>
      <p:sp>
        <p:nvSpPr>
          <p:cNvPr id="80" name="FVal0"/>
          <p:cNvSpPr txBox="1">
            <a:spLocks/>
          </p:cNvSpPr>
          <p:nvPr/>
        </p:nvSpPr>
        <p:spPr>
          <a:xfrm>
            <a:off x="7086600" y="5047488"/>
            <a:ext cx="914400" cy="210312"/>
          </a:xfrm>
          <a:prstGeom prst="rect">
            <a:avLst/>
          </a:prstGeom>
          <a:noFill/>
          <a:ln>
            <a:noFill/>
          </a:ln>
        </p:spPr>
        <p:txBody>
          <a:bodyPr spcFirstLastPara="0" wrap="square" lIns="91425" tIns="45700" rIns="91425" bIns="45700" anchor="ctr" anchorCtr="0">
            <a:normAutofit fontScale="77500" lnSpcReduction="20000"/>
          </a:bodyPr>
          <a:lstStyle/>
          <a:p>
            <a:pPr marL="0" indent="0" algn="l">
              <a:lnSpc>
                <a:spcPct val="90000"/>
              </a:lnSpc>
              <a:spcBef>
                <a:spcPts val="200"/>
              </a:spcBef>
              <a:spcAft>
                <a:spcPts val="0"/>
              </a:spcAft>
              <a:buNone/>
            </a:pPr>
            <a:r>
              <a:rPr lang="en-US" sz="1300" b="1" dirty="0">
                <a:solidFill>
                  <a:srgbClr val="8B0000"/>
                </a:solidFill>
                <a:latin typeface="Calibri"/>
                <a:ea typeface="Calibri"/>
                <a:cs typeface="Calibri"/>
                <a:sym typeface="Calibri"/>
              </a:rPr>
              <a:t>0.42</a:t>
            </a:r>
          </a:p>
        </p:txBody>
      </p:sp>
      <p:sp>
        <p:nvSpPr>
          <p:cNvPr id="61" name="Bar1"/>
          <p:cNvSpPr txBox="1">
            <a:spLocks/>
          </p:cNvSpPr>
          <p:nvPr/>
        </p:nvSpPr>
        <p:spPr>
          <a:xfrm>
            <a:off x="2176272" y="5321807"/>
            <a:ext cx="634637" cy="210312"/>
          </a:xfrm>
          <a:prstGeom prst="rect">
            <a:avLst/>
          </a:prstGeom>
          <a:solidFill>
            <a:srgbClr val="1C2B4A"/>
          </a:solidFill>
          <a:ln>
            <a:solidFill>
              <a:srgbClr val="1C2B4A"/>
            </a:solidFill>
          </a:ln>
        </p:spPr>
      </p:sp>
      <p:sp>
        <p:nvSpPr>
          <p:cNvPr id="71" name="FLbl1"/>
          <p:cNvSpPr txBox="1">
            <a:spLocks/>
          </p:cNvSpPr>
          <p:nvPr/>
        </p:nvSpPr>
        <p:spPr>
          <a:xfrm>
            <a:off x="256032" y="5321807"/>
            <a:ext cx="1874519" cy="210312"/>
          </a:xfrm>
          <a:prstGeom prst="rect">
            <a:avLst/>
          </a:prstGeom>
          <a:noFill/>
          <a:ln>
            <a:noFill/>
          </a:ln>
        </p:spPr>
        <p:txBody>
          <a:bodyPr spcFirstLastPara="0" wrap="square" lIns="91425" tIns="45700" rIns="91425" bIns="45700" anchor="ctr" anchorCtr="0">
            <a:normAutofit fontScale="77500" lnSpcReduction="20000"/>
          </a:bodyPr>
          <a:lstStyle/>
          <a:p>
            <a:pPr marL="0" indent="0" algn="r">
              <a:lnSpc>
                <a:spcPct val="90000"/>
              </a:lnSpc>
              <a:spcBef>
                <a:spcPts val="200"/>
              </a:spcBef>
              <a:spcAft>
                <a:spcPts val="0"/>
              </a:spcAft>
              <a:buNone/>
            </a:pPr>
            <a:r>
              <a:rPr lang="en-US" sz="1300" b="0" dirty="0">
                <a:solidFill>
                  <a:srgbClr val="1A2535"/>
                </a:solidFill>
                <a:latin typeface="Calibri"/>
                <a:ea typeface="Calibri"/>
                <a:cs typeface="Calibri"/>
                <a:sym typeface="Calibri"/>
              </a:rPr>
              <a:t>ParentalSupport</a:t>
            </a:r>
          </a:p>
        </p:txBody>
      </p:sp>
      <p:sp>
        <p:nvSpPr>
          <p:cNvPr id="81" name="FVal1"/>
          <p:cNvSpPr txBox="1">
            <a:spLocks/>
          </p:cNvSpPr>
          <p:nvPr/>
        </p:nvSpPr>
        <p:spPr>
          <a:xfrm>
            <a:off x="2874917" y="5321807"/>
            <a:ext cx="914400" cy="210312"/>
          </a:xfrm>
          <a:prstGeom prst="rect">
            <a:avLst/>
          </a:prstGeom>
          <a:noFill/>
          <a:ln>
            <a:noFill/>
          </a:ln>
        </p:spPr>
        <p:txBody>
          <a:bodyPr spcFirstLastPara="0" wrap="square" lIns="91425" tIns="45700" rIns="91425" bIns="45700" anchor="ctr" anchorCtr="0">
            <a:normAutofit fontScale="77500" lnSpcReduction="20000"/>
          </a:bodyPr>
          <a:lstStyle/>
          <a:p>
            <a:pPr marL="0" indent="0" algn="l">
              <a:lnSpc>
                <a:spcPct val="90000"/>
              </a:lnSpc>
              <a:spcBef>
                <a:spcPts val="200"/>
              </a:spcBef>
              <a:spcAft>
                <a:spcPts val="0"/>
              </a:spcAft>
              <a:buNone/>
            </a:pPr>
            <a:r>
              <a:rPr lang="en-US" sz="1300" b="1" dirty="0">
                <a:solidFill>
                  <a:srgbClr val="1C2B4A"/>
                </a:solidFill>
                <a:latin typeface="Calibri"/>
                <a:ea typeface="Calibri"/>
                <a:cs typeface="Calibri"/>
                <a:sym typeface="Calibri"/>
              </a:rPr>
              <a:t>0.055</a:t>
            </a:r>
          </a:p>
        </p:txBody>
      </p:sp>
      <p:sp>
        <p:nvSpPr>
          <p:cNvPr id="62" name="Bar2"/>
          <p:cNvSpPr txBox="1">
            <a:spLocks/>
          </p:cNvSpPr>
          <p:nvPr/>
        </p:nvSpPr>
        <p:spPr>
          <a:xfrm>
            <a:off x="2176272" y="5596127"/>
            <a:ext cx="600020" cy="210312"/>
          </a:xfrm>
          <a:prstGeom prst="rect">
            <a:avLst/>
          </a:prstGeom>
          <a:solidFill>
            <a:srgbClr val="1A6B7C"/>
          </a:solidFill>
          <a:ln>
            <a:solidFill>
              <a:srgbClr val="1A6B7C"/>
            </a:solidFill>
          </a:ln>
        </p:spPr>
      </p:sp>
      <p:sp>
        <p:nvSpPr>
          <p:cNvPr id="72" name="FLbl2"/>
          <p:cNvSpPr txBox="1">
            <a:spLocks/>
          </p:cNvSpPr>
          <p:nvPr/>
        </p:nvSpPr>
        <p:spPr>
          <a:xfrm>
            <a:off x="256032" y="5596127"/>
            <a:ext cx="1874519" cy="210312"/>
          </a:xfrm>
          <a:prstGeom prst="rect">
            <a:avLst/>
          </a:prstGeom>
          <a:noFill/>
          <a:ln>
            <a:noFill/>
          </a:ln>
        </p:spPr>
        <p:txBody>
          <a:bodyPr spcFirstLastPara="0" wrap="square" lIns="91425" tIns="45700" rIns="91425" bIns="45700" anchor="ctr" anchorCtr="0">
            <a:normAutofit fontScale="77500" lnSpcReduction="20000"/>
          </a:bodyPr>
          <a:lstStyle/>
          <a:p>
            <a:pPr marL="0" indent="0" algn="r">
              <a:lnSpc>
                <a:spcPct val="90000"/>
              </a:lnSpc>
              <a:spcBef>
                <a:spcPts val="200"/>
              </a:spcBef>
              <a:spcAft>
                <a:spcPts val="0"/>
              </a:spcAft>
              <a:buNone/>
            </a:pPr>
            <a:r>
              <a:rPr lang="en-US" sz="1300" b="0" dirty="0">
                <a:solidFill>
                  <a:srgbClr val="1A2535"/>
                </a:solidFill>
                <a:latin typeface="Calibri"/>
                <a:ea typeface="Calibri"/>
                <a:cs typeface="Calibri"/>
                <a:sym typeface="Calibri"/>
              </a:rPr>
              <a:t>StudyTimeWeekly</a:t>
            </a:r>
          </a:p>
        </p:txBody>
      </p:sp>
      <p:sp>
        <p:nvSpPr>
          <p:cNvPr id="82" name="FVal2"/>
          <p:cNvSpPr txBox="1">
            <a:spLocks/>
          </p:cNvSpPr>
          <p:nvPr/>
        </p:nvSpPr>
        <p:spPr>
          <a:xfrm>
            <a:off x="2840300" y="5596127"/>
            <a:ext cx="914400" cy="210312"/>
          </a:xfrm>
          <a:prstGeom prst="rect">
            <a:avLst/>
          </a:prstGeom>
          <a:noFill/>
          <a:ln>
            <a:noFill/>
          </a:ln>
        </p:spPr>
        <p:txBody>
          <a:bodyPr spcFirstLastPara="0" wrap="square" lIns="91425" tIns="45700" rIns="91425" bIns="45700" anchor="ctr" anchorCtr="0">
            <a:normAutofit fontScale="77500" lnSpcReduction="20000"/>
          </a:bodyPr>
          <a:lstStyle/>
          <a:p>
            <a:pPr marL="0" indent="0" algn="l">
              <a:lnSpc>
                <a:spcPct val="90000"/>
              </a:lnSpc>
              <a:spcBef>
                <a:spcPts val="200"/>
              </a:spcBef>
              <a:spcAft>
                <a:spcPts val="0"/>
              </a:spcAft>
              <a:buNone/>
            </a:pPr>
            <a:r>
              <a:rPr lang="en-US" sz="1300" b="1" dirty="0">
                <a:solidFill>
                  <a:srgbClr val="1A6B7C"/>
                </a:solidFill>
                <a:latin typeface="Calibri"/>
                <a:ea typeface="Calibri"/>
                <a:cs typeface="Calibri"/>
                <a:sym typeface="Calibri"/>
              </a:rPr>
              <a:t>0.052</a:t>
            </a:r>
          </a:p>
        </p:txBody>
      </p:sp>
      <p:sp>
        <p:nvSpPr>
          <p:cNvPr id="63" name="Bar3"/>
          <p:cNvSpPr txBox="1">
            <a:spLocks/>
          </p:cNvSpPr>
          <p:nvPr/>
        </p:nvSpPr>
        <p:spPr>
          <a:xfrm>
            <a:off x="2176272" y="5870448"/>
            <a:ext cx="553865" cy="210312"/>
          </a:xfrm>
          <a:prstGeom prst="rect">
            <a:avLst/>
          </a:prstGeom>
          <a:solidFill>
            <a:srgbClr val="5A4A8A"/>
          </a:solidFill>
          <a:ln>
            <a:solidFill>
              <a:srgbClr val="5A4A8A"/>
            </a:solidFill>
          </a:ln>
        </p:spPr>
      </p:sp>
      <p:sp>
        <p:nvSpPr>
          <p:cNvPr id="73" name="FLbl3"/>
          <p:cNvSpPr txBox="1">
            <a:spLocks/>
          </p:cNvSpPr>
          <p:nvPr/>
        </p:nvSpPr>
        <p:spPr>
          <a:xfrm>
            <a:off x="256032" y="5870448"/>
            <a:ext cx="1874519" cy="210312"/>
          </a:xfrm>
          <a:prstGeom prst="rect">
            <a:avLst/>
          </a:prstGeom>
          <a:noFill/>
          <a:ln>
            <a:noFill/>
          </a:ln>
        </p:spPr>
        <p:txBody>
          <a:bodyPr spcFirstLastPara="0" wrap="square" lIns="91425" tIns="45700" rIns="91425" bIns="45700" anchor="ctr" anchorCtr="0">
            <a:normAutofit fontScale="77500" lnSpcReduction="20000"/>
          </a:bodyPr>
          <a:lstStyle/>
          <a:p>
            <a:pPr marL="0" indent="0" algn="r">
              <a:lnSpc>
                <a:spcPct val="90000"/>
              </a:lnSpc>
              <a:spcBef>
                <a:spcPts val="200"/>
              </a:spcBef>
              <a:spcAft>
                <a:spcPts val="0"/>
              </a:spcAft>
              <a:buNone/>
            </a:pPr>
            <a:r>
              <a:rPr lang="en-US" sz="1300" b="0" dirty="0">
                <a:solidFill>
                  <a:srgbClr val="1A2535"/>
                </a:solidFill>
                <a:latin typeface="Calibri"/>
                <a:ea typeface="Calibri"/>
                <a:cs typeface="Calibri"/>
                <a:sym typeface="Calibri"/>
              </a:rPr>
              <a:t>Tutoring</a:t>
            </a:r>
          </a:p>
        </p:txBody>
      </p:sp>
      <p:sp>
        <p:nvSpPr>
          <p:cNvPr id="83" name="FVal3"/>
          <p:cNvSpPr txBox="1">
            <a:spLocks/>
          </p:cNvSpPr>
          <p:nvPr/>
        </p:nvSpPr>
        <p:spPr>
          <a:xfrm>
            <a:off x="2794145" y="5870448"/>
            <a:ext cx="914400" cy="210312"/>
          </a:xfrm>
          <a:prstGeom prst="rect">
            <a:avLst/>
          </a:prstGeom>
          <a:noFill/>
          <a:ln>
            <a:noFill/>
          </a:ln>
        </p:spPr>
        <p:txBody>
          <a:bodyPr spcFirstLastPara="0" wrap="square" lIns="91425" tIns="45700" rIns="91425" bIns="45700" anchor="ctr" anchorCtr="0">
            <a:normAutofit fontScale="77500" lnSpcReduction="20000"/>
          </a:bodyPr>
          <a:lstStyle/>
          <a:p>
            <a:pPr marL="0" indent="0" algn="l">
              <a:lnSpc>
                <a:spcPct val="90000"/>
              </a:lnSpc>
              <a:spcBef>
                <a:spcPts val="200"/>
              </a:spcBef>
              <a:spcAft>
                <a:spcPts val="0"/>
              </a:spcAft>
              <a:buNone/>
            </a:pPr>
            <a:r>
              <a:rPr lang="en-US" sz="1300" b="1" dirty="0">
                <a:solidFill>
                  <a:srgbClr val="5A4A8A"/>
                </a:solidFill>
                <a:latin typeface="Calibri"/>
                <a:ea typeface="Calibri"/>
                <a:cs typeface="Calibri"/>
                <a:sym typeface="Calibri"/>
              </a:rPr>
              <a:t>0.048</a:t>
            </a:r>
          </a:p>
        </p:txBody>
      </p:sp>
      <p:sp>
        <p:nvSpPr>
          <p:cNvPr id="64" name="Bar4"/>
          <p:cNvSpPr txBox="1">
            <a:spLocks/>
          </p:cNvSpPr>
          <p:nvPr/>
        </p:nvSpPr>
        <p:spPr>
          <a:xfrm>
            <a:off x="2176272" y="6144768"/>
            <a:ext cx="461554" cy="210312"/>
          </a:xfrm>
          <a:prstGeom prst="rect">
            <a:avLst/>
          </a:prstGeom>
          <a:solidFill>
            <a:srgbClr val="3A6040"/>
          </a:solidFill>
          <a:ln>
            <a:solidFill>
              <a:srgbClr val="3A6040"/>
            </a:solidFill>
          </a:ln>
        </p:spPr>
      </p:sp>
      <p:sp>
        <p:nvSpPr>
          <p:cNvPr id="74" name="FLbl4"/>
          <p:cNvSpPr txBox="1">
            <a:spLocks/>
          </p:cNvSpPr>
          <p:nvPr/>
        </p:nvSpPr>
        <p:spPr>
          <a:xfrm>
            <a:off x="256032" y="6144768"/>
            <a:ext cx="1874519" cy="210312"/>
          </a:xfrm>
          <a:prstGeom prst="rect">
            <a:avLst/>
          </a:prstGeom>
          <a:noFill/>
          <a:ln>
            <a:noFill/>
          </a:ln>
        </p:spPr>
        <p:txBody>
          <a:bodyPr spcFirstLastPara="0" wrap="square" lIns="91425" tIns="45700" rIns="91425" bIns="45700" anchor="ctr" anchorCtr="0">
            <a:normAutofit fontScale="77500" lnSpcReduction="20000"/>
          </a:bodyPr>
          <a:lstStyle/>
          <a:p>
            <a:pPr marL="0" indent="0" algn="r">
              <a:lnSpc>
                <a:spcPct val="90000"/>
              </a:lnSpc>
              <a:spcBef>
                <a:spcPts val="200"/>
              </a:spcBef>
              <a:spcAft>
                <a:spcPts val="0"/>
              </a:spcAft>
              <a:buNone/>
            </a:pPr>
            <a:r>
              <a:rPr lang="en-US" sz="1300" b="0" dirty="0">
                <a:solidFill>
                  <a:srgbClr val="1A2535"/>
                </a:solidFill>
                <a:latin typeface="Calibri"/>
                <a:ea typeface="Calibri"/>
                <a:cs typeface="Calibri"/>
                <a:sym typeface="Calibri"/>
              </a:rPr>
              <a:t>Extracurricular</a:t>
            </a:r>
          </a:p>
        </p:txBody>
      </p:sp>
      <p:sp>
        <p:nvSpPr>
          <p:cNvPr id="84" name="FVal4"/>
          <p:cNvSpPr txBox="1">
            <a:spLocks/>
          </p:cNvSpPr>
          <p:nvPr/>
        </p:nvSpPr>
        <p:spPr>
          <a:xfrm>
            <a:off x="2701834" y="6144768"/>
            <a:ext cx="914400" cy="210312"/>
          </a:xfrm>
          <a:prstGeom prst="rect">
            <a:avLst/>
          </a:prstGeom>
          <a:noFill/>
          <a:ln>
            <a:noFill/>
          </a:ln>
        </p:spPr>
        <p:txBody>
          <a:bodyPr spcFirstLastPara="0" wrap="square" lIns="91425" tIns="45700" rIns="91425" bIns="45700" anchor="ctr" anchorCtr="0">
            <a:normAutofit fontScale="77500" lnSpcReduction="20000"/>
          </a:bodyPr>
          <a:lstStyle/>
          <a:p>
            <a:pPr marL="0" indent="0" algn="l">
              <a:lnSpc>
                <a:spcPct val="90000"/>
              </a:lnSpc>
              <a:spcBef>
                <a:spcPts val="200"/>
              </a:spcBef>
              <a:spcAft>
                <a:spcPts val="0"/>
              </a:spcAft>
              <a:buNone/>
            </a:pPr>
            <a:r>
              <a:rPr lang="en-US" sz="1300" b="1" dirty="0">
                <a:solidFill>
                  <a:srgbClr val="3A6040"/>
                </a:solidFill>
                <a:latin typeface="Calibri"/>
                <a:ea typeface="Calibri"/>
                <a:cs typeface="Calibri"/>
                <a:sym typeface="Calibri"/>
              </a:rPr>
              <a:t>0.04</a:t>
            </a:r>
          </a:p>
        </p:txBody>
      </p:sp>
      <p:sp>
        <p:nvSpPr>
          <p:cNvPr id="65" name="Bar5"/>
          <p:cNvSpPr txBox="1">
            <a:spLocks/>
          </p:cNvSpPr>
          <p:nvPr/>
        </p:nvSpPr>
        <p:spPr>
          <a:xfrm>
            <a:off x="2176272" y="6419088"/>
            <a:ext cx="92310" cy="210312"/>
          </a:xfrm>
          <a:prstGeom prst="rect">
            <a:avLst/>
          </a:prstGeom>
          <a:solidFill>
            <a:srgbClr val="8A9BB0"/>
          </a:solidFill>
          <a:ln>
            <a:solidFill>
              <a:srgbClr val="8A9BB0"/>
            </a:solidFill>
          </a:ln>
        </p:spPr>
      </p:sp>
      <p:sp>
        <p:nvSpPr>
          <p:cNvPr id="75" name="FLbl5"/>
          <p:cNvSpPr txBox="1">
            <a:spLocks/>
          </p:cNvSpPr>
          <p:nvPr/>
        </p:nvSpPr>
        <p:spPr>
          <a:xfrm>
            <a:off x="256032" y="6419088"/>
            <a:ext cx="1874519" cy="210312"/>
          </a:xfrm>
          <a:prstGeom prst="rect">
            <a:avLst/>
          </a:prstGeom>
          <a:noFill/>
          <a:ln>
            <a:noFill/>
          </a:ln>
        </p:spPr>
        <p:txBody>
          <a:bodyPr spcFirstLastPara="0" wrap="square" lIns="91425" tIns="45700" rIns="91425" bIns="45700" anchor="ctr" anchorCtr="0">
            <a:normAutofit fontScale="77500" lnSpcReduction="20000"/>
          </a:bodyPr>
          <a:lstStyle/>
          <a:p>
            <a:pPr marL="0" indent="0" algn="r">
              <a:lnSpc>
                <a:spcPct val="90000"/>
              </a:lnSpc>
              <a:spcBef>
                <a:spcPts val="200"/>
              </a:spcBef>
              <a:spcAft>
                <a:spcPts val="0"/>
              </a:spcAft>
              <a:buNone/>
            </a:pPr>
            <a:r>
              <a:rPr lang="en-US" sz="1300" b="0" dirty="0">
                <a:solidFill>
                  <a:srgbClr val="1A2535"/>
                </a:solidFill>
                <a:latin typeface="Calibri"/>
                <a:ea typeface="Calibri"/>
                <a:cs typeface="Calibri"/>
                <a:sym typeface="Calibri"/>
              </a:rPr>
              <a:t>Age/Gender</a:t>
            </a:r>
          </a:p>
        </p:txBody>
      </p:sp>
      <p:sp>
        <p:nvSpPr>
          <p:cNvPr id="85" name="FVal5"/>
          <p:cNvSpPr txBox="1">
            <a:spLocks/>
          </p:cNvSpPr>
          <p:nvPr/>
        </p:nvSpPr>
        <p:spPr>
          <a:xfrm>
            <a:off x="2332590" y="6419088"/>
            <a:ext cx="914400" cy="210312"/>
          </a:xfrm>
          <a:prstGeom prst="rect">
            <a:avLst/>
          </a:prstGeom>
          <a:noFill/>
          <a:ln>
            <a:noFill/>
          </a:ln>
        </p:spPr>
        <p:txBody>
          <a:bodyPr spcFirstLastPara="0" wrap="square" lIns="91425" tIns="45700" rIns="91425" bIns="45700" anchor="ctr" anchorCtr="0">
            <a:normAutofit fontScale="77500" lnSpcReduction="20000"/>
          </a:bodyPr>
          <a:lstStyle/>
          <a:p>
            <a:pPr marL="0" indent="0" algn="l">
              <a:lnSpc>
                <a:spcPct val="90000"/>
              </a:lnSpc>
              <a:spcBef>
                <a:spcPts val="200"/>
              </a:spcBef>
              <a:spcAft>
                <a:spcPts val="0"/>
              </a:spcAft>
              <a:buNone/>
            </a:pPr>
            <a:r>
              <a:rPr lang="en-US" sz="1300" b="1" dirty="0">
                <a:solidFill>
                  <a:srgbClr val="8A9BB0"/>
                </a:solidFill>
                <a:latin typeface="Calibri"/>
                <a:ea typeface="Calibri"/>
                <a:cs typeface="Calibri"/>
                <a:sym typeface="Calibri"/>
              </a:rPr>
              <a:t>0.008</a:t>
            </a:r>
          </a:p>
        </p:txBody>
      </p:sp>
      <p:sp>
        <p:nvSpPr>
          <p:cNvPr id="90" name="WhySHAP"/>
          <p:cNvSpPr txBox="1">
            <a:spLocks/>
          </p:cNvSpPr>
          <p:nvPr/>
        </p:nvSpPr>
        <p:spPr>
          <a:xfrm>
            <a:off x="6172200" y="4617720"/>
            <a:ext cx="5760720" cy="1920240"/>
          </a:xfrm>
          <a:prstGeom prst="roundRect">
            <a:avLst>
              <a:gd name="adj" fmla="val 20000"/>
            </a:avLst>
          </a:prstGeom>
          <a:solidFill>
            <a:srgbClr val="F0F4F8"/>
          </a:solidFill>
          <a:ln>
            <a:solidFill>
              <a:srgbClr val="F0F4F8"/>
            </a:solidFill>
          </a:ln>
        </p:spPr>
        <p:txBody>
          <a:bodyPr spcFirstLastPara="0" wrap="square" lIns="91425" tIns="45700" rIns="91425" bIns="45700" anchor="t" anchorCtr="0">
            <a:normAutofit/>
          </a:bodyPr>
          <a:lstStyle/>
          <a:p>
            <a:pPr marL="0" indent="0" algn="l">
              <a:lnSpc>
                <a:spcPct val="90000"/>
              </a:lnSpc>
              <a:spcBef>
                <a:spcPts val="0"/>
              </a:spcBef>
              <a:spcAft>
                <a:spcPts val="0"/>
              </a:spcAft>
              <a:buNone/>
            </a:pPr>
            <a:r>
              <a:rPr lang="en-US" sz="1700" b="1" dirty="0">
                <a:solidFill>
                  <a:srgbClr val="1C2B4A"/>
                </a:solidFill>
                <a:latin typeface="Calibri"/>
                <a:ea typeface="Calibri"/>
                <a:cs typeface="Calibri"/>
                <a:sym typeface="Calibri"/>
              </a:rPr>
              <a:t>Why SHAP over LIME?</a:t>
            </a:r>
          </a:p>
          <a:p>
            <a:pPr marL="228600" indent="-228600" algn="l">
              <a:lnSpc>
                <a:spcPct val="90000"/>
              </a:lnSpc>
              <a:spcBef>
                <a:spcPts val="150"/>
              </a:spcBef>
              <a:spcAft>
                <a:spcPts val="0"/>
              </a:spcAft>
              <a:buClr>
                <a:srgbClr val="8B0000"/>
              </a:buClr>
              <a:buSzPts val="1500"/>
              <a:buChar char="▸"/>
            </a:pPr>
            <a:r>
              <a:rPr lang="en-US" sz="1500" b="0" dirty="0">
                <a:solidFill>
                  <a:srgbClr val="1A2535"/>
                </a:solidFill>
                <a:latin typeface="Calibri"/>
                <a:ea typeface="Calibri"/>
                <a:cs typeface="Calibri"/>
                <a:sym typeface="Calibri"/>
              </a:rPr>
              <a:t>Mathematically guaranteed consistency (Shapley values)</a:t>
            </a:r>
          </a:p>
          <a:p>
            <a:pPr marL="228600" indent="-228600" algn="l">
              <a:lnSpc>
                <a:spcPct val="90000"/>
              </a:lnSpc>
              <a:spcBef>
                <a:spcPts val="150"/>
              </a:spcBef>
              <a:spcAft>
                <a:spcPts val="0"/>
              </a:spcAft>
              <a:buClr>
                <a:srgbClr val="8B0000"/>
              </a:buClr>
              <a:buSzPts val="1500"/>
              <a:buChar char="▸"/>
            </a:pPr>
            <a:r>
              <a:rPr lang="en-US" sz="1500" b="0" dirty="0">
                <a:solidFill>
                  <a:srgbClr val="1A2535"/>
                </a:solidFill>
                <a:latin typeface="Calibri"/>
                <a:ea typeface="Calibri"/>
                <a:cs typeface="Calibri"/>
                <a:sym typeface="Calibri"/>
              </a:rPr>
              <a:t>Both global AND local explanations from one framework</a:t>
            </a:r>
          </a:p>
          <a:p>
            <a:pPr marL="228600" indent="-228600" algn="l">
              <a:lnSpc>
                <a:spcPct val="90000"/>
              </a:lnSpc>
              <a:spcBef>
                <a:spcPts val="150"/>
              </a:spcBef>
              <a:spcAft>
                <a:spcPts val="0"/>
              </a:spcAft>
              <a:buClr>
                <a:srgbClr val="8B0000"/>
              </a:buClr>
              <a:buSzPts val="1500"/>
              <a:buChar char="▸"/>
            </a:pPr>
            <a:r>
              <a:rPr lang="en-US" sz="1500" b="0" dirty="0">
                <a:solidFill>
                  <a:srgbClr val="1A2535"/>
                </a:solidFill>
                <a:latin typeface="Calibri"/>
                <a:ea typeface="Calibri"/>
                <a:cs typeface="Calibri"/>
                <a:sym typeface="Calibri"/>
              </a:rPr>
              <a:t>TreeExplainer optimized specifically for XGBoost</a:t>
            </a:r>
          </a:p>
          <a:p>
            <a:pPr marL="228600" indent="-228600" algn="l">
              <a:lnSpc>
                <a:spcPct val="90000"/>
              </a:lnSpc>
              <a:spcBef>
                <a:spcPts val="150"/>
              </a:spcBef>
              <a:spcAft>
                <a:spcPts val="0"/>
              </a:spcAft>
              <a:buClr>
                <a:srgbClr val="8B0000"/>
              </a:buClr>
              <a:buSzPts val="1500"/>
              <a:buChar char="▸"/>
            </a:pPr>
            <a:r>
              <a:rPr lang="en-US" sz="1500" b="0" dirty="0">
                <a:solidFill>
                  <a:srgbClr val="1A2535"/>
                </a:solidFill>
                <a:latin typeface="Calibri"/>
                <a:ea typeface="Calibri"/>
                <a:cs typeface="Calibri"/>
                <a:sym typeface="Calibri"/>
              </a:rPr>
              <a:t>Signed contributions — direction matters for educators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Grp"/>
        <p:cNvGrpSpPr/>
        <p:nvPr/>
      </p:nvGrpSpPr>
      <p:grpSpPr>
        <a:xfrm>
          <a:off x="0" y="0"/>
          <a:ext cx="0" cy="0"/>
          <a:chOff x="0" y="0"/>
          <a:chExt cx="0" cy="0"/>
        </a:xfrm>
      </p:grpSpPr>
      <p:sp>
        <p:nvSpPr>
          <p:cNvPr id="10" name="TitleStripe"/>
          <p:cNvSpPr txBox="1">
            <a:spLocks/>
          </p:cNvSpPr>
          <p:nvPr/>
        </p:nvSpPr>
        <p:spPr>
          <a:xfrm>
            <a:off x="292608" y="822960"/>
            <a:ext cx="64008" cy="658368"/>
          </a:xfrm>
          <a:prstGeom prst="rect">
            <a:avLst/>
          </a:prstGeom>
          <a:solidFill>
            <a:srgbClr val="8B0000"/>
          </a:solidFill>
          <a:ln>
            <a:solidFill>
              <a:srgbClr val="8B0000"/>
            </a:solidFill>
          </a:ln>
        </p:spPr>
      </p:sp>
      <p:sp>
        <p:nvSpPr>
          <p:cNvPr id="11" name="Title"/>
          <p:cNvSpPr txBox="1">
            <a:spLocks/>
          </p:cNvSpPr>
          <p:nvPr/>
        </p:nvSpPr>
        <p:spPr>
          <a:xfrm>
            <a:off x="457200" y="822960"/>
            <a:ext cx="11128248" cy="658368"/>
          </a:xfrm>
          <a:prstGeom prst="rect">
            <a:avLst/>
          </a:prstGeom>
          <a:noFill/>
          <a:ln>
            <a:noFill/>
          </a:ln>
        </p:spPr>
        <p:txBody>
          <a:bodyPr spcFirstLastPara="0" wrap="square" lIns="91425" tIns="45700" rIns="91425" bIns="45700" anchor="ctr" anchorCtr="0">
            <a:normAutofit/>
          </a:bodyPr>
          <a:lstStyle/>
          <a:p>
            <a:pPr marL="0" indent="0" algn="l">
              <a:lnSpc>
                <a:spcPct val="90000"/>
              </a:lnSpc>
              <a:spcBef>
                <a:spcPts val="0"/>
              </a:spcBef>
              <a:spcAft>
                <a:spcPts val="0"/>
              </a:spcAft>
              <a:buNone/>
            </a:pPr>
            <a:r>
              <a:rPr lang="en-US" sz="3200" b="1" dirty="0">
                <a:solidFill>
                  <a:srgbClr val="1C2B4A"/>
                </a:solidFill>
                <a:latin typeface="Calibri"/>
                <a:ea typeface="Calibri"/>
                <a:cs typeface="Calibri"/>
                <a:sym typeface="Calibri"/>
              </a:rPr>
              <a:t>SHAP Waterfall — Individual Student Explanation</a:t>
            </a:r>
          </a:p>
        </p:txBody>
      </p:sp>
      <p:sp>
        <p:nvSpPr>
          <p:cNvPr id="12" name="Divider"/>
          <p:cNvSpPr txBox="1">
            <a:spLocks/>
          </p:cNvSpPr>
          <p:nvPr/>
        </p:nvSpPr>
        <p:spPr>
          <a:xfrm>
            <a:off x="393192" y="1370897"/>
            <a:ext cx="11311128" cy="36576"/>
          </a:xfrm>
          <a:prstGeom prst="rect">
            <a:avLst/>
          </a:prstGeom>
          <a:solidFill>
            <a:srgbClr val="E8ECF0"/>
          </a:solidFill>
          <a:ln>
            <a:solidFill>
              <a:srgbClr val="E8ECF0"/>
            </a:solidFill>
          </a:ln>
        </p:spPr>
      </p:sp>
      <p:sp>
        <p:nvSpPr>
          <p:cNvPr id="20" name="Profile"/>
          <p:cNvSpPr txBox="1">
            <a:spLocks/>
          </p:cNvSpPr>
          <p:nvPr/>
        </p:nvSpPr>
        <p:spPr>
          <a:xfrm>
            <a:off x="256032" y="1481328"/>
            <a:ext cx="3383280" cy="914400"/>
          </a:xfrm>
          <a:prstGeom prst="roundRect">
            <a:avLst>
              <a:gd name="adj" fmla="val 20000"/>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0"/>
              </a:spcBef>
              <a:spcAft>
                <a:spcPts val="0"/>
              </a:spcAft>
              <a:buNone/>
            </a:pPr>
            <a:r>
              <a:rPr lang="en-US" sz="1500" b="1" dirty="0">
                <a:solidFill>
                  <a:srgbClr val="C8973A"/>
                </a:solidFill>
                <a:latin typeface="Calibri"/>
                <a:ea typeface="Calibri"/>
                <a:cs typeface="Calibri"/>
                <a:sym typeface="Calibri"/>
              </a:rPr>
              <a:t>At-Risk Student Profile</a:t>
            </a:r>
          </a:p>
          <a:p>
            <a:pPr marL="0" indent="0" algn="ctr">
              <a:lnSpc>
                <a:spcPct val="90000"/>
              </a:lnSpc>
              <a:spcBef>
                <a:spcPts val="80"/>
              </a:spcBef>
              <a:spcAft>
                <a:spcPts val="0"/>
              </a:spcAft>
              <a:buNone/>
            </a:pPr>
            <a:r>
              <a:rPr lang="en-US" sz="1500" b="0" dirty="0">
                <a:solidFill>
                  <a:srgbClr val="FFFFFF"/>
                </a:solidFill>
                <a:latin typeface="Calibri"/>
                <a:ea typeface="Calibri"/>
                <a:cs typeface="Calibri"/>
                <a:sym typeface="Calibri"/>
              </a:rPr>
              <a:t>Absences=17  ·  StudyTime=0.14 hrs/wk</a:t>
            </a:r>
          </a:p>
        </p:txBody>
      </p:sp>
      <p:sp>
        <p:nvSpPr>
          <p:cNvPr id="21" name="WFLabel"/>
          <p:cNvSpPr txBox="1">
            <a:spLocks/>
          </p:cNvSpPr>
          <p:nvPr/>
        </p:nvSpPr>
        <p:spPr>
          <a:xfrm>
            <a:off x="256032" y="2514600"/>
            <a:ext cx="3657600" cy="347472"/>
          </a:xfrm>
          <a:prstGeom prst="rect">
            <a:avLst/>
          </a:prstGeom>
          <a:noFill/>
          <a:ln>
            <a:noFill/>
          </a:ln>
        </p:spPr>
        <p:txBody>
          <a:bodyPr spcFirstLastPara="0" wrap="square" lIns="91425" tIns="45700" rIns="91425" bIns="45700" anchor="ctr" anchorCtr="0">
            <a:normAutofit/>
          </a:bodyPr>
          <a:lstStyle/>
          <a:p>
            <a:pPr marL="0" indent="0" algn="l">
              <a:lnSpc>
                <a:spcPct val="90000"/>
              </a:lnSpc>
              <a:spcBef>
                <a:spcPts val="200"/>
              </a:spcBef>
              <a:spcAft>
                <a:spcPts val="0"/>
              </a:spcAft>
              <a:buNone/>
            </a:pPr>
            <a:r>
              <a:rPr lang="en-US" sz="1600" b="1" dirty="0">
                <a:solidFill>
                  <a:srgbClr val="1C2B4A"/>
                </a:solidFill>
                <a:latin typeface="Calibri"/>
                <a:ea typeface="Calibri"/>
                <a:cs typeface="Calibri"/>
                <a:sym typeface="Calibri"/>
              </a:rPr>
              <a:t>SHAP Waterfall Breakdown</a:t>
            </a:r>
          </a:p>
        </p:txBody>
      </p:sp>
      <p:sp>
        <p:nvSpPr>
          <p:cNvPr id="30" name="WLbl0"/>
          <p:cNvSpPr txBox="1">
            <a:spLocks/>
          </p:cNvSpPr>
          <p:nvPr/>
        </p:nvSpPr>
        <p:spPr>
          <a:xfrm>
            <a:off x="256032" y="2907792"/>
            <a:ext cx="1078992" cy="457200"/>
          </a:xfrm>
          <a:prstGeom prst="rect">
            <a:avLst/>
          </a:prstGeom>
          <a:noFill/>
          <a:ln>
            <a:noFill/>
          </a:ln>
        </p:spPr>
        <p:txBody>
          <a:bodyPr spcFirstLastPara="0" wrap="square" lIns="91425" tIns="45700" rIns="91425" bIns="45700" anchor="ctr" anchorCtr="0">
            <a:normAutofit/>
          </a:bodyPr>
          <a:lstStyle/>
          <a:p>
            <a:pPr marL="0" indent="0" algn="r">
              <a:lnSpc>
                <a:spcPct val="90000"/>
              </a:lnSpc>
              <a:spcBef>
                <a:spcPts val="200"/>
              </a:spcBef>
              <a:spcAft>
                <a:spcPts val="0"/>
              </a:spcAft>
              <a:buNone/>
            </a:pPr>
            <a:r>
              <a:rPr lang="en-US" sz="1300" b="0" dirty="0">
                <a:solidFill>
                  <a:srgbClr val="1A2535"/>
                </a:solidFill>
                <a:latin typeface="Calibri"/>
                <a:ea typeface="Calibri"/>
                <a:cs typeface="Calibri"/>
                <a:sym typeface="Calibri"/>
              </a:rPr>
              <a:t>Base value φ₀</a:t>
            </a:r>
          </a:p>
        </p:txBody>
      </p:sp>
      <p:sp>
        <p:nvSpPr>
          <p:cNvPr id="40" name="WBar0"/>
          <p:cNvSpPr txBox="1">
            <a:spLocks/>
          </p:cNvSpPr>
          <p:nvPr/>
        </p:nvSpPr>
        <p:spPr>
          <a:xfrm>
            <a:off x="1371600" y="2953512"/>
            <a:ext cx="3786269" cy="347472"/>
          </a:xfrm>
          <a:prstGeom prst="rect">
            <a:avLst/>
          </a:prstGeom>
          <a:solidFill>
            <a:srgbClr val="8A9BB0"/>
          </a:solidFill>
          <a:ln>
            <a:solidFill>
              <a:srgbClr val="8A9BB0"/>
            </a:solidFill>
          </a:ln>
        </p:spPr>
      </p:sp>
      <p:sp>
        <p:nvSpPr>
          <p:cNvPr id="50" name="WVal0"/>
          <p:cNvSpPr txBox="1">
            <a:spLocks/>
          </p:cNvSpPr>
          <p:nvPr/>
        </p:nvSpPr>
        <p:spPr>
          <a:xfrm>
            <a:off x="5203589" y="2907792"/>
            <a:ext cx="457200" cy="457200"/>
          </a:xfrm>
          <a:prstGeom prst="rect">
            <a:avLst/>
          </a:prstGeom>
          <a:noFill/>
          <a:ln>
            <a:noFill/>
          </a:ln>
        </p:spPr>
        <p:txBody>
          <a:bodyPr spcFirstLastPara="0" wrap="square" lIns="91425" tIns="45700" rIns="91425" bIns="45700" anchor="ctr" anchorCtr="0">
            <a:normAutofit/>
          </a:bodyPr>
          <a:lstStyle/>
          <a:p>
            <a:pPr marL="0" indent="0" algn="l">
              <a:lnSpc>
                <a:spcPct val="90000"/>
              </a:lnSpc>
              <a:spcBef>
                <a:spcPts val="200"/>
              </a:spcBef>
              <a:spcAft>
                <a:spcPts val="0"/>
              </a:spcAft>
              <a:buNone/>
            </a:pPr>
            <a:r>
              <a:rPr lang="en-US" sz="1300" b="1" dirty="0">
                <a:solidFill>
                  <a:srgbClr val="8A9BB0"/>
                </a:solidFill>
                <a:latin typeface="Calibri"/>
                <a:ea typeface="Calibri"/>
                <a:cs typeface="Calibri"/>
                <a:sym typeface="Calibri"/>
              </a:rPr>
              <a:t>+0.527</a:t>
            </a:r>
          </a:p>
        </p:txBody>
      </p:sp>
      <p:sp>
        <p:nvSpPr>
          <p:cNvPr id="31" name="WLbl1"/>
          <p:cNvSpPr txBox="1">
            <a:spLocks/>
          </p:cNvSpPr>
          <p:nvPr/>
        </p:nvSpPr>
        <p:spPr>
          <a:xfrm>
            <a:off x="256032" y="3456432"/>
            <a:ext cx="1078992" cy="457200"/>
          </a:xfrm>
          <a:prstGeom prst="rect">
            <a:avLst/>
          </a:prstGeom>
          <a:noFill/>
          <a:ln>
            <a:noFill/>
          </a:ln>
        </p:spPr>
        <p:txBody>
          <a:bodyPr spcFirstLastPara="0" wrap="square" lIns="91425" tIns="45700" rIns="91425" bIns="45700" anchor="ctr" anchorCtr="0">
            <a:normAutofit/>
          </a:bodyPr>
          <a:lstStyle/>
          <a:p>
            <a:pPr marL="0" indent="0" algn="r">
              <a:lnSpc>
                <a:spcPct val="90000"/>
              </a:lnSpc>
              <a:spcBef>
                <a:spcPts val="200"/>
              </a:spcBef>
              <a:spcAft>
                <a:spcPts val="0"/>
              </a:spcAft>
              <a:buNone/>
            </a:pPr>
            <a:r>
              <a:rPr lang="en-US" sz="1300" b="0" dirty="0">
                <a:solidFill>
                  <a:srgbClr val="1A2535"/>
                </a:solidFill>
                <a:latin typeface="Calibri"/>
                <a:ea typeface="Calibri"/>
                <a:cs typeface="Calibri"/>
                <a:sym typeface="Calibri"/>
              </a:rPr>
              <a:t>Absences = 17</a:t>
            </a:r>
          </a:p>
        </p:txBody>
      </p:sp>
      <p:sp>
        <p:nvSpPr>
          <p:cNvPr id="41" name="WBar1"/>
          <p:cNvSpPr txBox="1">
            <a:spLocks/>
          </p:cNvSpPr>
          <p:nvPr/>
        </p:nvSpPr>
        <p:spPr>
          <a:xfrm>
            <a:off x="1371600" y="3502152"/>
            <a:ext cx="2514599" cy="347472"/>
          </a:xfrm>
          <a:prstGeom prst="rect">
            <a:avLst/>
          </a:prstGeom>
          <a:solidFill>
            <a:srgbClr val="8B0000"/>
          </a:solidFill>
          <a:ln>
            <a:solidFill>
              <a:srgbClr val="8B0000"/>
            </a:solidFill>
          </a:ln>
        </p:spPr>
      </p:sp>
      <p:sp>
        <p:nvSpPr>
          <p:cNvPr id="51" name="WVal1"/>
          <p:cNvSpPr txBox="1">
            <a:spLocks/>
          </p:cNvSpPr>
          <p:nvPr/>
        </p:nvSpPr>
        <p:spPr>
          <a:xfrm>
            <a:off x="3931920" y="3456432"/>
            <a:ext cx="457200" cy="457200"/>
          </a:xfrm>
          <a:prstGeom prst="rect">
            <a:avLst/>
          </a:prstGeom>
          <a:noFill/>
          <a:ln>
            <a:noFill/>
          </a:ln>
        </p:spPr>
        <p:txBody>
          <a:bodyPr spcFirstLastPara="0" wrap="square" lIns="91425" tIns="45700" rIns="91425" bIns="45700" anchor="ctr" anchorCtr="0">
            <a:normAutofit/>
          </a:bodyPr>
          <a:lstStyle/>
          <a:p>
            <a:pPr marL="0" indent="0" algn="l">
              <a:lnSpc>
                <a:spcPct val="90000"/>
              </a:lnSpc>
              <a:spcBef>
                <a:spcPts val="200"/>
              </a:spcBef>
              <a:spcAft>
                <a:spcPts val="0"/>
              </a:spcAft>
              <a:buNone/>
            </a:pPr>
            <a:r>
              <a:rPr lang="en-US" sz="1300" b="1" dirty="0">
                <a:solidFill>
                  <a:srgbClr val="8B0000"/>
                </a:solidFill>
                <a:latin typeface="Calibri"/>
                <a:ea typeface="Calibri"/>
                <a:cs typeface="Calibri"/>
                <a:sym typeface="Calibri"/>
              </a:rPr>
              <a:t>+0.35</a:t>
            </a:r>
          </a:p>
        </p:txBody>
      </p:sp>
      <p:sp>
        <p:nvSpPr>
          <p:cNvPr id="32" name="WLbl2"/>
          <p:cNvSpPr txBox="1">
            <a:spLocks/>
          </p:cNvSpPr>
          <p:nvPr/>
        </p:nvSpPr>
        <p:spPr>
          <a:xfrm>
            <a:off x="256032" y="4005072"/>
            <a:ext cx="1078992" cy="457200"/>
          </a:xfrm>
          <a:prstGeom prst="rect">
            <a:avLst/>
          </a:prstGeom>
          <a:noFill/>
          <a:ln>
            <a:noFill/>
          </a:ln>
        </p:spPr>
        <p:txBody>
          <a:bodyPr spcFirstLastPara="0" wrap="square" lIns="91425" tIns="45700" rIns="91425" bIns="45700" anchor="ctr" anchorCtr="0">
            <a:normAutofit/>
          </a:bodyPr>
          <a:lstStyle/>
          <a:p>
            <a:pPr marL="0" indent="0" algn="r">
              <a:lnSpc>
                <a:spcPct val="90000"/>
              </a:lnSpc>
              <a:spcBef>
                <a:spcPts val="200"/>
              </a:spcBef>
              <a:spcAft>
                <a:spcPts val="0"/>
              </a:spcAft>
              <a:buNone/>
            </a:pPr>
            <a:r>
              <a:rPr lang="en-US" sz="1300" b="0" dirty="0">
                <a:solidFill>
                  <a:srgbClr val="1A2535"/>
                </a:solidFill>
                <a:latin typeface="Calibri"/>
                <a:ea typeface="Calibri"/>
                <a:cs typeface="Calibri"/>
                <a:sym typeface="Calibri"/>
              </a:rPr>
              <a:t>StudyTime = 0.14hr</a:t>
            </a:r>
          </a:p>
        </p:txBody>
      </p:sp>
      <p:sp>
        <p:nvSpPr>
          <p:cNvPr id="42" name="WBar2"/>
          <p:cNvSpPr txBox="1">
            <a:spLocks/>
          </p:cNvSpPr>
          <p:nvPr/>
        </p:nvSpPr>
        <p:spPr>
          <a:xfrm>
            <a:off x="1371600" y="4050791"/>
            <a:ext cx="790302" cy="347472"/>
          </a:xfrm>
          <a:prstGeom prst="rect">
            <a:avLst/>
          </a:prstGeom>
          <a:solidFill>
            <a:srgbClr val="B05010"/>
          </a:solidFill>
          <a:ln>
            <a:solidFill>
              <a:srgbClr val="B05010"/>
            </a:solidFill>
          </a:ln>
        </p:spPr>
      </p:sp>
      <p:sp>
        <p:nvSpPr>
          <p:cNvPr id="52" name="WVal2"/>
          <p:cNvSpPr txBox="1">
            <a:spLocks/>
          </p:cNvSpPr>
          <p:nvPr/>
        </p:nvSpPr>
        <p:spPr>
          <a:xfrm>
            <a:off x="2207622" y="4005072"/>
            <a:ext cx="457200" cy="457200"/>
          </a:xfrm>
          <a:prstGeom prst="rect">
            <a:avLst/>
          </a:prstGeom>
          <a:noFill/>
          <a:ln>
            <a:noFill/>
          </a:ln>
        </p:spPr>
        <p:txBody>
          <a:bodyPr spcFirstLastPara="0" wrap="square" lIns="91425" tIns="45700" rIns="91425" bIns="45700" anchor="ctr" anchorCtr="0">
            <a:normAutofit/>
          </a:bodyPr>
          <a:lstStyle/>
          <a:p>
            <a:pPr marL="0" indent="0" algn="l">
              <a:lnSpc>
                <a:spcPct val="90000"/>
              </a:lnSpc>
              <a:spcBef>
                <a:spcPts val="200"/>
              </a:spcBef>
              <a:spcAft>
                <a:spcPts val="0"/>
              </a:spcAft>
              <a:buNone/>
            </a:pPr>
            <a:r>
              <a:rPr lang="en-US" sz="1300" b="1" dirty="0">
                <a:solidFill>
                  <a:srgbClr val="B05010"/>
                </a:solidFill>
                <a:latin typeface="Calibri"/>
                <a:ea typeface="Calibri"/>
                <a:cs typeface="Calibri"/>
                <a:sym typeface="Calibri"/>
              </a:rPr>
              <a:t>+0.11</a:t>
            </a:r>
          </a:p>
        </p:txBody>
      </p:sp>
      <p:sp>
        <p:nvSpPr>
          <p:cNvPr id="33" name="WLbl3"/>
          <p:cNvSpPr txBox="1">
            <a:spLocks/>
          </p:cNvSpPr>
          <p:nvPr/>
        </p:nvSpPr>
        <p:spPr>
          <a:xfrm>
            <a:off x="256032" y="4553712"/>
            <a:ext cx="1078992" cy="457200"/>
          </a:xfrm>
          <a:prstGeom prst="rect">
            <a:avLst/>
          </a:prstGeom>
          <a:noFill/>
          <a:ln>
            <a:noFill/>
          </a:ln>
        </p:spPr>
        <p:txBody>
          <a:bodyPr spcFirstLastPara="0" wrap="square" lIns="91425" tIns="45700" rIns="91425" bIns="45700" anchor="ctr" anchorCtr="0">
            <a:normAutofit/>
          </a:bodyPr>
          <a:lstStyle/>
          <a:p>
            <a:pPr marL="0" indent="0" algn="r">
              <a:lnSpc>
                <a:spcPct val="90000"/>
              </a:lnSpc>
              <a:spcBef>
                <a:spcPts val="200"/>
              </a:spcBef>
              <a:spcAft>
                <a:spcPts val="0"/>
              </a:spcAft>
              <a:buNone/>
            </a:pPr>
            <a:r>
              <a:rPr lang="en-US" sz="1300" b="0" dirty="0">
                <a:solidFill>
                  <a:srgbClr val="1A2535"/>
                </a:solidFill>
                <a:latin typeface="Calibri"/>
                <a:ea typeface="Calibri"/>
                <a:cs typeface="Calibri"/>
                <a:sym typeface="Calibri"/>
              </a:rPr>
              <a:t>ParentalSupport Low</a:t>
            </a:r>
          </a:p>
        </p:txBody>
      </p:sp>
      <p:sp>
        <p:nvSpPr>
          <p:cNvPr id="43" name="WBar3"/>
          <p:cNvSpPr txBox="1">
            <a:spLocks/>
          </p:cNvSpPr>
          <p:nvPr/>
        </p:nvSpPr>
        <p:spPr>
          <a:xfrm>
            <a:off x="1371600" y="4599432"/>
            <a:ext cx="431074" cy="347472"/>
          </a:xfrm>
          <a:prstGeom prst="rect">
            <a:avLst/>
          </a:prstGeom>
          <a:solidFill>
            <a:srgbClr val="804010"/>
          </a:solidFill>
          <a:ln>
            <a:solidFill>
              <a:srgbClr val="804010"/>
            </a:solidFill>
          </a:ln>
        </p:spPr>
      </p:sp>
      <p:sp>
        <p:nvSpPr>
          <p:cNvPr id="53" name="WVal3"/>
          <p:cNvSpPr txBox="1">
            <a:spLocks/>
          </p:cNvSpPr>
          <p:nvPr/>
        </p:nvSpPr>
        <p:spPr>
          <a:xfrm>
            <a:off x="1848394" y="4553712"/>
            <a:ext cx="457200" cy="457200"/>
          </a:xfrm>
          <a:prstGeom prst="rect">
            <a:avLst/>
          </a:prstGeom>
          <a:noFill/>
          <a:ln>
            <a:noFill/>
          </a:ln>
        </p:spPr>
        <p:txBody>
          <a:bodyPr spcFirstLastPara="0" wrap="square" lIns="91425" tIns="45700" rIns="91425" bIns="45700" anchor="ctr" anchorCtr="0">
            <a:normAutofit/>
          </a:bodyPr>
          <a:lstStyle/>
          <a:p>
            <a:pPr marL="0" indent="0" algn="l">
              <a:lnSpc>
                <a:spcPct val="90000"/>
              </a:lnSpc>
              <a:spcBef>
                <a:spcPts val="200"/>
              </a:spcBef>
              <a:spcAft>
                <a:spcPts val="0"/>
              </a:spcAft>
              <a:buNone/>
            </a:pPr>
            <a:r>
              <a:rPr lang="en-US" sz="1300" b="1" dirty="0">
                <a:solidFill>
                  <a:srgbClr val="804010"/>
                </a:solidFill>
                <a:latin typeface="Calibri"/>
                <a:ea typeface="Calibri"/>
                <a:cs typeface="Calibri"/>
                <a:sym typeface="Calibri"/>
              </a:rPr>
              <a:t>+0.06</a:t>
            </a:r>
          </a:p>
        </p:txBody>
      </p:sp>
      <p:sp>
        <p:nvSpPr>
          <p:cNvPr id="34" name="WLbl4"/>
          <p:cNvSpPr txBox="1">
            <a:spLocks/>
          </p:cNvSpPr>
          <p:nvPr/>
        </p:nvSpPr>
        <p:spPr>
          <a:xfrm>
            <a:off x="256032" y="5102352"/>
            <a:ext cx="1078992" cy="457200"/>
          </a:xfrm>
          <a:prstGeom prst="rect">
            <a:avLst/>
          </a:prstGeom>
          <a:noFill/>
          <a:ln>
            <a:noFill/>
          </a:ln>
        </p:spPr>
        <p:txBody>
          <a:bodyPr spcFirstLastPara="0" wrap="square" lIns="91425" tIns="45700" rIns="91425" bIns="45700" anchor="ctr" anchorCtr="0">
            <a:normAutofit/>
          </a:bodyPr>
          <a:lstStyle/>
          <a:p>
            <a:pPr marL="0" indent="0" algn="r">
              <a:lnSpc>
                <a:spcPct val="90000"/>
              </a:lnSpc>
              <a:spcBef>
                <a:spcPts val="200"/>
              </a:spcBef>
              <a:spcAft>
                <a:spcPts val="0"/>
              </a:spcAft>
              <a:buNone/>
            </a:pPr>
            <a:r>
              <a:rPr lang="en-US" sz="1300" b="0" dirty="0">
                <a:solidFill>
                  <a:srgbClr val="1A2535"/>
                </a:solidFill>
                <a:latin typeface="Calibri"/>
                <a:ea typeface="Calibri"/>
                <a:cs typeface="Calibri"/>
                <a:sym typeface="Calibri"/>
              </a:rPr>
              <a:t>Music participation</a:t>
            </a:r>
          </a:p>
        </p:txBody>
      </p:sp>
      <p:sp>
        <p:nvSpPr>
          <p:cNvPr id="44" name="WBar4"/>
          <p:cNvSpPr txBox="1">
            <a:spLocks/>
          </p:cNvSpPr>
          <p:nvPr/>
        </p:nvSpPr>
        <p:spPr>
          <a:xfrm>
            <a:off x="1084217" y="5148072"/>
            <a:ext cx="287382" cy="347472"/>
          </a:xfrm>
          <a:prstGeom prst="rect">
            <a:avLst/>
          </a:prstGeom>
          <a:solidFill>
            <a:srgbClr val="1A6B7C"/>
          </a:solidFill>
          <a:ln>
            <a:solidFill>
              <a:srgbClr val="1A6B7C"/>
            </a:solidFill>
          </a:ln>
        </p:spPr>
      </p:sp>
      <p:sp>
        <p:nvSpPr>
          <p:cNvPr id="54" name="WVal4"/>
          <p:cNvSpPr txBox="1">
            <a:spLocks/>
          </p:cNvSpPr>
          <p:nvPr/>
        </p:nvSpPr>
        <p:spPr>
          <a:xfrm>
            <a:off x="581297" y="5102352"/>
            <a:ext cx="457200" cy="457200"/>
          </a:xfrm>
          <a:prstGeom prst="rect">
            <a:avLst/>
          </a:prstGeom>
          <a:noFill/>
          <a:ln>
            <a:noFill/>
          </a:ln>
        </p:spPr>
        <p:txBody>
          <a:bodyPr spcFirstLastPara="0" wrap="square" lIns="91425" tIns="45700" rIns="91425" bIns="45700" anchor="ctr" anchorCtr="0">
            <a:normAutofit fontScale="85000" lnSpcReduction="10000"/>
          </a:bodyPr>
          <a:lstStyle/>
          <a:p>
            <a:pPr marL="0" indent="0" algn="l">
              <a:lnSpc>
                <a:spcPct val="90000"/>
              </a:lnSpc>
              <a:spcBef>
                <a:spcPts val="200"/>
              </a:spcBef>
              <a:spcAft>
                <a:spcPts val="0"/>
              </a:spcAft>
              <a:buNone/>
            </a:pPr>
            <a:r>
              <a:rPr lang="en-US" sz="1300" b="1" dirty="0">
                <a:solidFill>
                  <a:srgbClr val="1A6B7C"/>
                </a:solidFill>
                <a:latin typeface="Calibri"/>
                <a:ea typeface="Calibri"/>
                <a:cs typeface="Calibri"/>
                <a:sym typeface="Calibri"/>
              </a:rPr>
              <a:t>-0.04</a:t>
            </a:r>
          </a:p>
        </p:txBody>
      </p:sp>
      <p:sp>
        <p:nvSpPr>
          <p:cNvPr id="35" name="WLbl5"/>
          <p:cNvSpPr txBox="1">
            <a:spLocks/>
          </p:cNvSpPr>
          <p:nvPr/>
        </p:nvSpPr>
        <p:spPr>
          <a:xfrm>
            <a:off x="256032" y="5650992"/>
            <a:ext cx="1078992" cy="457200"/>
          </a:xfrm>
          <a:prstGeom prst="rect">
            <a:avLst/>
          </a:prstGeom>
          <a:noFill/>
          <a:ln>
            <a:noFill/>
          </a:ln>
        </p:spPr>
        <p:txBody>
          <a:bodyPr spcFirstLastPara="0" wrap="square" lIns="91425" tIns="45700" rIns="91425" bIns="45700" anchor="ctr" anchorCtr="0">
            <a:normAutofit/>
          </a:bodyPr>
          <a:lstStyle/>
          <a:p>
            <a:pPr marL="0" indent="0" algn="r">
              <a:lnSpc>
                <a:spcPct val="90000"/>
              </a:lnSpc>
              <a:spcBef>
                <a:spcPts val="200"/>
              </a:spcBef>
              <a:spcAft>
                <a:spcPts val="0"/>
              </a:spcAft>
              <a:buNone/>
            </a:pPr>
            <a:r>
              <a:rPr lang="en-US" sz="1300" b="0" dirty="0">
                <a:solidFill>
                  <a:srgbClr val="1A2535"/>
                </a:solidFill>
                <a:latin typeface="Calibri"/>
                <a:ea typeface="Calibri"/>
                <a:cs typeface="Calibri"/>
                <a:sym typeface="Calibri"/>
              </a:rPr>
              <a:t>Sports participation</a:t>
            </a:r>
          </a:p>
        </p:txBody>
      </p:sp>
      <p:sp>
        <p:nvSpPr>
          <p:cNvPr id="45" name="WBar5"/>
          <p:cNvSpPr txBox="1">
            <a:spLocks/>
          </p:cNvSpPr>
          <p:nvPr/>
        </p:nvSpPr>
        <p:spPr>
          <a:xfrm>
            <a:off x="1156062" y="5696712"/>
            <a:ext cx="215537" cy="347472"/>
          </a:xfrm>
          <a:prstGeom prst="rect">
            <a:avLst/>
          </a:prstGeom>
          <a:solidFill>
            <a:srgbClr val="3A6040"/>
          </a:solidFill>
          <a:ln>
            <a:solidFill>
              <a:srgbClr val="3A6040"/>
            </a:solidFill>
          </a:ln>
        </p:spPr>
      </p:sp>
      <p:sp>
        <p:nvSpPr>
          <p:cNvPr id="55" name="WVal5"/>
          <p:cNvSpPr txBox="1">
            <a:spLocks/>
          </p:cNvSpPr>
          <p:nvPr/>
        </p:nvSpPr>
        <p:spPr>
          <a:xfrm>
            <a:off x="653142" y="5650992"/>
            <a:ext cx="457200" cy="457200"/>
          </a:xfrm>
          <a:prstGeom prst="rect">
            <a:avLst/>
          </a:prstGeom>
          <a:noFill/>
          <a:ln>
            <a:noFill/>
          </a:ln>
        </p:spPr>
        <p:txBody>
          <a:bodyPr spcFirstLastPara="0" wrap="square" lIns="91425" tIns="45700" rIns="91425" bIns="45700" anchor="ctr" anchorCtr="0">
            <a:normAutofit fontScale="85000" lnSpcReduction="10000"/>
          </a:bodyPr>
          <a:lstStyle/>
          <a:p>
            <a:pPr marL="0" indent="0" algn="l">
              <a:lnSpc>
                <a:spcPct val="90000"/>
              </a:lnSpc>
              <a:spcBef>
                <a:spcPts val="200"/>
              </a:spcBef>
              <a:spcAft>
                <a:spcPts val="0"/>
              </a:spcAft>
              <a:buNone/>
            </a:pPr>
            <a:r>
              <a:rPr lang="en-US" sz="1300" b="1" dirty="0">
                <a:solidFill>
                  <a:srgbClr val="3A6040"/>
                </a:solidFill>
                <a:latin typeface="Calibri"/>
                <a:ea typeface="Calibri"/>
                <a:cs typeface="Calibri"/>
                <a:sym typeface="Calibri"/>
              </a:rPr>
              <a:t>-0.03</a:t>
            </a:r>
          </a:p>
        </p:txBody>
      </p:sp>
      <p:sp>
        <p:nvSpPr>
          <p:cNvPr id="60" name="FinalPred"/>
          <p:cNvSpPr txBox="1">
            <a:spLocks/>
          </p:cNvSpPr>
          <p:nvPr/>
        </p:nvSpPr>
        <p:spPr>
          <a:xfrm>
            <a:off x="256032" y="6236208"/>
            <a:ext cx="4343400" cy="384048"/>
          </a:xfrm>
          <a:prstGeom prst="roundRect">
            <a:avLst>
              <a:gd name="adj" fmla="val 20000"/>
            </a:avLst>
          </a:prstGeom>
          <a:solidFill>
            <a:srgbClr val="8B0000"/>
          </a:solidFill>
          <a:ln>
            <a:solidFill>
              <a:srgbClr val="8B0000"/>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600" b="1" dirty="0">
                <a:solidFill>
                  <a:srgbClr val="FFFFFF"/>
                </a:solidFill>
                <a:latin typeface="Calibri"/>
                <a:ea typeface="Calibri"/>
                <a:cs typeface="Calibri"/>
                <a:sym typeface="Calibri"/>
              </a:rPr>
              <a:t>Final Prediction:  f(x) = 0.99  →  99% AT RISK</a:t>
            </a:r>
          </a:p>
        </p:txBody>
      </p:sp>
      <p:sp>
        <p:nvSpPr>
          <p:cNvPr id="61" name="InsightLabel"/>
          <p:cNvSpPr txBox="1">
            <a:spLocks/>
          </p:cNvSpPr>
          <p:nvPr/>
        </p:nvSpPr>
        <p:spPr>
          <a:xfrm>
            <a:off x="4937760" y="1481328"/>
            <a:ext cx="6995160" cy="365760"/>
          </a:xfrm>
          <a:prstGeom prst="rect">
            <a:avLst/>
          </a:prstGeom>
          <a:noFill/>
          <a:ln>
            <a:noFill/>
          </a:ln>
        </p:spPr>
        <p:txBody>
          <a:bodyPr spcFirstLastPara="0" wrap="square" lIns="91425" tIns="45700" rIns="91425" bIns="45700" anchor="ctr" anchorCtr="0">
            <a:normAutofit/>
          </a:bodyPr>
          <a:lstStyle/>
          <a:p>
            <a:pPr marL="0" indent="0" algn="l">
              <a:lnSpc>
                <a:spcPct val="90000"/>
              </a:lnSpc>
              <a:spcBef>
                <a:spcPts val="200"/>
              </a:spcBef>
              <a:spcAft>
                <a:spcPts val="0"/>
              </a:spcAft>
              <a:buNone/>
            </a:pPr>
            <a:r>
              <a:rPr lang="en-US" sz="1800" b="1" dirty="0">
                <a:solidFill>
                  <a:srgbClr val="1C2B4A"/>
                </a:solidFill>
                <a:latin typeface="Calibri"/>
                <a:ea typeface="Calibri"/>
                <a:cs typeface="Calibri"/>
                <a:sym typeface="Calibri"/>
              </a:rPr>
              <a:t>What the Teacher Learns</a:t>
            </a:r>
          </a:p>
        </p:txBody>
      </p:sp>
      <p:sp>
        <p:nvSpPr>
          <p:cNvPr id="70" name="Ins0"/>
          <p:cNvSpPr txBox="1">
            <a:spLocks/>
          </p:cNvSpPr>
          <p:nvPr/>
        </p:nvSpPr>
        <p:spPr>
          <a:xfrm>
            <a:off x="4937760" y="1920240"/>
            <a:ext cx="6995160" cy="1051560"/>
          </a:xfrm>
          <a:prstGeom prst="roundRect">
            <a:avLst>
              <a:gd name="adj" fmla="val 20000"/>
            </a:avLst>
          </a:prstGeom>
          <a:solidFill>
            <a:srgbClr val="8B0000"/>
          </a:solidFill>
          <a:ln>
            <a:solidFill>
              <a:srgbClr val="8B0000"/>
            </a:solidFill>
          </a:ln>
        </p:spPr>
        <p:txBody>
          <a:bodyPr spcFirstLastPara="0" wrap="square" lIns="91425" tIns="45700" rIns="91425" bIns="45700" anchor="t" anchorCtr="0">
            <a:normAutofit/>
          </a:bodyPr>
          <a:lstStyle/>
          <a:p>
            <a:pPr marL="0" indent="0" algn="l">
              <a:lnSpc>
                <a:spcPct val="90000"/>
              </a:lnSpc>
              <a:spcBef>
                <a:spcPts val="0"/>
              </a:spcBef>
              <a:spcAft>
                <a:spcPts val="0"/>
              </a:spcAft>
              <a:buNone/>
            </a:pPr>
            <a:r>
              <a:rPr lang="en-US" sz="1600" b="1" dirty="0">
                <a:solidFill>
                  <a:srgbClr val="C8973A"/>
                </a:solidFill>
                <a:latin typeface="Calibri"/>
                <a:ea typeface="Calibri"/>
                <a:cs typeface="Calibri"/>
                <a:sym typeface="Calibri"/>
              </a:rPr>
              <a:t>▶  Primary driver</a:t>
            </a:r>
          </a:p>
          <a:p>
            <a:pPr marL="0" indent="0" algn="l">
              <a:lnSpc>
                <a:spcPct val="95000"/>
              </a:lnSpc>
              <a:spcBef>
                <a:spcPts val="100"/>
              </a:spcBef>
              <a:spcAft>
                <a:spcPts val="0"/>
              </a:spcAft>
              <a:buNone/>
            </a:pPr>
            <a:r>
              <a:rPr lang="en-US" sz="1500" b="0" dirty="0">
                <a:solidFill>
                  <a:srgbClr val="FFFFFF"/>
                </a:solidFill>
                <a:latin typeface="Calibri"/>
                <a:ea typeface="Calibri"/>
                <a:cs typeface="Calibri"/>
                <a:sym typeface="Calibri"/>
              </a:rPr>
              <a:t>Absences = 17 contributes +0.35 — the SINGLE BIGGEST factor. Attendance intervention is the priority.</a:t>
            </a:r>
          </a:p>
        </p:txBody>
      </p:sp>
      <p:sp>
        <p:nvSpPr>
          <p:cNvPr id="71" name="Ins1"/>
          <p:cNvSpPr txBox="1">
            <a:spLocks/>
          </p:cNvSpPr>
          <p:nvPr/>
        </p:nvSpPr>
        <p:spPr>
          <a:xfrm>
            <a:off x="4937760" y="3108960"/>
            <a:ext cx="6995160" cy="1051560"/>
          </a:xfrm>
          <a:prstGeom prst="roundRect">
            <a:avLst>
              <a:gd name="adj" fmla="val 20000"/>
            </a:avLst>
          </a:prstGeom>
          <a:solidFill>
            <a:srgbClr val="B05010"/>
          </a:solidFill>
          <a:ln>
            <a:solidFill>
              <a:srgbClr val="B05010"/>
            </a:solidFill>
          </a:ln>
        </p:spPr>
        <p:txBody>
          <a:bodyPr spcFirstLastPara="0" wrap="square" lIns="91425" tIns="45700" rIns="91425" bIns="45700" anchor="t" anchorCtr="0">
            <a:normAutofit/>
          </a:bodyPr>
          <a:lstStyle/>
          <a:p>
            <a:pPr marL="0" indent="0" algn="l">
              <a:lnSpc>
                <a:spcPct val="90000"/>
              </a:lnSpc>
              <a:spcBef>
                <a:spcPts val="0"/>
              </a:spcBef>
              <a:spcAft>
                <a:spcPts val="0"/>
              </a:spcAft>
              <a:buNone/>
            </a:pPr>
            <a:r>
              <a:rPr lang="en-US" sz="1600" b="1" dirty="0">
                <a:solidFill>
                  <a:srgbClr val="C8973A"/>
                </a:solidFill>
                <a:latin typeface="Calibri"/>
                <a:ea typeface="Calibri"/>
                <a:cs typeface="Calibri"/>
                <a:sym typeface="Calibri"/>
              </a:rPr>
              <a:t>▶  Compounding factor</a:t>
            </a:r>
          </a:p>
          <a:p>
            <a:pPr marL="0" indent="0" algn="l">
              <a:lnSpc>
                <a:spcPct val="95000"/>
              </a:lnSpc>
              <a:spcBef>
                <a:spcPts val="100"/>
              </a:spcBef>
              <a:spcAft>
                <a:spcPts val="0"/>
              </a:spcAft>
              <a:buNone/>
            </a:pPr>
            <a:r>
              <a:rPr lang="en-US" sz="1500" b="0" dirty="0">
                <a:solidFill>
                  <a:srgbClr val="FFFFFF"/>
                </a:solidFill>
                <a:latin typeface="Calibri"/>
                <a:ea typeface="Calibri"/>
                <a:cs typeface="Calibri"/>
                <a:sym typeface="Calibri"/>
              </a:rPr>
              <a:t>Study time of 0.14 hrs/week adds +0.11. Encourage structured study routines.</a:t>
            </a:r>
          </a:p>
        </p:txBody>
      </p:sp>
      <p:sp>
        <p:nvSpPr>
          <p:cNvPr id="72" name="Ins2"/>
          <p:cNvSpPr txBox="1">
            <a:spLocks/>
          </p:cNvSpPr>
          <p:nvPr/>
        </p:nvSpPr>
        <p:spPr>
          <a:xfrm>
            <a:off x="4937760" y="4297680"/>
            <a:ext cx="6995160" cy="1051560"/>
          </a:xfrm>
          <a:prstGeom prst="roundRect">
            <a:avLst>
              <a:gd name="adj" fmla="val 20000"/>
            </a:avLst>
          </a:prstGeom>
          <a:solidFill>
            <a:srgbClr val="1A6B7C"/>
          </a:solidFill>
          <a:ln>
            <a:solidFill>
              <a:srgbClr val="1A6B7C"/>
            </a:solidFill>
          </a:ln>
        </p:spPr>
        <p:txBody>
          <a:bodyPr spcFirstLastPara="0" wrap="square" lIns="91425" tIns="45700" rIns="91425" bIns="45700" anchor="t" anchorCtr="0">
            <a:normAutofit/>
          </a:bodyPr>
          <a:lstStyle/>
          <a:p>
            <a:pPr marL="0" indent="0" algn="l">
              <a:lnSpc>
                <a:spcPct val="90000"/>
              </a:lnSpc>
              <a:spcBef>
                <a:spcPts val="0"/>
              </a:spcBef>
              <a:spcAft>
                <a:spcPts val="0"/>
              </a:spcAft>
              <a:buNone/>
            </a:pPr>
            <a:r>
              <a:rPr lang="en-US" sz="1600" b="1" dirty="0">
                <a:solidFill>
                  <a:srgbClr val="C8973A"/>
                </a:solidFill>
                <a:latin typeface="Calibri"/>
                <a:ea typeface="Calibri"/>
                <a:cs typeface="Calibri"/>
                <a:sym typeface="Calibri"/>
              </a:rPr>
              <a:t>▶  Protective elements</a:t>
            </a:r>
          </a:p>
          <a:p>
            <a:pPr marL="0" indent="0" algn="l">
              <a:lnSpc>
                <a:spcPct val="95000"/>
              </a:lnSpc>
              <a:spcBef>
                <a:spcPts val="100"/>
              </a:spcBef>
              <a:spcAft>
                <a:spcPts val="0"/>
              </a:spcAft>
              <a:buNone/>
            </a:pPr>
            <a:r>
              <a:rPr lang="en-US" sz="1500" b="0" dirty="0">
                <a:solidFill>
                  <a:srgbClr val="FFFFFF"/>
                </a:solidFill>
                <a:latin typeface="Calibri"/>
                <a:ea typeface="Calibri"/>
                <a:cs typeface="Calibri"/>
                <a:sym typeface="Calibri"/>
              </a:rPr>
              <a:t>Music and Sports participation reduce risk by -0.04 and -0.03. Encourage continued activity.</a:t>
            </a:r>
          </a:p>
        </p:txBody>
      </p:sp>
      <p:sp>
        <p:nvSpPr>
          <p:cNvPr id="73" name="Ins3"/>
          <p:cNvSpPr txBox="1">
            <a:spLocks/>
          </p:cNvSpPr>
          <p:nvPr/>
        </p:nvSpPr>
        <p:spPr>
          <a:xfrm>
            <a:off x="4937760" y="5486400"/>
            <a:ext cx="6995160" cy="1051560"/>
          </a:xfrm>
          <a:prstGeom prst="roundRect">
            <a:avLst>
              <a:gd name="adj" fmla="val 20000"/>
            </a:avLst>
          </a:prstGeom>
          <a:solidFill>
            <a:srgbClr val="3A6040"/>
          </a:solidFill>
          <a:ln>
            <a:solidFill>
              <a:srgbClr val="3A6040"/>
            </a:solidFill>
          </a:ln>
        </p:spPr>
        <p:txBody>
          <a:bodyPr spcFirstLastPara="0" wrap="square" lIns="91425" tIns="45700" rIns="91425" bIns="45700" anchor="t" anchorCtr="0">
            <a:normAutofit/>
          </a:bodyPr>
          <a:lstStyle/>
          <a:p>
            <a:pPr marL="0" indent="0" algn="l">
              <a:lnSpc>
                <a:spcPct val="90000"/>
              </a:lnSpc>
              <a:spcBef>
                <a:spcPts val="0"/>
              </a:spcBef>
              <a:spcAft>
                <a:spcPts val="0"/>
              </a:spcAft>
              <a:buNone/>
            </a:pPr>
            <a:r>
              <a:rPr lang="en-US" sz="1600" b="1" dirty="0">
                <a:solidFill>
                  <a:srgbClr val="C8973A"/>
                </a:solidFill>
                <a:latin typeface="Calibri"/>
                <a:ea typeface="Calibri"/>
                <a:cs typeface="Calibri"/>
                <a:sym typeface="Calibri"/>
              </a:rPr>
              <a:t>▶  Actionable outcome</a:t>
            </a:r>
          </a:p>
          <a:p>
            <a:pPr marL="0" indent="0" algn="l">
              <a:lnSpc>
                <a:spcPct val="95000"/>
              </a:lnSpc>
              <a:spcBef>
                <a:spcPts val="100"/>
              </a:spcBef>
              <a:spcAft>
                <a:spcPts val="0"/>
              </a:spcAft>
              <a:buNone/>
            </a:pPr>
            <a:r>
              <a:rPr lang="en-US" sz="1500" b="0" dirty="0">
                <a:solidFill>
                  <a:srgbClr val="FFFFFF"/>
                </a:solidFill>
                <a:latin typeface="Calibri"/>
                <a:ea typeface="Calibri"/>
                <a:cs typeface="Calibri"/>
                <a:sym typeface="Calibri"/>
              </a:rPr>
              <a:t>Teacher targets attendance FIRST — not generic advice. Targeted, efficient intervention.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Grp"/>
        <p:cNvGrpSpPr/>
        <p:nvPr/>
      </p:nvGrpSpPr>
      <p:grpSpPr>
        <a:xfrm>
          <a:off x="0" y="0"/>
          <a:ext cx="0" cy="0"/>
          <a:chOff x="0" y="0"/>
          <a:chExt cx="0" cy="0"/>
        </a:xfrm>
      </p:grpSpPr>
      <p:sp>
        <p:nvSpPr>
          <p:cNvPr id="10" name="TitleStripe"/>
          <p:cNvSpPr txBox="1">
            <a:spLocks/>
          </p:cNvSpPr>
          <p:nvPr/>
        </p:nvSpPr>
        <p:spPr>
          <a:xfrm>
            <a:off x="274320" y="864108"/>
            <a:ext cx="64008" cy="658368"/>
          </a:xfrm>
          <a:prstGeom prst="rect">
            <a:avLst/>
          </a:prstGeom>
          <a:solidFill>
            <a:srgbClr val="8B0000"/>
          </a:solidFill>
          <a:ln>
            <a:solidFill>
              <a:srgbClr val="8B0000"/>
            </a:solidFill>
          </a:ln>
        </p:spPr>
      </p:sp>
      <p:sp>
        <p:nvSpPr>
          <p:cNvPr id="11" name="Title"/>
          <p:cNvSpPr txBox="1">
            <a:spLocks/>
          </p:cNvSpPr>
          <p:nvPr/>
        </p:nvSpPr>
        <p:spPr>
          <a:xfrm>
            <a:off x="423789" y="818388"/>
            <a:ext cx="11128248" cy="658368"/>
          </a:xfrm>
          <a:prstGeom prst="rect">
            <a:avLst/>
          </a:prstGeom>
          <a:noFill/>
          <a:ln>
            <a:noFill/>
          </a:ln>
        </p:spPr>
        <p:txBody>
          <a:bodyPr spcFirstLastPara="0" wrap="square" lIns="91425" tIns="45700" rIns="91425" bIns="45700" anchor="ctr" anchorCtr="0">
            <a:normAutofit fontScale="92500" lnSpcReduction="10000"/>
          </a:bodyPr>
          <a:lstStyle/>
          <a:p>
            <a:pPr marL="0" indent="0" algn="l">
              <a:lnSpc>
                <a:spcPct val="90000"/>
              </a:lnSpc>
              <a:spcBef>
                <a:spcPts val="0"/>
              </a:spcBef>
              <a:spcAft>
                <a:spcPts val="0"/>
              </a:spcAft>
              <a:buNone/>
            </a:pPr>
            <a:r>
              <a:rPr lang="en-US" sz="3200" b="1" dirty="0">
                <a:solidFill>
                  <a:srgbClr val="1C2B4A"/>
                </a:solidFill>
                <a:latin typeface="Calibri"/>
                <a:ea typeface="Calibri"/>
                <a:cs typeface="Calibri"/>
                <a:sym typeface="Calibri"/>
              </a:rPr>
              <a:t>Results</a:t>
            </a:r>
          </a:p>
          <a:p>
            <a:pPr marL="0" indent="0" algn="l">
              <a:lnSpc>
                <a:spcPct val="90000"/>
              </a:lnSpc>
              <a:spcBef>
                <a:spcPts val="60"/>
              </a:spcBef>
              <a:spcAft>
                <a:spcPts val="0"/>
              </a:spcAft>
              <a:buNone/>
            </a:pPr>
            <a:r>
              <a:rPr lang="en-US" sz="1600" b="0" i="1" dirty="0">
                <a:solidFill>
                  <a:srgbClr val="8A9BB0"/>
                </a:solidFill>
                <a:latin typeface="Calibri"/>
                <a:ea typeface="Calibri"/>
                <a:cs typeface="Calibri"/>
                <a:sym typeface="Calibri"/>
              </a:rPr>
              <a:t>Model comparison · test set = 479 samples</a:t>
            </a:r>
          </a:p>
        </p:txBody>
      </p:sp>
      <p:sp>
        <p:nvSpPr>
          <p:cNvPr id="12" name="Divider"/>
          <p:cNvSpPr txBox="1">
            <a:spLocks/>
          </p:cNvSpPr>
          <p:nvPr/>
        </p:nvSpPr>
        <p:spPr>
          <a:xfrm>
            <a:off x="379476" y="1403605"/>
            <a:ext cx="11311128" cy="36576"/>
          </a:xfrm>
          <a:prstGeom prst="rect">
            <a:avLst/>
          </a:prstGeom>
          <a:solidFill>
            <a:srgbClr val="E8ECF0"/>
          </a:solidFill>
          <a:ln>
            <a:solidFill>
              <a:srgbClr val="E8ECF0"/>
            </a:solidFill>
          </a:ln>
        </p:spPr>
      </p:sp>
      <p:sp>
        <p:nvSpPr>
          <p:cNvPr id="20" name="TH0"/>
          <p:cNvSpPr txBox="1">
            <a:spLocks/>
          </p:cNvSpPr>
          <p:nvPr/>
        </p:nvSpPr>
        <p:spPr>
          <a:xfrm>
            <a:off x="256032" y="1481328"/>
            <a:ext cx="2660904" cy="384048"/>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1" dirty="0">
                <a:solidFill>
                  <a:srgbClr val="FFFFFF"/>
                </a:solidFill>
                <a:latin typeface="Calibri"/>
                <a:ea typeface="Calibri"/>
                <a:cs typeface="Calibri"/>
                <a:sym typeface="Calibri"/>
              </a:rPr>
              <a:t>Model</a:t>
            </a:r>
          </a:p>
        </p:txBody>
      </p:sp>
      <p:sp>
        <p:nvSpPr>
          <p:cNvPr id="21" name="TH1"/>
          <p:cNvSpPr txBox="1">
            <a:spLocks/>
          </p:cNvSpPr>
          <p:nvPr/>
        </p:nvSpPr>
        <p:spPr>
          <a:xfrm>
            <a:off x="3017520" y="1481328"/>
            <a:ext cx="1499616" cy="384048"/>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1" dirty="0">
                <a:solidFill>
                  <a:srgbClr val="FFFFFF"/>
                </a:solidFill>
                <a:latin typeface="Calibri"/>
                <a:ea typeface="Calibri"/>
                <a:cs typeface="Calibri"/>
                <a:sym typeface="Calibri"/>
              </a:rPr>
              <a:t>Accuracy</a:t>
            </a:r>
          </a:p>
        </p:txBody>
      </p:sp>
      <p:sp>
        <p:nvSpPr>
          <p:cNvPr id="22" name="TH2"/>
          <p:cNvSpPr txBox="1">
            <a:spLocks/>
          </p:cNvSpPr>
          <p:nvPr/>
        </p:nvSpPr>
        <p:spPr>
          <a:xfrm>
            <a:off x="4617720" y="1481328"/>
            <a:ext cx="1316736" cy="384048"/>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1" dirty="0">
                <a:solidFill>
                  <a:srgbClr val="FFFFFF"/>
                </a:solidFill>
                <a:latin typeface="Calibri"/>
                <a:ea typeface="Calibri"/>
                <a:cs typeface="Calibri"/>
                <a:sym typeface="Calibri"/>
              </a:rPr>
              <a:t>Precision (0)</a:t>
            </a:r>
          </a:p>
        </p:txBody>
      </p:sp>
      <p:sp>
        <p:nvSpPr>
          <p:cNvPr id="23" name="TH3"/>
          <p:cNvSpPr txBox="1">
            <a:spLocks/>
          </p:cNvSpPr>
          <p:nvPr/>
        </p:nvSpPr>
        <p:spPr>
          <a:xfrm>
            <a:off x="6035040" y="1481328"/>
            <a:ext cx="1316736" cy="384048"/>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1" dirty="0">
                <a:solidFill>
                  <a:srgbClr val="FFFFFF"/>
                </a:solidFill>
                <a:latin typeface="Calibri"/>
                <a:ea typeface="Calibri"/>
                <a:cs typeface="Calibri"/>
                <a:sym typeface="Calibri"/>
              </a:rPr>
              <a:t>Recall (0)</a:t>
            </a:r>
          </a:p>
        </p:txBody>
      </p:sp>
      <p:sp>
        <p:nvSpPr>
          <p:cNvPr id="24" name="TH4"/>
          <p:cNvSpPr txBox="1">
            <a:spLocks/>
          </p:cNvSpPr>
          <p:nvPr/>
        </p:nvSpPr>
        <p:spPr>
          <a:xfrm>
            <a:off x="7452360" y="1481328"/>
            <a:ext cx="1316736" cy="384048"/>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1" dirty="0">
                <a:solidFill>
                  <a:srgbClr val="FFFFFF"/>
                </a:solidFill>
                <a:latin typeface="Calibri"/>
                <a:ea typeface="Calibri"/>
                <a:cs typeface="Calibri"/>
                <a:sym typeface="Calibri"/>
              </a:rPr>
              <a:t>Precision (1)</a:t>
            </a:r>
          </a:p>
        </p:txBody>
      </p:sp>
      <p:sp>
        <p:nvSpPr>
          <p:cNvPr id="25" name="TH5"/>
          <p:cNvSpPr txBox="1">
            <a:spLocks/>
          </p:cNvSpPr>
          <p:nvPr/>
        </p:nvSpPr>
        <p:spPr>
          <a:xfrm>
            <a:off x="8869680" y="1481328"/>
            <a:ext cx="1591056" cy="384048"/>
          </a:xfrm>
          <a:prstGeom prst="rect">
            <a:avLst/>
          </a:prstGeom>
          <a:solidFill>
            <a:srgbClr val="8B0000"/>
          </a:solidFill>
          <a:ln>
            <a:solidFill>
              <a:srgbClr val="8B0000"/>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1" dirty="0">
                <a:solidFill>
                  <a:srgbClr val="FFFFFF"/>
                </a:solidFill>
                <a:latin typeface="Calibri"/>
                <a:ea typeface="Calibri"/>
                <a:cs typeface="Calibri"/>
                <a:sym typeface="Calibri"/>
              </a:rPr>
              <a:t>Recall (1) ★</a:t>
            </a:r>
          </a:p>
        </p:txBody>
      </p:sp>
      <p:sp>
        <p:nvSpPr>
          <p:cNvPr id="26" name="TH6"/>
          <p:cNvSpPr txBox="1">
            <a:spLocks/>
          </p:cNvSpPr>
          <p:nvPr/>
        </p:nvSpPr>
        <p:spPr>
          <a:xfrm>
            <a:off x="10561320" y="1481328"/>
            <a:ext cx="1408176" cy="384048"/>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1" dirty="0">
                <a:solidFill>
                  <a:srgbClr val="FFFFFF"/>
                </a:solidFill>
                <a:latin typeface="Calibri"/>
                <a:ea typeface="Calibri"/>
                <a:cs typeface="Calibri"/>
                <a:sym typeface="Calibri"/>
              </a:rPr>
              <a:t>F1 (1)</a:t>
            </a:r>
          </a:p>
        </p:txBody>
      </p:sp>
      <p:sp>
        <p:nvSpPr>
          <p:cNvPr id="30" name="TD00"/>
          <p:cNvSpPr txBox="1">
            <a:spLocks/>
          </p:cNvSpPr>
          <p:nvPr/>
        </p:nvSpPr>
        <p:spPr>
          <a:xfrm>
            <a:off x="256032" y="1920240"/>
            <a:ext cx="2660904" cy="475488"/>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600" b="0" dirty="0">
                <a:solidFill>
                  <a:srgbClr val="FFFFFF"/>
                </a:solidFill>
                <a:latin typeface="Calibri"/>
                <a:ea typeface="Calibri"/>
                <a:cs typeface="Calibri"/>
                <a:sym typeface="Calibri"/>
              </a:rPr>
              <a:t>Logistic Regression</a:t>
            </a:r>
          </a:p>
        </p:txBody>
      </p:sp>
      <p:sp>
        <p:nvSpPr>
          <p:cNvPr id="31" name="TD01"/>
          <p:cNvSpPr txBox="1">
            <a:spLocks/>
          </p:cNvSpPr>
          <p:nvPr/>
        </p:nvSpPr>
        <p:spPr>
          <a:xfrm>
            <a:off x="3017520" y="1920240"/>
            <a:ext cx="1499616" cy="475488"/>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600" b="0" dirty="0">
                <a:solidFill>
                  <a:srgbClr val="FFFFFF"/>
                </a:solidFill>
                <a:latin typeface="Calibri"/>
                <a:ea typeface="Calibri"/>
                <a:cs typeface="Calibri"/>
                <a:sym typeface="Calibri"/>
              </a:rPr>
              <a:t>93.95%</a:t>
            </a:r>
          </a:p>
        </p:txBody>
      </p:sp>
      <p:sp>
        <p:nvSpPr>
          <p:cNvPr id="32" name="TD02"/>
          <p:cNvSpPr txBox="1">
            <a:spLocks/>
          </p:cNvSpPr>
          <p:nvPr/>
        </p:nvSpPr>
        <p:spPr>
          <a:xfrm>
            <a:off x="4617720" y="1920240"/>
            <a:ext cx="1316736" cy="475488"/>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600" b="0" dirty="0">
                <a:solidFill>
                  <a:srgbClr val="FFFFFF"/>
                </a:solidFill>
                <a:latin typeface="Calibri"/>
                <a:ea typeface="Calibri"/>
                <a:cs typeface="Calibri"/>
                <a:sym typeface="Calibri"/>
              </a:rPr>
              <a:t>0.93</a:t>
            </a:r>
          </a:p>
        </p:txBody>
      </p:sp>
      <p:sp>
        <p:nvSpPr>
          <p:cNvPr id="33" name="TD03"/>
          <p:cNvSpPr txBox="1">
            <a:spLocks/>
          </p:cNvSpPr>
          <p:nvPr/>
        </p:nvSpPr>
        <p:spPr>
          <a:xfrm>
            <a:off x="6035040" y="1920240"/>
            <a:ext cx="1316736" cy="475488"/>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600" b="0" dirty="0">
                <a:solidFill>
                  <a:srgbClr val="FFFFFF"/>
                </a:solidFill>
                <a:latin typeface="Calibri"/>
                <a:ea typeface="Calibri"/>
                <a:cs typeface="Calibri"/>
                <a:sym typeface="Calibri"/>
              </a:rPr>
              <a:t>0.96</a:t>
            </a:r>
          </a:p>
        </p:txBody>
      </p:sp>
      <p:sp>
        <p:nvSpPr>
          <p:cNvPr id="34" name="TD04"/>
          <p:cNvSpPr txBox="1">
            <a:spLocks/>
          </p:cNvSpPr>
          <p:nvPr/>
        </p:nvSpPr>
        <p:spPr>
          <a:xfrm>
            <a:off x="7452360" y="1920240"/>
            <a:ext cx="1316736" cy="475488"/>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600" b="0" dirty="0">
                <a:solidFill>
                  <a:srgbClr val="FFFFFF"/>
                </a:solidFill>
                <a:latin typeface="Calibri"/>
                <a:ea typeface="Calibri"/>
                <a:cs typeface="Calibri"/>
                <a:sym typeface="Calibri"/>
              </a:rPr>
              <a:t>0.95</a:t>
            </a:r>
          </a:p>
        </p:txBody>
      </p:sp>
      <p:sp>
        <p:nvSpPr>
          <p:cNvPr id="35" name="TD05"/>
          <p:cNvSpPr txBox="1">
            <a:spLocks/>
          </p:cNvSpPr>
          <p:nvPr/>
        </p:nvSpPr>
        <p:spPr>
          <a:xfrm>
            <a:off x="8869680" y="1920240"/>
            <a:ext cx="1591056" cy="475488"/>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600" b="0" dirty="0">
                <a:solidFill>
                  <a:srgbClr val="FF9999"/>
                </a:solidFill>
                <a:latin typeface="Calibri"/>
                <a:ea typeface="Calibri"/>
                <a:cs typeface="Calibri"/>
                <a:sym typeface="Calibri"/>
              </a:rPr>
              <a:t>0.91</a:t>
            </a:r>
          </a:p>
        </p:txBody>
      </p:sp>
      <p:sp>
        <p:nvSpPr>
          <p:cNvPr id="36" name="TD06"/>
          <p:cNvSpPr txBox="1">
            <a:spLocks/>
          </p:cNvSpPr>
          <p:nvPr/>
        </p:nvSpPr>
        <p:spPr>
          <a:xfrm>
            <a:off x="10561320" y="1920240"/>
            <a:ext cx="1408176" cy="475488"/>
          </a:xfrm>
          <a:prstGeom prst="rect">
            <a:avLst/>
          </a:prstGeom>
          <a:solidFill>
            <a:srgbClr val="1C2B4A"/>
          </a:solidFill>
          <a:ln>
            <a:solidFill>
              <a:srgbClr val="1C2B4A"/>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600" b="0" dirty="0">
                <a:solidFill>
                  <a:srgbClr val="FFFFFF"/>
                </a:solidFill>
                <a:latin typeface="Calibri"/>
                <a:ea typeface="Calibri"/>
                <a:cs typeface="Calibri"/>
                <a:sym typeface="Calibri"/>
              </a:rPr>
              <a:t>0.92</a:t>
            </a:r>
          </a:p>
        </p:txBody>
      </p:sp>
      <p:sp>
        <p:nvSpPr>
          <p:cNvPr id="40" name="TD10"/>
          <p:cNvSpPr txBox="1">
            <a:spLocks/>
          </p:cNvSpPr>
          <p:nvPr/>
        </p:nvSpPr>
        <p:spPr>
          <a:xfrm>
            <a:off x="256032" y="2450592"/>
            <a:ext cx="2660904" cy="475488"/>
          </a:xfrm>
          <a:prstGeom prst="rect">
            <a:avLst/>
          </a:prstGeom>
          <a:solidFill>
            <a:srgbClr val="243352"/>
          </a:solidFill>
          <a:ln>
            <a:solidFill>
              <a:srgbClr val="243352"/>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600" b="0" dirty="0">
                <a:solidFill>
                  <a:srgbClr val="FFFFFF"/>
                </a:solidFill>
                <a:latin typeface="Calibri"/>
                <a:ea typeface="Calibri"/>
                <a:cs typeface="Calibri"/>
                <a:sym typeface="Calibri"/>
              </a:rPr>
              <a:t>Random Forest</a:t>
            </a:r>
          </a:p>
        </p:txBody>
      </p:sp>
      <p:sp>
        <p:nvSpPr>
          <p:cNvPr id="41" name="TD11"/>
          <p:cNvSpPr txBox="1">
            <a:spLocks/>
          </p:cNvSpPr>
          <p:nvPr/>
        </p:nvSpPr>
        <p:spPr>
          <a:xfrm>
            <a:off x="3017520" y="2450592"/>
            <a:ext cx="1499616" cy="475488"/>
          </a:xfrm>
          <a:prstGeom prst="rect">
            <a:avLst/>
          </a:prstGeom>
          <a:solidFill>
            <a:srgbClr val="243352"/>
          </a:solidFill>
          <a:ln>
            <a:solidFill>
              <a:srgbClr val="243352"/>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600" b="0" dirty="0">
                <a:solidFill>
                  <a:srgbClr val="FFFFFF"/>
                </a:solidFill>
                <a:latin typeface="Calibri"/>
                <a:ea typeface="Calibri"/>
                <a:cs typeface="Calibri"/>
                <a:sym typeface="Calibri"/>
              </a:rPr>
              <a:t>92.69%</a:t>
            </a:r>
          </a:p>
        </p:txBody>
      </p:sp>
      <p:sp>
        <p:nvSpPr>
          <p:cNvPr id="42" name="TD12"/>
          <p:cNvSpPr txBox="1">
            <a:spLocks/>
          </p:cNvSpPr>
          <p:nvPr/>
        </p:nvSpPr>
        <p:spPr>
          <a:xfrm>
            <a:off x="4617720" y="2450592"/>
            <a:ext cx="1316736" cy="475488"/>
          </a:xfrm>
          <a:prstGeom prst="rect">
            <a:avLst/>
          </a:prstGeom>
          <a:solidFill>
            <a:srgbClr val="243352"/>
          </a:solidFill>
          <a:ln>
            <a:solidFill>
              <a:srgbClr val="243352"/>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600" b="0" dirty="0">
                <a:solidFill>
                  <a:srgbClr val="FFFFFF"/>
                </a:solidFill>
                <a:latin typeface="Calibri"/>
                <a:ea typeface="Calibri"/>
                <a:cs typeface="Calibri"/>
                <a:sym typeface="Calibri"/>
              </a:rPr>
              <a:t>0.93</a:t>
            </a:r>
          </a:p>
        </p:txBody>
      </p:sp>
      <p:sp>
        <p:nvSpPr>
          <p:cNvPr id="43" name="TD13"/>
          <p:cNvSpPr txBox="1">
            <a:spLocks/>
          </p:cNvSpPr>
          <p:nvPr/>
        </p:nvSpPr>
        <p:spPr>
          <a:xfrm>
            <a:off x="6035040" y="2450592"/>
            <a:ext cx="1316736" cy="475488"/>
          </a:xfrm>
          <a:prstGeom prst="rect">
            <a:avLst/>
          </a:prstGeom>
          <a:solidFill>
            <a:srgbClr val="243352"/>
          </a:solidFill>
          <a:ln>
            <a:solidFill>
              <a:srgbClr val="243352"/>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600" b="0" dirty="0">
                <a:solidFill>
                  <a:srgbClr val="FFFFFF"/>
                </a:solidFill>
                <a:latin typeface="Calibri"/>
                <a:ea typeface="Calibri"/>
                <a:cs typeface="Calibri"/>
                <a:sym typeface="Calibri"/>
              </a:rPr>
              <a:t>0.92</a:t>
            </a:r>
          </a:p>
        </p:txBody>
      </p:sp>
      <p:sp>
        <p:nvSpPr>
          <p:cNvPr id="44" name="TD14"/>
          <p:cNvSpPr txBox="1">
            <a:spLocks/>
          </p:cNvSpPr>
          <p:nvPr/>
        </p:nvSpPr>
        <p:spPr>
          <a:xfrm>
            <a:off x="7452360" y="2450592"/>
            <a:ext cx="1316736" cy="475488"/>
          </a:xfrm>
          <a:prstGeom prst="rect">
            <a:avLst/>
          </a:prstGeom>
          <a:solidFill>
            <a:srgbClr val="243352"/>
          </a:solidFill>
          <a:ln>
            <a:solidFill>
              <a:srgbClr val="243352"/>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600" b="0" dirty="0">
                <a:solidFill>
                  <a:srgbClr val="FFFFFF"/>
                </a:solidFill>
                <a:latin typeface="Calibri"/>
                <a:ea typeface="Calibri"/>
                <a:cs typeface="Calibri"/>
                <a:sym typeface="Calibri"/>
              </a:rPr>
              <a:t>0.92</a:t>
            </a:r>
          </a:p>
        </p:txBody>
      </p:sp>
      <p:sp>
        <p:nvSpPr>
          <p:cNvPr id="45" name="TD15"/>
          <p:cNvSpPr txBox="1">
            <a:spLocks/>
          </p:cNvSpPr>
          <p:nvPr/>
        </p:nvSpPr>
        <p:spPr>
          <a:xfrm>
            <a:off x="8869680" y="2450592"/>
            <a:ext cx="1591056" cy="475488"/>
          </a:xfrm>
          <a:prstGeom prst="rect">
            <a:avLst/>
          </a:prstGeom>
          <a:solidFill>
            <a:srgbClr val="243352"/>
          </a:solidFill>
          <a:ln>
            <a:solidFill>
              <a:srgbClr val="243352"/>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600" b="0" dirty="0">
                <a:solidFill>
                  <a:srgbClr val="FFFFFF"/>
                </a:solidFill>
                <a:latin typeface="Calibri"/>
                <a:ea typeface="Calibri"/>
                <a:cs typeface="Calibri"/>
                <a:sym typeface="Calibri"/>
              </a:rPr>
              <a:t>0.94</a:t>
            </a:r>
          </a:p>
        </p:txBody>
      </p:sp>
      <p:sp>
        <p:nvSpPr>
          <p:cNvPr id="46" name="TD16"/>
          <p:cNvSpPr txBox="1">
            <a:spLocks/>
          </p:cNvSpPr>
          <p:nvPr/>
        </p:nvSpPr>
        <p:spPr>
          <a:xfrm>
            <a:off x="10561320" y="2450592"/>
            <a:ext cx="1408176" cy="475488"/>
          </a:xfrm>
          <a:prstGeom prst="rect">
            <a:avLst/>
          </a:prstGeom>
          <a:solidFill>
            <a:srgbClr val="243352"/>
          </a:solidFill>
          <a:ln>
            <a:solidFill>
              <a:srgbClr val="243352"/>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600" b="0" dirty="0">
                <a:solidFill>
                  <a:srgbClr val="FFFFFF"/>
                </a:solidFill>
                <a:latin typeface="Calibri"/>
                <a:ea typeface="Calibri"/>
                <a:cs typeface="Calibri"/>
                <a:sym typeface="Calibri"/>
              </a:rPr>
              <a:t>0.93</a:t>
            </a:r>
          </a:p>
        </p:txBody>
      </p:sp>
      <p:sp>
        <p:nvSpPr>
          <p:cNvPr id="50" name="TD20"/>
          <p:cNvSpPr txBox="1">
            <a:spLocks/>
          </p:cNvSpPr>
          <p:nvPr/>
        </p:nvSpPr>
        <p:spPr>
          <a:xfrm>
            <a:off x="256032" y="2980944"/>
            <a:ext cx="2660904" cy="475488"/>
          </a:xfrm>
          <a:prstGeom prst="rect">
            <a:avLst/>
          </a:prstGeom>
          <a:solidFill>
            <a:srgbClr val="8B0000"/>
          </a:solidFill>
          <a:ln>
            <a:solidFill>
              <a:srgbClr val="8B0000"/>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600" b="1" dirty="0">
                <a:solidFill>
                  <a:srgbClr val="C8973A"/>
                </a:solidFill>
                <a:latin typeface="Calibri"/>
                <a:ea typeface="Calibri"/>
                <a:cs typeface="Calibri"/>
                <a:sym typeface="Calibri"/>
              </a:rPr>
              <a:t>XGBoost (Proposed)</a:t>
            </a:r>
          </a:p>
        </p:txBody>
      </p:sp>
      <p:sp>
        <p:nvSpPr>
          <p:cNvPr id="51" name="TD21"/>
          <p:cNvSpPr txBox="1">
            <a:spLocks/>
          </p:cNvSpPr>
          <p:nvPr/>
        </p:nvSpPr>
        <p:spPr>
          <a:xfrm>
            <a:off x="3017520" y="2972152"/>
            <a:ext cx="1499616" cy="475488"/>
          </a:xfrm>
          <a:prstGeom prst="rect">
            <a:avLst/>
          </a:prstGeom>
          <a:solidFill>
            <a:srgbClr val="8B0000"/>
          </a:solidFill>
          <a:ln>
            <a:solidFill>
              <a:srgbClr val="8B0000"/>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600" b="1" dirty="0">
                <a:solidFill>
                  <a:srgbClr val="C8973A"/>
                </a:solidFill>
                <a:latin typeface="Calibri"/>
                <a:ea typeface="Calibri"/>
                <a:cs typeface="Calibri"/>
                <a:sym typeface="Calibri"/>
              </a:rPr>
              <a:t>93.32%</a:t>
            </a:r>
          </a:p>
        </p:txBody>
      </p:sp>
      <p:sp>
        <p:nvSpPr>
          <p:cNvPr id="52" name="TD22"/>
          <p:cNvSpPr txBox="1">
            <a:spLocks/>
          </p:cNvSpPr>
          <p:nvPr/>
        </p:nvSpPr>
        <p:spPr>
          <a:xfrm>
            <a:off x="4617720" y="2980944"/>
            <a:ext cx="1316736" cy="475488"/>
          </a:xfrm>
          <a:prstGeom prst="rect">
            <a:avLst/>
          </a:prstGeom>
          <a:solidFill>
            <a:srgbClr val="8B0000"/>
          </a:solidFill>
          <a:ln>
            <a:solidFill>
              <a:srgbClr val="8B0000"/>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600" b="1" dirty="0">
                <a:solidFill>
                  <a:srgbClr val="C8973A"/>
                </a:solidFill>
                <a:latin typeface="Calibri"/>
                <a:ea typeface="Calibri"/>
                <a:cs typeface="Calibri"/>
                <a:sym typeface="Calibri"/>
              </a:rPr>
              <a:t>0.94</a:t>
            </a:r>
          </a:p>
        </p:txBody>
      </p:sp>
      <p:sp>
        <p:nvSpPr>
          <p:cNvPr id="53" name="TD23"/>
          <p:cNvSpPr txBox="1">
            <a:spLocks/>
          </p:cNvSpPr>
          <p:nvPr/>
        </p:nvSpPr>
        <p:spPr>
          <a:xfrm>
            <a:off x="6035040" y="2980944"/>
            <a:ext cx="1316736" cy="475488"/>
          </a:xfrm>
          <a:prstGeom prst="rect">
            <a:avLst/>
          </a:prstGeom>
          <a:solidFill>
            <a:srgbClr val="8B0000"/>
          </a:solidFill>
          <a:ln>
            <a:solidFill>
              <a:srgbClr val="8B0000"/>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600" b="1" dirty="0">
                <a:solidFill>
                  <a:srgbClr val="C8973A"/>
                </a:solidFill>
                <a:latin typeface="Calibri"/>
                <a:ea typeface="Calibri"/>
                <a:cs typeface="Calibri"/>
                <a:sym typeface="Calibri"/>
              </a:rPr>
              <a:t>0.92</a:t>
            </a:r>
          </a:p>
        </p:txBody>
      </p:sp>
      <p:sp>
        <p:nvSpPr>
          <p:cNvPr id="54" name="TD24"/>
          <p:cNvSpPr txBox="1">
            <a:spLocks/>
          </p:cNvSpPr>
          <p:nvPr/>
        </p:nvSpPr>
        <p:spPr>
          <a:xfrm>
            <a:off x="7452360" y="2980944"/>
            <a:ext cx="1316736" cy="475488"/>
          </a:xfrm>
          <a:prstGeom prst="rect">
            <a:avLst/>
          </a:prstGeom>
          <a:solidFill>
            <a:srgbClr val="8B0000"/>
          </a:solidFill>
          <a:ln>
            <a:solidFill>
              <a:srgbClr val="8B0000"/>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600" b="1" dirty="0">
                <a:solidFill>
                  <a:srgbClr val="C8973A"/>
                </a:solidFill>
                <a:latin typeface="Calibri"/>
                <a:ea typeface="Calibri"/>
                <a:cs typeface="Calibri"/>
                <a:sym typeface="Calibri"/>
              </a:rPr>
              <a:t>0.93</a:t>
            </a:r>
          </a:p>
        </p:txBody>
      </p:sp>
      <p:sp>
        <p:nvSpPr>
          <p:cNvPr id="55" name="TD25"/>
          <p:cNvSpPr txBox="1">
            <a:spLocks/>
          </p:cNvSpPr>
          <p:nvPr/>
        </p:nvSpPr>
        <p:spPr>
          <a:xfrm>
            <a:off x="8869680" y="2980944"/>
            <a:ext cx="1591056" cy="475488"/>
          </a:xfrm>
          <a:prstGeom prst="rect">
            <a:avLst/>
          </a:prstGeom>
          <a:solidFill>
            <a:srgbClr val="8B0000"/>
          </a:solidFill>
          <a:ln>
            <a:solidFill>
              <a:srgbClr val="8B0000"/>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600" b="1" dirty="0">
                <a:solidFill>
                  <a:srgbClr val="C8973A"/>
                </a:solidFill>
                <a:latin typeface="Calibri"/>
                <a:ea typeface="Calibri"/>
                <a:cs typeface="Calibri"/>
                <a:sym typeface="Calibri"/>
              </a:rPr>
              <a:t>0.94 ✓</a:t>
            </a:r>
          </a:p>
        </p:txBody>
      </p:sp>
      <p:sp>
        <p:nvSpPr>
          <p:cNvPr id="56" name="TD26"/>
          <p:cNvSpPr txBox="1">
            <a:spLocks/>
          </p:cNvSpPr>
          <p:nvPr/>
        </p:nvSpPr>
        <p:spPr>
          <a:xfrm>
            <a:off x="10561320" y="2980944"/>
            <a:ext cx="1408176" cy="475488"/>
          </a:xfrm>
          <a:prstGeom prst="rect">
            <a:avLst/>
          </a:prstGeom>
          <a:solidFill>
            <a:srgbClr val="8B0000"/>
          </a:solidFill>
          <a:ln>
            <a:solidFill>
              <a:srgbClr val="8B0000"/>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600" b="1" dirty="0">
                <a:solidFill>
                  <a:srgbClr val="C8973A"/>
                </a:solidFill>
                <a:latin typeface="Calibri"/>
                <a:ea typeface="Calibri"/>
                <a:cs typeface="Calibri"/>
                <a:sym typeface="Calibri"/>
              </a:rPr>
              <a:t>0.94 ✓</a:t>
            </a:r>
          </a:p>
        </p:txBody>
      </p:sp>
      <p:sp>
        <p:nvSpPr>
          <p:cNvPr id="90" name="Insight"/>
          <p:cNvSpPr txBox="1">
            <a:spLocks/>
          </p:cNvSpPr>
          <p:nvPr/>
        </p:nvSpPr>
        <p:spPr>
          <a:xfrm>
            <a:off x="256032" y="3611880"/>
            <a:ext cx="11676888" cy="685800"/>
          </a:xfrm>
          <a:prstGeom prst="roundRect">
            <a:avLst>
              <a:gd name="adj" fmla="val 20000"/>
            </a:avLst>
          </a:prstGeom>
          <a:solidFill>
            <a:srgbClr val="FFF5F5"/>
          </a:solidFill>
          <a:ln>
            <a:solidFill>
              <a:srgbClr val="FFF5F5"/>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600" b="1" dirty="0">
                <a:solidFill>
                  <a:srgbClr val="1C2B4A"/>
                </a:solidFill>
                <a:latin typeface="Calibri"/>
                <a:ea typeface="Calibri"/>
                <a:cs typeface="Calibri"/>
                <a:sym typeface="Calibri"/>
              </a:rPr>
              <a:t>Key Insight:  Logistic Regression has highest accuracy (93.95%) but At-Risk Recall = 0.91 → misses ≈22 at-risk students per cohort. In education, each missed student = preventable failure. XGBoost achieves 0.94 recall AND best F1 = optimal choice.</a:t>
            </a:r>
          </a:p>
        </p:txBody>
      </p:sp>
      <p:sp>
        <p:nvSpPr>
          <p:cNvPr id="91" name="BarLabel"/>
          <p:cNvSpPr txBox="1">
            <a:spLocks/>
          </p:cNvSpPr>
          <p:nvPr/>
        </p:nvSpPr>
        <p:spPr>
          <a:xfrm>
            <a:off x="256032" y="4434840"/>
            <a:ext cx="4572000" cy="347472"/>
          </a:xfrm>
          <a:prstGeom prst="rect">
            <a:avLst/>
          </a:prstGeom>
          <a:noFill/>
          <a:ln>
            <a:noFill/>
          </a:ln>
        </p:spPr>
        <p:txBody>
          <a:bodyPr spcFirstLastPara="0" wrap="square" lIns="91425" tIns="45700" rIns="91425" bIns="45700" anchor="ctr" anchorCtr="0">
            <a:normAutofit/>
          </a:bodyPr>
          <a:lstStyle/>
          <a:p>
            <a:pPr marL="0" indent="0" algn="l">
              <a:lnSpc>
                <a:spcPct val="90000"/>
              </a:lnSpc>
              <a:spcBef>
                <a:spcPts val="200"/>
              </a:spcBef>
              <a:spcAft>
                <a:spcPts val="0"/>
              </a:spcAft>
              <a:buNone/>
            </a:pPr>
            <a:r>
              <a:rPr lang="en-US" sz="1600" b="1" dirty="0">
                <a:solidFill>
                  <a:srgbClr val="1C2B4A"/>
                </a:solidFill>
                <a:latin typeface="Calibri"/>
                <a:ea typeface="Calibri"/>
                <a:cs typeface="Calibri"/>
                <a:sym typeface="Calibri"/>
              </a:rPr>
              <a:t>At-Risk Recall Comparison</a:t>
            </a:r>
          </a:p>
        </p:txBody>
      </p:sp>
      <p:sp>
        <p:nvSpPr>
          <p:cNvPr id="100" name="RBar0"/>
          <p:cNvSpPr txBox="1">
            <a:spLocks/>
          </p:cNvSpPr>
          <p:nvPr/>
        </p:nvSpPr>
        <p:spPr>
          <a:xfrm>
            <a:off x="457200" y="5325465"/>
            <a:ext cx="1188720" cy="983893"/>
          </a:xfrm>
          <a:prstGeom prst="roundRect">
            <a:avLst>
              <a:gd name="adj" fmla="val 20000"/>
            </a:avLst>
          </a:prstGeom>
          <a:solidFill>
            <a:srgbClr val="8A9BB0"/>
          </a:solidFill>
          <a:ln>
            <a:solidFill>
              <a:srgbClr val="8A9BB0"/>
            </a:solidFill>
          </a:ln>
        </p:spPr>
      </p:sp>
      <p:sp>
        <p:nvSpPr>
          <p:cNvPr id="110" name="RLbl0"/>
          <p:cNvSpPr txBox="1">
            <a:spLocks/>
          </p:cNvSpPr>
          <p:nvPr/>
        </p:nvSpPr>
        <p:spPr>
          <a:xfrm>
            <a:off x="457200" y="5014219"/>
            <a:ext cx="1188720" cy="347472"/>
          </a:xfrm>
          <a:prstGeom prst="rect">
            <a:avLst/>
          </a:prstGeom>
          <a:noFill/>
          <a:ln>
            <a:noFill/>
          </a:ln>
        </p:spPr>
        <p:txBody>
          <a:bodyPr spcFirstLastPara="0" wrap="square" lIns="91425" tIns="45700" rIns="91425" bIns="45700" anchor="ctr" anchorCtr="0">
            <a:normAutofit/>
          </a:bodyPr>
          <a:lstStyle/>
          <a:p>
            <a:pPr marL="0" indent="0" algn="ctr">
              <a:lnSpc>
                <a:spcPct val="90000"/>
              </a:lnSpc>
              <a:spcBef>
                <a:spcPts val="200"/>
              </a:spcBef>
              <a:spcAft>
                <a:spcPts val="0"/>
              </a:spcAft>
              <a:buNone/>
            </a:pPr>
            <a:r>
              <a:rPr lang="en-US" sz="1700" b="1" dirty="0">
                <a:solidFill>
                  <a:srgbClr val="8A9BB0"/>
                </a:solidFill>
                <a:latin typeface="Calibri"/>
                <a:ea typeface="Calibri"/>
                <a:cs typeface="Calibri"/>
                <a:sym typeface="Calibri"/>
              </a:rPr>
              <a:t>0.91</a:t>
            </a:r>
          </a:p>
        </p:txBody>
      </p:sp>
      <p:sp>
        <p:nvSpPr>
          <p:cNvPr id="120" name="RMdl0"/>
          <p:cNvSpPr txBox="1">
            <a:spLocks/>
          </p:cNvSpPr>
          <p:nvPr/>
        </p:nvSpPr>
        <p:spPr>
          <a:xfrm>
            <a:off x="365760" y="6240780"/>
            <a:ext cx="1280160" cy="502920"/>
          </a:xfrm>
          <a:prstGeom prst="rect">
            <a:avLst/>
          </a:prstGeom>
          <a:noFill/>
          <a:ln>
            <a:noFill/>
          </a:ln>
        </p:spPr>
        <p:txBody>
          <a:bodyPr spcFirstLastPara="0" wrap="square" lIns="91425" tIns="45700" rIns="91425" bIns="45700" anchor="ctr" anchorCtr="0">
            <a:normAutofit/>
          </a:bodyPr>
          <a:lstStyle/>
          <a:p>
            <a:pPr marL="0" indent="0" algn="ctr">
              <a:lnSpc>
                <a:spcPct val="90000"/>
              </a:lnSpc>
              <a:spcBef>
                <a:spcPts val="200"/>
              </a:spcBef>
              <a:spcAft>
                <a:spcPts val="0"/>
              </a:spcAft>
              <a:buNone/>
            </a:pPr>
            <a:r>
              <a:rPr lang="en-US" sz="1300" b="0" dirty="0">
                <a:solidFill>
                  <a:srgbClr val="1A2535"/>
                </a:solidFill>
                <a:latin typeface="Calibri"/>
                <a:ea typeface="Calibri"/>
                <a:cs typeface="Calibri"/>
                <a:sym typeface="Calibri"/>
              </a:rPr>
              <a:t>Logistic
Regression</a:t>
            </a:r>
          </a:p>
        </p:txBody>
      </p:sp>
      <p:sp>
        <p:nvSpPr>
          <p:cNvPr id="101" name="RBar1"/>
          <p:cNvSpPr txBox="1">
            <a:spLocks/>
          </p:cNvSpPr>
          <p:nvPr/>
        </p:nvSpPr>
        <p:spPr>
          <a:xfrm>
            <a:off x="2148840" y="4934102"/>
            <a:ext cx="1188720" cy="1375257"/>
          </a:xfrm>
          <a:prstGeom prst="roundRect">
            <a:avLst>
              <a:gd name="adj" fmla="val 20000"/>
            </a:avLst>
          </a:prstGeom>
          <a:solidFill>
            <a:srgbClr val="1C2B4A"/>
          </a:solidFill>
          <a:ln>
            <a:solidFill>
              <a:srgbClr val="1C2B4A"/>
            </a:solidFill>
          </a:ln>
        </p:spPr>
      </p:sp>
      <p:sp>
        <p:nvSpPr>
          <p:cNvPr id="111" name="RLbl1"/>
          <p:cNvSpPr txBox="1">
            <a:spLocks/>
          </p:cNvSpPr>
          <p:nvPr/>
        </p:nvSpPr>
        <p:spPr>
          <a:xfrm>
            <a:off x="2160270" y="4641634"/>
            <a:ext cx="1188720" cy="347472"/>
          </a:xfrm>
          <a:prstGeom prst="rect">
            <a:avLst/>
          </a:prstGeom>
          <a:noFill/>
          <a:ln>
            <a:noFill/>
          </a:ln>
        </p:spPr>
        <p:txBody>
          <a:bodyPr spcFirstLastPara="0" wrap="square" lIns="91425" tIns="45700" rIns="91425" bIns="45700" anchor="ctr" anchorCtr="0">
            <a:normAutofit/>
          </a:bodyPr>
          <a:lstStyle/>
          <a:p>
            <a:pPr marL="0" indent="0" algn="ctr">
              <a:lnSpc>
                <a:spcPct val="90000"/>
              </a:lnSpc>
              <a:spcBef>
                <a:spcPts val="200"/>
              </a:spcBef>
              <a:spcAft>
                <a:spcPts val="0"/>
              </a:spcAft>
              <a:buNone/>
            </a:pPr>
            <a:r>
              <a:rPr lang="en-US" sz="1700" b="1" dirty="0">
                <a:solidFill>
                  <a:srgbClr val="1C2B4A"/>
                </a:solidFill>
                <a:latin typeface="Calibri"/>
                <a:ea typeface="Calibri"/>
                <a:cs typeface="Calibri"/>
                <a:sym typeface="Calibri"/>
              </a:rPr>
              <a:t>0.94</a:t>
            </a:r>
          </a:p>
        </p:txBody>
      </p:sp>
      <p:sp>
        <p:nvSpPr>
          <p:cNvPr id="121" name="RMdl1"/>
          <p:cNvSpPr txBox="1">
            <a:spLocks/>
          </p:cNvSpPr>
          <p:nvPr/>
        </p:nvSpPr>
        <p:spPr>
          <a:xfrm>
            <a:off x="2103120" y="6240780"/>
            <a:ext cx="1280160" cy="502920"/>
          </a:xfrm>
          <a:prstGeom prst="rect">
            <a:avLst/>
          </a:prstGeom>
          <a:noFill/>
          <a:ln>
            <a:noFill/>
          </a:ln>
        </p:spPr>
        <p:txBody>
          <a:bodyPr spcFirstLastPara="0" wrap="square" lIns="91425" tIns="45700" rIns="91425" bIns="45700" anchor="ctr" anchorCtr="0">
            <a:normAutofit/>
          </a:bodyPr>
          <a:lstStyle/>
          <a:p>
            <a:pPr marL="0" indent="0" algn="ctr">
              <a:lnSpc>
                <a:spcPct val="90000"/>
              </a:lnSpc>
              <a:spcBef>
                <a:spcPts val="200"/>
              </a:spcBef>
              <a:spcAft>
                <a:spcPts val="0"/>
              </a:spcAft>
              <a:buNone/>
            </a:pPr>
            <a:r>
              <a:rPr lang="en-US" sz="1300" b="0" dirty="0">
                <a:solidFill>
                  <a:srgbClr val="1A2535"/>
                </a:solidFill>
                <a:latin typeface="Calibri"/>
                <a:ea typeface="Calibri"/>
                <a:cs typeface="Calibri"/>
                <a:sym typeface="Calibri"/>
              </a:rPr>
              <a:t>Random
Forest</a:t>
            </a:r>
          </a:p>
        </p:txBody>
      </p:sp>
      <p:sp>
        <p:nvSpPr>
          <p:cNvPr id="102" name="RBar2"/>
          <p:cNvSpPr txBox="1">
            <a:spLocks/>
          </p:cNvSpPr>
          <p:nvPr/>
        </p:nvSpPr>
        <p:spPr>
          <a:xfrm>
            <a:off x="3840480" y="4934102"/>
            <a:ext cx="1188720" cy="1375257"/>
          </a:xfrm>
          <a:prstGeom prst="roundRect">
            <a:avLst>
              <a:gd name="adj" fmla="val 20000"/>
            </a:avLst>
          </a:prstGeom>
          <a:solidFill>
            <a:srgbClr val="8B0000"/>
          </a:solidFill>
          <a:ln>
            <a:solidFill>
              <a:srgbClr val="8B0000"/>
            </a:solidFill>
          </a:ln>
        </p:spPr>
      </p:sp>
      <p:sp>
        <p:nvSpPr>
          <p:cNvPr id="112" name="RLbl2"/>
          <p:cNvSpPr txBox="1">
            <a:spLocks/>
          </p:cNvSpPr>
          <p:nvPr/>
        </p:nvSpPr>
        <p:spPr>
          <a:xfrm>
            <a:off x="3794760" y="4656196"/>
            <a:ext cx="1188720" cy="347472"/>
          </a:xfrm>
          <a:prstGeom prst="rect">
            <a:avLst/>
          </a:prstGeom>
          <a:noFill/>
          <a:ln>
            <a:noFill/>
          </a:ln>
        </p:spPr>
        <p:txBody>
          <a:bodyPr spcFirstLastPara="0" wrap="square" lIns="91425" tIns="45700" rIns="91425" bIns="45700" anchor="ctr" anchorCtr="0">
            <a:normAutofit/>
          </a:bodyPr>
          <a:lstStyle/>
          <a:p>
            <a:pPr marL="0" indent="0" algn="ctr">
              <a:lnSpc>
                <a:spcPct val="90000"/>
              </a:lnSpc>
              <a:spcBef>
                <a:spcPts val="200"/>
              </a:spcBef>
              <a:spcAft>
                <a:spcPts val="0"/>
              </a:spcAft>
              <a:buNone/>
            </a:pPr>
            <a:r>
              <a:rPr lang="en-US" sz="1700" b="1" dirty="0">
                <a:solidFill>
                  <a:srgbClr val="8B0000"/>
                </a:solidFill>
                <a:latin typeface="Calibri"/>
                <a:ea typeface="Calibri"/>
                <a:cs typeface="Calibri"/>
                <a:sym typeface="Calibri"/>
              </a:rPr>
              <a:t>0.94</a:t>
            </a:r>
          </a:p>
        </p:txBody>
      </p:sp>
      <p:sp>
        <p:nvSpPr>
          <p:cNvPr id="122" name="RMdl2"/>
          <p:cNvSpPr txBox="1">
            <a:spLocks/>
          </p:cNvSpPr>
          <p:nvPr/>
        </p:nvSpPr>
        <p:spPr>
          <a:xfrm>
            <a:off x="3808124" y="6253089"/>
            <a:ext cx="1280160" cy="502920"/>
          </a:xfrm>
          <a:prstGeom prst="rect">
            <a:avLst/>
          </a:prstGeom>
          <a:noFill/>
          <a:ln>
            <a:noFill/>
          </a:ln>
        </p:spPr>
        <p:txBody>
          <a:bodyPr spcFirstLastPara="0" wrap="square" lIns="91425" tIns="45700" rIns="91425" bIns="45700" anchor="ctr" anchorCtr="0">
            <a:normAutofit/>
          </a:bodyPr>
          <a:lstStyle/>
          <a:p>
            <a:pPr marL="0" indent="0" algn="ctr">
              <a:lnSpc>
                <a:spcPct val="90000"/>
              </a:lnSpc>
              <a:spcBef>
                <a:spcPts val="200"/>
              </a:spcBef>
              <a:spcAft>
                <a:spcPts val="0"/>
              </a:spcAft>
              <a:buNone/>
            </a:pPr>
            <a:r>
              <a:rPr lang="en-US" sz="1300" b="0" dirty="0">
                <a:solidFill>
                  <a:srgbClr val="1A2535"/>
                </a:solidFill>
                <a:latin typeface="Calibri"/>
                <a:ea typeface="Calibri"/>
                <a:cs typeface="Calibri"/>
                <a:sym typeface="Calibri"/>
              </a:rPr>
              <a:t>XGBoost
(Proposed)</a:t>
            </a:r>
          </a:p>
        </p:txBody>
      </p:sp>
      <p:sp>
        <p:nvSpPr>
          <p:cNvPr id="2" name="F1Label"/>
          <p:cNvSpPr txBox="1">
            <a:spLocks/>
          </p:cNvSpPr>
          <p:nvPr/>
        </p:nvSpPr>
        <p:spPr>
          <a:xfrm>
            <a:off x="6094476" y="4536621"/>
            <a:ext cx="4114800" cy="347472"/>
          </a:xfrm>
          <a:prstGeom prst="rect">
            <a:avLst/>
          </a:prstGeom>
          <a:noFill/>
          <a:ln>
            <a:noFill/>
          </a:ln>
        </p:spPr>
        <p:txBody>
          <a:bodyPr spcFirstLastPara="0" wrap="square" lIns="91425" tIns="45700" rIns="91425" bIns="45700" anchor="ctr" anchorCtr="0">
            <a:normAutofit/>
          </a:bodyPr>
          <a:lstStyle/>
          <a:p>
            <a:pPr marL="0" indent="0" algn="l">
              <a:lnSpc>
                <a:spcPct val="90000"/>
              </a:lnSpc>
              <a:spcBef>
                <a:spcPts val="200"/>
              </a:spcBef>
              <a:spcAft>
                <a:spcPts val="0"/>
              </a:spcAft>
              <a:buNone/>
            </a:pPr>
            <a:r>
              <a:rPr lang="en-US" sz="1600" b="1" dirty="0">
                <a:solidFill>
                  <a:srgbClr val="1C2B4A"/>
                </a:solidFill>
                <a:latin typeface="Calibri"/>
                <a:ea typeface="Calibri"/>
                <a:cs typeface="Calibri"/>
                <a:sym typeface="Calibri"/>
              </a:rPr>
              <a:t>At-Risk F1 Comparison</a:t>
            </a:r>
          </a:p>
        </p:txBody>
      </p:sp>
      <p:sp>
        <p:nvSpPr>
          <p:cNvPr id="130" name="F1Bar0"/>
          <p:cNvSpPr txBox="1">
            <a:spLocks/>
          </p:cNvSpPr>
          <p:nvPr/>
        </p:nvSpPr>
        <p:spPr>
          <a:xfrm>
            <a:off x="6263640" y="6091660"/>
            <a:ext cx="1188720" cy="146304"/>
          </a:xfrm>
          <a:prstGeom prst="roundRect">
            <a:avLst>
              <a:gd name="adj" fmla="val 20000"/>
            </a:avLst>
          </a:prstGeom>
          <a:solidFill>
            <a:srgbClr val="8A9BB0"/>
          </a:solidFill>
          <a:ln>
            <a:solidFill>
              <a:srgbClr val="8A9BB0"/>
            </a:solidFill>
          </a:ln>
        </p:spPr>
        <p:txBody>
          <a:bodyPr/>
          <a:lstStyle/>
          <a:p>
            <a:endParaRPr lang="en-IN" dirty="0"/>
          </a:p>
        </p:txBody>
      </p:sp>
      <p:sp>
        <p:nvSpPr>
          <p:cNvPr id="140" name="F1Lbl0"/>
          <p:cNvSpPr txBox="1">
            <a:spLocks/>
          </p:cNvSpPr>
          <p:nvPr/>
        </p:nvSpPr>
        <p:spPr>
          <a:xfrm>
            <a:off x="6287402" y="5817412"/>
            <a:ext cx="1188720" cy="347472"/>
          </a:xfrm>
          <a:prstGeom prst="rect">
            <a:avLst/>
          </a:prstGeom>
          <a:noFill/>
          <a:ln>
            <a:noFill/>
          </a:ln>
        </p:spPr>
        <p:txBody>
          <a:bodyPr spcFirstLastPara="0" wrap="square" lIns="91425" tIns="45700" rIns="91425" bIns="45700" anchor="ctr" anchorCtr="0">
            <a:normAutofit/>
          </a:bodyPr>
          <a:lstStyle/>
          <a:p>
            <a:pPr marL="0" indent="0" algn="ctr">
              <a:lnSpc>
                <a:spcPct val="90000"/>
              </a:lnSpc>
              <a:spcBef>
                <a:spcPts val="200"/>
              </a:spcBef>
              <a:spcAft>
                <a:spcPts val="0"/>
              </a:spcAft>
              <a:buNone/>
            </a:pPr>
            <a:r>
              <a:rPr lang="en-US" sz="1700" b="1" dirty="0">
                <a:solidFill>
                  <a:srgbClr val="8A9BB0"/>
                </a:solidFill>
                <a:latin typeface="Calibri"/>
                <a:ea typeface="Calibri"/>
                <a:cs typeface="Calibri"/>
                <a:sym typeface="Calibri"/>
              </a:rPr>
              <a:t>0.92</a:t>
            </a:r>
          </a:p>
        </p:txBody>
      </p:sp>
      <p:sp>
        <p:nvSpPr>
          <p:cNvPr id="150" name="F1Mdl0"/>
          <p:cNvSpPr txBox="1">
            <a:spLocks/>
          </p:cNvSpPr>
          <p:nvPr/>
        </p:nvSpPr>
        <p:spPr>
          <a:xfrm>
            <a:off x="6245243" y="6213348"/>
            <a:ext cx="1280160" cy="502920"/>
          </a:xfrm>
          <a:prstGeom prst="rect">
            <a:avLst/>
          </a:prstGeom>
          <a:noFill/>
          <a:ln>
            <a:noFill/>
          </a:ln>
        </p:spPr>
        <p:txBody>
          <a:bodyPr spcFirstLastPara="0" wrap="square" lIns="91425" tIns="45700" rIns="91425" bIns="45700" anchor="ctr" anchorCtr="0">
            <a:normAutofit/>
          </a:bodyPr>
          <a:lstStyle/>
          <a:p>
            <a:pPr marL="0" indent="0" algn="ctr">
              <a:lnSpc>
                <a:spcPct val="90000"/>
              </a:lnSpc>
              <a:spcBef>
                <a:spcPts val="200"/>
              </a:spcBef>
              <a:spcAft>
                <a:spcPts val="0"/>
              </a:spcAft>
              <a:buNone/>
            </a:pPr>
            <a:r>
              <a:rPr lang="en-US" sz="1300" b="0" dirty="0">
                <a:solidFill>
                  <a:srgbClr val="1A2535"/>
                </a:solidFill>
                <a:latin typeface="Calibri"/>
                <a:ea typeface="Calibri"/>
                <a:cs typeface="Calibri"/>
                <a:sym typeface="Calibri"/>
              </a:rPr>
              <a:t>Logistic
Regression</a:t>
            </a:r>
          </a:p>
        </p:txBody>
      </p:sp>
      <p:sp>
        <p:nvSpPr>
          <p:cNvPr id="131" name="F1Bar1"/>
          <p:cNvSpPr txBox="1">
            <a:spLocks/>
          </p:cNvSpPr>
          <p:nvPr/>
        </p:nvSpPr>
        <p:spPr>
          <a:xfrm>
            <a:off x="7738989" y="5993892"/>
            <a:ext cx="1188720" cy="219456"/>
          </a:xfrm>
          <a:prstGeom prst="roundRect">
            <a:avLst>
              <a:gd name="adj" fmla="val 20000"/>
            </a:avLst>
          </a:prstGeom>
          <a:solidFill>
            <a:srgbClr val="1C2B4A"/>
          </a:solidFill>
          <a:ln>
            <a:solidFill>
              <a:srgbClr val="1C2B4A"/>
            </a:solidFill>
          </a:ln>
        </p:spPr>
      </p:sp>
      <p:sp>
        <p:nvSpPr>
          <p:cNvPr id="141" name="F1Lbl1"/>
          <p:cNvSpPr txBox="1">
            <a:spLocks/>
          </p:cNvSpPr>
          <p:nvPr/>
        </p:nvSpPr>
        <p:spPr>
          <a:xfrm>
            <a:off x="7772400" y="5643676"/>
            <a:ext cx="1188720" cy="347472"/>
          </a:xfrm>
          <a:prstGeom prst="rect">
            <a:avLst/>
          </a:prstGeom>
          <a:noFill/>
          <a:ln>
            <a:noFill/>
          </a:ln>
        </p:spPr>
        <p:txBody>
          <a:bodyPr spcFirstLastPara="0" wrap="square" lIns="91425" tIns="45700" rIns="91425" bIns="45700" anchor="ctr" anchorCtr="0">
            <a:normAutofit/>
          </a:bodyPr>
          <a:lstStyle/>
          <a:p>
            <a:pPr marL="0" indent="0" algn="ctr">
              <a:lnSpc>
                <a:spcPct val="90000"/>
              </a:lnSpc>
              <a:spcBef>
                <a:spcPts val="200"/>
              </a:spcBef>
              <a:spcAft>
                <a:spcPts val="0"/>
              </a:spcAft>
              <a:buNone/>
            </a:pPr>
            <a:r>
              <a:rPr lang="en-US" sz="1700" b="1" dirty="0">
                <a:solidFill>
                  <a:srgbClr val="1C2B4A"/>
                </a:solidFill>
                <a:latin typeface="Calibri"/>
                <a:ea typeface="Calibri"/>
                <a:cs typeface="Calibri"/>
                <a:sym typeface="Calibri"/>
              </a:rPr>
              <a:t>0.93</a:t>
            </a:r>
          </a:p>
        </p:txBody>
      </p:sp>
      <p:sp>
        <p:nvSpPr>
          <p:cNvPr id="151" name="F1Mdl1"/>
          <p:cNvSpPr txBox="1">
            <a:spLocks/>
          </p:cNvSpPr>
          <p:nvPr/>
        </p:nvSpPr>
        <p:spPr>
          <a:xfrm>
            <a:off x="7695072" y="6213348"/>
            <a:ext cx="1280160" cy="502920"/>
          </a:xfrm>
          <a:prstGeom prst="rect">
            <a:avLst/>
          </a:prstGeom>
          <a:noFill/>
          <a:ln>
            <a:noFill/>
          </a:ln>
        </p:spPr>
        <p:txBody>
          <a:bodyPr spcFirstLastPara="0" wrap="square" lIns="91425" tIns="45700" rIns="91425" bIns="45700" anchor="ctr" anchorCtr="0">
            <a:normAutofit/>
          </a:bodyPr>
          <a:lstStyle/>
          <a:p>
            <a:pPr marL="0" indent="0" algn="ctr">
              <a:lnSpc>
                <a:spcPct val="90000"/>
              </a:lnSpc>
              <a:spcBef>
                <a:spcPts val="200"/>
              </a:spcBef>
              <a:spcAft>
                <a:spcPts val="0"/>
              </a:spcAft>
              <a:buNone/>
            </a:pPr>
            <a:r>
              <a:rPr lang="en-US" sz="1300" b="0" dirty="0">
                <a:solidFill>
                  <a:srgbClr val="1A2535"/>
                </a:solidFill>
                <a:latin typeface="Calibri"/>
                <a:ea typeface="Calibri"/>
                <a:cs typeface="Calibri"/>
                <a:sym typeface="Calibri"/>
              </a:rPr>
              <a:t>Random
Forest</a:t>
            </a:r>
          </a:p>
        </p:txBody>
      </p:sp>
      <p:sp>
        <p:nvSpPr>
          <p:cNvPr id="132" name="F1Bar2"/>
          <p:cNvSpPr txBox="1">
            <a:spLocks/>
          </p:cNvSpPr>
          <p:nvPr/>
        </p:nvSpPr>
        <p:spPr>
          <a:xfrm>
            <a:off x="9372600" y="5843016"/>
            <a:ext cx="1188720" cy="292607"/>
          </a:xfrm>
          <a:prstGeom prst="roundRect">
            <a:avLst>
              <a:gd name="adj" fmla="val 20000"/>
            </a:avLst>
          </a:prstGeom>
          <a:solidFill>
            <a:srgbClr val="8B0000"/>
          </a:solidFill>
          <a:ln>
            <a:solidFill>
              <a:srgbClr val="8B0000"/>
            </a:solidFill>
          </a:ln>
        </p:spPr>
      </p:sp>
      <p:sp>
        <p:nvSpPr>
          <p:cNvPr id="142" name="F1Lbl2"/>
          <p:cNvSpPr txBox="1">
            <a:spLocks/>
          </p:cNvSpPr>
          <p:nvPr/>
        </p:nvSpPr>
        <p:spPr>
          <a:xfrm>
            <a:off x="9339189" y="5552164"/>
            <a:ext cx="1188720" cy="347472"/>
          </a:xfrm>
          <a:prstGeom prst="rect">
            <a:avLst/>
          </a:prstGeom>
          <a:noFill/>
          <a:ln>
            <a:noFill/>
          </a:ln>
        </p:spPr>
        <p:txBody>
          <a:bodyPr spcFirstLastPara="0" wrap="square" lIns="91425" tIns="45700" rIns="91425" bIns="45700" anchor="ctr" anchorCtr="0">
            <a:normAutofit/>
          </a:bodyPr>
          <a:lstStyle/>
          <a:p>
            <a:pPr marL="0" indent="0" algn="ctr">
              <a:lnSpc>
                <a:spcPct val="90000"/>
              </a:lnSpc>
              <a:spcBef>
                <a:spcPts val="200"/>
              </a:spcBef>
              <a:spcAft>
                <a:spcPts val="0"/>
              </a:spcAft>
              <a:buNone/>
            </a:pPr>
            <a:r>
              <a:rPr lang="en-US" sz="1700" b="1" dirty="0">
                <a:solidFill>
                  <a:srgbClr val="8B0000"/>
                </a:solidFill>
                <a:latin typeface="Calibri"/>
                <a:ea typeface="Calibri"/>
                <a:cs typeface="Calibri"/>
                <a:sym typeface="Calibri"/>
              </a:rPr>
              <a:t>0.94</a:t>
            </a:r>
          </a:p>
        </p:txBody>
      </p:sp>
      <p:sp>
        <p:nvSpPr>
          <p:cNvPr id="152" name="F1Mdl2"/>
          <p:cNvSpPr txBox="1">
            <a:spLocks/>
          </p:cNvSpPr>
          <p:nvPr/>
        </p:nvSpPr>
        <p:spPr>
          <a:xfrm>
            <a:off x="9314571" y="6115927"/>
            <a:ext cx="1280160" cy="502920"/>
          </a:xfrm>
          <a:prstGeom prst="rect">
            <a:avLst/>
          </a:prstGeom>
          <a:noFill/>
          <a:ln>
            <a:noFill/>
          </a:ln>
        </p:spPr>
        <p:txBody>
          <a:bodyPr spcFirstLastPara="0" wrap="square" lIns="91425" tIns="45700" rIns="91425" bIns="45700" anchor="ctr" anchorCtr="0">
            <a:normAutofit/>
          </a:bodyPr>
          <a:lstStyle/>
          <a:p>
            <a:pPr marL="0" indent="0" algn="ctr">
              <a:lnSpc>
                <a:spcPct val="90000"/>
              </a:lnSpc>
              <a:spcBef>
                <a:spcPts val="200"/>
              </a:spcBef>
              <a:spcAft>
                <a:spcPts val="0"/>
              </a:spcAft>
              <a:buNone/>
            </a:pPr>
            <a:r>
              <a:rPr lang="en-US" sz="1300" b="0" dirty="0">
                <a:solidFill>
                  <a:srgbClr val="1A2535"/>
                </a:solidFill>
                <a:latin typeface="Calibri"/>
                <a:ea typeface="Calibri"/>
                <a:cs typeface="Calibri"/>
                <a:sym typeface="Calibri"/>
              </a:rPr>
              <a:t>XGBoost
(Proposed)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Grp"/>
        <p:cNvGrpSpPr/>
        <p:nvPr/>
      </p:nvGrpSpPr>
      <p:grpSpPr>
        <a:xfrm>
          <a:off x="0" y="0"/>
          <a:ext cx="0" cy="0"/>
          <a:chOff x="0" y="0"/>
          <a:chExt cx="0" cy="0"/>
        </a:xfrm>
      </p:grpSpPr>
      <p:sp>
        <p:nvSpPr>
          <p:cNvPr id="10" name="TitleStripe"/>
          <p:cNvSpPr txBox="1">
            <a:spLocks/>
          </p:cNvSpPr>
          <p:nvPr/>
        </p:nvSpPr>
        <p:spPr>
          <a:xfrm>
            <a:off x="280299" y="864108"/>
            <a:ext cx="64008" cy="658368"/>
          </a:xfrm>
          <a:prstGeom prst="rect">
            <a:avLst/>
          </a:prstGeom>
          <a:solidFill>
            <a:srgbClr val="8B0000"/>
          </a:solidFill>
          <a:ln>
            <a:solidFill>
              <a:srgbClr val="8B0000"/>
            </a:solidFill>
          </a:ln>
        </p:spPr>
      </p:sp>
      <p:sp>
        <p:nvSpPr>
          <p:cNvPr id="11" name="Title"/>
          <p:cNvSpPr txBox="1">
            <a:spLocks/>
          </p:cNvSpPr>
          <p:nvPr/>
        </p:nvSpPr>
        <p:spPr>
          <a:xfrm>
            <a:off x="457200" y="818387"/>
            <a:ext cx="11128248" cy="658368"/>
          </a:xfrm>
          <a:prstGeom prst="rect">
            <a:avLst/>
          </a:prstGeom>
          <a:noFill/>
          <a:ln>
            <a:noFill/>
          </a:ln>
        </p:spPr>
        <p:txBody>
          <a:bodyPr spcFirstLastPara="0" wrap="square" lIns="91425" tIns="45700" rIns="91425" bIns="45700" anchor="ctr" anchorCtr="0">
            <a:normAutofit/>
          </a:bodyPr>
          <a:lstStyle/>
          <a:p>
            <a:pPr marL="0" indent="0" algn="l">
              <a:lnSpc>
                <a:spcPct val="90000"/>
              </a:lnSpc>
              <a:spcBef>
                <a:spcPts val="0"/>
              </a:spcBef>
              <a:spcAft>
                <a:spcPts val="0"/>
              </a:spcAft>
              <a:buNone/>
            </a:pPr>
            <a:r>
              <a:rPr lang="en-US" sz="3200" b="1" dirty="0">
                <a:solidFill>
                  <a:srgbClr val="1C2B4A"/>
                </a:solidFill>
                <a:latin typeface="Calibri"/>
                <a:ea typeface="Calibri"/>
                <a:cs typeface="Calibri"/>
                <a:sym typeface="Calibri"/>
              </a:rPr>
              <a:t>Discussion &amp; Applications</a:t>
            </a:r>
          </a:p>
        </p:txBody>
      </p:sp>
      <p:sp>
        <p:nvSpPr>
          <p:cNvPr id="12" name="Divider"/>
          <p:cNvSpPr txBox="1">
            <a:spLocks/>
          </p:cNvSpPr>
          <p:nvPr/>
        </p:nvSpPr>
        <p:spPr>
          <a:xfrm>
            <a:off x="423672" y="1469195"/>
            <a:ext cx="11311128" cy="36576"/>
          </a:xfrm>
          <a:prstGeom prst="rect">
            <a:avLst/>
          </a:prstGeom>
          <a:solidFill>
            <a:srgbClr val="E8ECF0"/>
          </a:solidFill>
          <a:ln>
            <a:solidFill>
              <a:srgbClr val="E8ECF0"/>
            </a:solidFill>
          </a:ln>
        </p:spPr>
      </p:sp>
      <p:sp>
        <p:nvSpPr>
          <p:cNvPr id="20" name="DiscLabel"/>
          <p:cNvSpPr txBox="1">
            <a:spLocks/>
          </p:cNvSpPr>
          <p:nvPr/>
        </p:nvSpPr>
        <p:spPr>
          <a:xfrm>
            <a:off x="344307" y="1481328"/>
            <a:ext cx="5852160" cy="347472"/>
          </a:xfrm>
          <a:prstGeom prst="rect">
            <a:avLst/>
          </a:prstGeom>
          <a:noFill/>
          <a:ln>
            <a:noFill/>
          </a:ln>
        </p:spPr>
        <p:txBody>
          <a:bodyPr spcFirstLastPara="0" wrap="square" lIns="91425" tIns="45700" rIns="91425" bIns="45700" anchor="ctr" anchorCtr="0">
            <a:normAutofit/>
          </a:bodyPr>
          <a:lstStyle/>
          <a:p>
            <a:pPr marL="0" indent="0" algn="l">
              <a:lnSpc>
                <a:spcPct val="90000"/>
              </a:lnSpc>
              <a:spcBef>
                <a:spcPts val="200"/>
              </a:spcBef>
              <a:spcAft>
                <a:spcPts val="0"/>
              </a:spcAft>
              <a:buNone/>
            </a:pPr>
            <a:r>
              <a:rPr lang="en-US" sz="1700" b="1" dirty="0">
                <a:solidFill>
                  <a:srgbClr val="1C2B4A"/>
                </a:solidFill>
                <a:latin typeface="Calibri"/>
                <a:ea typeface="Calibri"/>
                <a:cs typeface="Calibri"/>
                <a:sym typeface="Calibri"/>
              </a:rPr>
              <a:t>Key Discussion Points</a:t>
            </a:r>
          </a:p>
        </p:txBody>
      </p:sp>
      <p:sp>
        <p:nvSpPr>
          <p:cNvPr id="21" name="Disc0"/>
          <p:cNvSpPr txBox="1">
            <a:spLocks/>
          </p:cNvSpPr>
          <p:nvPr/>
        </p:nvSpPr>
        <p:spPr>
          <a:xfrm>
            <a:off x="256032" y="1874519"/>
            <a:ext cx="5852160" cy="1143000"/>
          </a:xfrm>
          <a:prstGeom prst="roundRect">
            <a:avLst>
              <a:gd name="adj" fmla="val 20000"/>
            </a:avLst>
          </a:prstGeom>
          <a:solidFill>
            <a:srgbClr val="8B0000"/>
          </a:solidFill>
          <a:ln>
            <a:solidFill>
              <a:srgbClr val="8B0000"/>
            </a:solidFill>
          </a:ln>
        </p:spPr>
        <p:txBody>
          <a:bodyPr spcFirstLastPara="0" wrap="square" lIns="91425" tIns="45700" rIns="91425" bIns="45700" anchor="t" anchorCtr="0">
            <a:normAutofit/>
          </a:bodyPr>
          <a:lstStyle/>
          <a:p>
            <a:pPr marL="0" indent="0" algn="l">
              <a:lnSpc>
                <a:spcPct val="90000"/>
              </a:lnSpc>
              <a:spcBef>
                <a:spcPts val="0"/>
              </a:spcBef>
              <a:spcAft>
                <a:spcPts val="0"/>
              </a:spcAft>
              <a:buNone/>
            </a:pPr>
            <a:r>
              <a:rPr lang="en-US" sz="1700" b="1" dirty="0">
                <a:solidFill>
                  <a:srgbClr val="C8973A"/>
                </a:solidFill>
                <a:latin typeface="Calibri"/>
                <a:ea typeface="Calibri"/>
                <a:cs typeface="Calibri"/>
                <a:sym typeface="Calibri"/>
              </a:rPr>
              <a:t>59% of importance</a:t>
            </a:r>
          </a:p>
          <a:p>
            <a:pPr marL="0" indent="0" algn="l">
              <a:lnSpc>
                <a:spcPct val="95000"/>
              </a:lnSpc>
              <a:spcBef>
                <a:spcPts val="100"/>
              </a:spcBef>
              <a:spcAft>
                <a:spcPts val="0"/>
              </a:spcAft>
              <a:buNone/>
            </a:pPr>
            <a:r>
              <a:rPr lang="en-US" sz="1500" b="0" dirty="0">
                <a:solidFill>
                  <a:srgbClr val="FFFFFF"/>
                </a:solidFill>
                <a:latin typeface="Calibri"/>
                <a:ea typeface="Calibri"/>
                <a:cs typeface="Calibri"/>
                <a:sym typeface="Calibri"/>
              </a:rPr>
              <a:t>Absences dominate — institutions should prioritize attendance monitoring above all other interventions.</a:t>
            </a:r>
          </a:p>
        </p:txBody>
      </p:sp>
      <p:sp>
        <p:nvSpPr>
          <p:cNvPr id="22" name="Disc1"/>
          <p:cNvSpPr txBox="1">
            <a:spLocks/>
          </p:cNvSpPr>
          <p:nvPr/>
        </p:nvSpPr>
        <p:spPr>
          <a:xfrm>
            <a:off x="256032" y="3154679"/>
            <a:ext cx="5852160" cy="1143000"/>
          </a:xfrm>
          <a:prstGeom prst="roundRect">
            <a:avLst>
              <a:gd name="adj" fmla="val 20000"/>
            </a:avLst>
          </a:prstGeom>
          <a:solidFill>
            <a:srgbClr val="1C2B4A"/>
          </a:solidFill>
          <a:ln>
            <a:solidFill>
              <a:srgbClr val="1C2B4A"/>
            </a:solidFill>
          </a:ln>
        </p:spPr>
        <p:txBody>
          <a:bodyPr spcFirstLastPara="0" wrap="square" lIns="91425" tIns="45700" rIns="91425" bIns="45700" anchor="t" anchorCtr="0">
            <a:normAutofit/>
          </a:bodyPr>
          <a:lstStyle/>
          <a:p>
            <a:pPr marL="0" indent="0" algn="l">
              <a:lnSpc>
                <a:spcPct val="90000"/>
              </a:lnSpc>
              <a:spcBef>
                <a:spcPts val="0"/>
              </a:spcBef>
              <a:spcAft>
                <a:spcPts val="0"/>
              </a:spcAft>
              <a:buNone/>
            </a:pPr>
            <a:r>
              <a:rPr lang="en-US" sz="1700" b="1" dirty="0">
                <a:solidFill>
                  <a:srgbClr val="C8973A"/>
                </a:solidFill>
                <a:latin typeface="Calibri"/>
                <a:ea typeface="Calibri"/>
                <a:cs typeface="Calibri"/>
                <a:sym typeface="Calibri"/>
              </a:rPr>
              <a:t>Modifiable behaviors</a:t>
            </a:r>
          </a:p>
          <a:p>
            <a:pPr marL="0" indent="0" algn="l">
              <a:lnSpc>
                <a:spcPct val="95000"/>
              </a:lnSpc>
              <a:spcBef>
                <a:spcPts val="100"/>
              </a:spcBef>
              <a:spcAft>
                <a:spcPts val="0"/>
              </a:spcAft>
              <a:buNone/>
            </a:pPr>
            <a:r>
              <a:rPr lang="en-US" sz="1500" b="0" dirty="0">
                <a:solidFill>
                  <a:srgbClr val="FFFFFF"/>
                </a:solidFill>
                <a:latin typeface="Calibri"/>
                <a:ea typeface="Calibri"/>
                <a:cs typeface="Calibri"/>
                <a:sym typeface="Calibri"/>
              </a:rPr>
              <a:t>Risk is driven by attendance &amp; study time — not demographics. Explanations are actionable and specific.</a:t>
            </a:r>
          </a:p>
        </p:txBody>
      </p:sp>
      <p:sp>
        <p:nvSpPr>
          <p:cNvPr id="23" name="Disc2"/>
          <p:cNvSpPr txBox="1">
            <a:spLocks/>
          </p:cNvSpPr>
          <p:nvPr/>
        </p:nvSpPr>
        <p:spPr>
          <a:xfrm>
            <a:off x="256032" y="4434840"/>
            <a:ext cx="5852160" cy="1143000"/>
          </a:xfrm>
          <a:prstGeom prst="roundRect">
            <a:avLst>
              <a:gd name="adj" fmla="val 20000"/>
            </a:avLst>
          </a:prstGeom>
          <a:solidFill>
            <a:srgbClr val="1A6B7C"/>
          </a:solidFill>
          <a:ln>
            <a:solidFill>
              <a:srgbClr val="1A6B7C"/>
            </a:solidFill>
          </a:ln>
        </p:spPr>
        <p:txBody>
          <a:bodyPr spcFirstLastPara="0" wrap="square" lIns="91425" tIns="45700" rIns="91425" bIns="45700" anchor="t" anchorCtr="0">
            <a:normAutofit/>
          </a:bodyPr>
          <a:lstStyle/>
          <a:p>
            <a:pPr marL="0" indent="0" algn="l">
              <a:lnSpc>
                <a:spcPct val="90000"/>
              </a:lnSpc>
              <a:spcBef>
                <a:spcPts val="0"/>
              </a:spcBef>
              <a:spcAft>
                <a:spcPts val="0"/>
              </a:spcAft>
              <a:buNone/>
            </a:pPr>
            <a:r>
              <a:rPr lang="en-US" sz="1700" b="1" dirty="0">
                <a:solidFill>
                  <a:srgbClr val="C8973A"/>
                </a:solidFill>
                <a:latin typeface="Calibri"/>
                <a:ea typeface="Calibri"/>
                <a:cs typeface="Calibri"/>
                <a:sym typeface="Calibri"/>
              </a:rPr>
              <a:t>Closes the gap</a:t>
            </a:r>
          </a:p>
          <a:p>
            <a:pPr marL="0" indent="0" algn="l">
              <a:lnSpc>
                <a:spcPct val="95000"/>
              </a:lnSpc>
              <a:spcBef>
                <a:spcPts val="100"/>
              </a:spcBef>
              <a:spcAft>
                <a:spcPts val="0"/>
              </a:spcAft>
              <a:buNone/>
            </a:pPr>
            <a:r>
              <a:rPr lang="en-US" sz="1500" b="0" dirty="0">
                <a:solidFill>
                  <a:srgbClr val="FFFFFF"/>
                </a:solidFill>
                <a:latin typeface="Calibri"/>
                <a:ea typeface="Calibri"/>
                <a:cs typeface="Calibri"/>
                <a:sym typeface="Calibri"/>
              </a:rPr>
              <a:t>Frontiers in Education explicitly identified this deployment gap. This system is the first to close it.</a:t>
            </a:r>
          </a:p>
        </p:txBody>
      </p:sp>
      <p:sp>
        <p:nvSpPr>
          <p:cNvPr id="30" name="AppLabel"/>
          <p:cNvSpPr txBox="1">
            <a:spLocks/>
          </p:cNvSpPr>
          <p:nvPr/>
        </p:nvSpPr>
        <p:spPr>
          <a:xfrm>
            <a:off x="6382512" y="1481328"/>
            <a:ext cx="5550408" cy="347472"/>
          </a:xfrm>
          <a:prstGeom prst="rect">
            <a:avLst/>
          </a:prstGeom>
          <a:noFill/>
          <a:ln>
            <a:noFill/>
          </a:ln>
        </p:spPr>
        <p:txBody>
          <a:bodyPr spcFirstLastPara="0" wrap="square" lIns="91425" tIns="45700" rIns="91425" bIns="45700" anchor="ctr" anchorCtr="0">
            <a:normAutofit/>
          </a:bodyPr>
          <a:lstStyle/>
          <a:p>
            <a:pPr marL="0" indent="0" algn="l">
              <a:lnSpc>
                <a:spcPct val="90000"/>
              </a:lnSpc>
              <a:spcBef>
                <a:spcPts val="200"/>
              </a:spcBef>
              <a:spcAft>
                <a:spcPts val="0"/>
              </a:spcAft>
              <a:buNone/>
            </a:pPr>
            <a:r>
              <a:rPr lang="en-US" sz="1700" b="1" dirty="0">
                <a:solidFill>
                  <a:srgbClr val="1C2B4A"/>
                </a:solidFill>
                <a:latin typeface="Calibri"/>
                <a:ea typeface="Calibri"/>
                <a:cs typeface="Calibri"/>
                <a:sym typeface="Calibri"/>
              </a:rPr>
              <a:t>Stakeholder Applications</a:t>
            </a:r>
          </a:p>
        </p:txBody>
      </p:sp>
      <p:sp>
        <p:nvSpPr>
          <p:cNvPr id="31" name="App0"/>
          <p:cNvSpPr txBox="1">
            <a:spLocks/>
          </p:cNvSpPr>
          <p:nvPr/>
        </p:nvSpPr>
        <p:spPr>
          <a:xfrm>
            <a:off x="6382512" y="1874519"/>
            <a:ext cx="5550408" cy="960120"/>
          </a:xfrm>
          <a:prstGeom prst="roundRect">
            <a:avLst>
              <a:gd name="adj" fmla="val 20000"/>
            </a:avLst>
          </a:prstGeom>
          <a:solidFill>
            <a:srgbClr val="1C2B4A"/>
          </a:solidFill>
          <a:ln>
            <a:solidFill>
              <a:srgbClr val="1C2B4A"/>
            </a:solidFill>
          </a:ln>
        </p:spPr>
        <p:txBody>
          <a:bodyPr spcFirstLastPara="0" wrap="square" lIns="45720" tIns="45720" rIns="45720" bIns="45720" anchor="ctr" anchorCtr="0">
            <a:normAutofit/>
          </a:bodyPr>
          <a:lstStyle/>
          <a:p>
            <a:pPr marL="0" indent="0" algn="l">
              <a:lnSpc>
                <a:spcPct val="90000"/>
              </a:lnSpc>
              <a:spcBef>
                <a:spcPts val="0"/>
              </a:spcBef>
              <a:spcAft>
                <a:spcPts val="0"/>
              </a:spcAft>
              <a:buNone/>
            </a:pPr>
            <a:r>
              <a:rPr lang="en-US" sz="1700" b="1" dirty="0">
                <a:solidFill>
                  <a:srgbClr val="C8973A"/>
                </a:solidFill>
                <a:latin typeface="Calibri"/>
                <a:ea typeface="Calibri"/>
                <a:cs typeface="Calibri"/>
                <a:sym typeface="Calibri"/>
              </a:rPr>
              <a:t>Teachers</a:t>
            </a:r>
          </a:p>
          <a:p>
            <a:pPr marL="0" indent="0" algn="l">
              <a:lnSpc>
                <a:spcPct val="95000"/>
              </a:lnSpc>
              <a:spcBef>
                <a:spcPts val="80"/>
              </a:spcBef>
              <a:spcAft>
                <a:spcPts val="0"/>
              </a:spcAft>
              <a:buNone/>
            </a:pPr>
            <a:r>
              <a:rPr lang="en-US" sz="1450" b="0" dirty="0">
                <a:solidFill>
                  <a:srgbClr val="FFFFFF"/>
                </a:solidFill>
                <a:latin typeface="Calibri"/>
                <a:ea typeface="Calibri"/>
                <a:cs typeface="Calibri"/>
                <a:sym typeface="Calibri"/>
              </a:rPr>
              <a:t>Identify at-risk students before exams; understand the specific reason</a:t>
            </a:r>
          </a:p>
        </p:txBody>
      </p:sp>
      <p:sp>
        <p:nvSpPr>
          <p:cNvPr id="32" name="App1"/>
          <p:cNvSpPr txBox="1">
            <a:spLocks/>
          </p:cNvSpPr>
          <p:nvPr/>
        </p:nvSpPr>
        <p:spPr>
          <a:xfrm>
            <a:off x="6382512" y="2971800"/>
            <a:ext cx="5550408" cy="960120"/>
          </a:xfrm>
          <a:prstGeom prst="roundRect">
            <a:avLst>
              <a:gd name="adj" fmla="val 20000"/>
            </a:avLst>
          </a:prstGeom>
          <a:solidFill>
            <a:srgbClr val="8B0000"/>
          </a:solidFill>
          <a:ln>
            <a:solidFill>
              <a:srgbClr val="8B0000"/>
            </a:solidFill>
          </a:ln>
        </p:spPr>
        <p:txBody>
          <a:bodyPr spcFirstLastPara="0" wrap="square" lIns="45720" tIns="45720" rIns="45720" bIns="45720" anchor="ctr" anchorCtr="0">
            <a:normAutofit/>
          </a:bodyPr>
          <a:lstStyle/>
          <a:p>
            <a:pPr marL="0" indent="0" algn="l">
              <a:lnSpc>
                <a:spcPct val="90000"/>
              </a:lnSpc>
              <a:spcBef>
                <a:spcPts val="0"/>
              </a:spcBef>
              <a:spcAft>
                <a:spcPts val="0"/>
              </a:spcAft>
              <a:buNone/>
            </a:pPr>
            <a:r>
              <a:rPr lang="en-US" sz="1700" b="1" dirty="0">
                <a:solidFill>
                  <a:srgbClr val="C8973A"/>
                </a:solidFill>
                <a:latin typeface="Calibri"/>
                <a:ea typeface="Calibri"/>
                <a:cs typeface="Calibri"/>
                <a:sym typeface="Calibri"/>
              </a:rPr>
              <a:t>Counselors</a:t>
            </a:r>
          </a:p>
          <a:p>
            <a:pPr marL="0" indent="0" algn="l">
              <a:lnSpc>
                <a:spcPct val="95000"/>
              </a:lnSpc>
              <a:spcBef>
                <a:spcPts val="80"/>
              </a:spcBef>
              <a:spcAft>
                <a:spcPts val="0"/>
              </a:spcAft>
              <a:buNone/>
            </a:pPr>
            <a:r>
              <a:rPr lang="en-US" sz="1450" b="0" dirty="0">
                <a:solidFill>
                  <a:srgbClr val="FFFFFF"/>
                </a:solidFill>
                <a:latin typeface="Calibri"/>
                <a:ea typeface="Calibri"/>
                <a:cs typeface="Calibri"/>
                <a:sym typeface="Calibri"/>
              </a:rPr>
              <a:t>Prioritize sessions based on SHAP — attendance vs. family factors</a:t>
            </a:r>
          </a:p>
        </p:txBody>
      </p:sp>
      <p:sp>
        <p:nvSpPr>
          <p:cNvPr id="33" name="App2"/>
          <p:cNvSpPr txBox="1">
            <a:spLocks/>
          </p:cNvSpPr>
          <p:nvPr/>
        </p:nvSpPr>
        <p:spPr>
          <a:xfrm>
            <a:off x="6382512" y="4069079"/>
            <a:ext cx="5550408" cy="960120"/>
          </a:xfrm>
          <a:prstGeom prst="roundRect">
            <a:avLst>
              <a:gd name="adj" fmla="val 20000"/>
            </a:avLst>
          </a:prstGeom>
          <a:solidFill>
            <a:srgbClr val="1A6B7C"/>
          </a:solidFill>
          <a:ln>
            <a:solidFill>
              <a:srgbClr val="1A6B7C"/>
            </a:solidFill>
          </a:ln>
        </p:spPr>
        <p:txBody>
          <a:bodyPr spcFirstLastPara="0" wrap="square" lIns="45720" tIns="45720" rIns="45720" bIns="45720" anchor="ctr" anchorCtr="0">
            <a:normAutofit/>
          </a:bodyPr>
          <a:lstStyle/>
          <a:p>
            <a:pPr marL="0" indent="0" algn="l">
              <a:lnSpc>
                <a:spcPct val="90000"/>
              </a:lnSpc>
              <a:spcBef>
                <a:spcPts val="0"/>
              </a:spcBef>
              <a:spcAft>
                <a:spcPts val="0"/>
              </a:spcAft>
              <a:buNone/>
            </a:pPr>
            <a:r>
              <a:rPr lang="en-US" sz="1700" b="1" dirty="0">
                <a:solidFill>
                  <a:srgbClr val="C8973A"/>
                </a:solidFill>
                <a:latin typeface="Calibri"/>
                <a:ea typeface="Calibri"/>
                <a:cs typeface="Calibri"/>
                <a:sym typeface="Calibri"/>
              </a:rPr>
              <a:t>Parents</a:t>
            </a:r>
          </a:p>
          <a:p>
            <a:pPr marL="0" indent="0" algn="l">
              <a:lnSpc>
                <a:spcPct val="95000"/>
              </a:lnSpc>
              <a:spcBef>
                <a:spcPts val="80"/>
              </a:spcBef>
              <a:spcAft>
                <a:spcPts val="0"/>
              </a:spcAft>
              <a:buNone/>
            </a:pPr>
            <a:r>
              <a:rPr lang="en-US" sz="1450" b="0" dirty="0">
                <a:solidFill>
                  <a:srgbClr val="FFFFFF"/>
                </a:solidFill>
                <a:latin typeface="Calibri"/>
                <a:ea typeface="Calibri"/>
                <a:cs typeface="Calibri"/>
                <a:sym typeface="Calibri"/>
              </a:rPr>
              <a:t>Waterfall converts vague concern into specific actionable conversation</a:t>
            </a:r>
          </a:p>
        </p:txBody>
      </p:sp>
      <p:sp>
        <p:nvSpPr>
          <p:cNvPr id="34" name="App3"/>
          <p:cNvSpPr txBox="1">
            <a:spLocks/>
          </p:cNvSpPr>
          <p:nvPr/>
        </p:nvSpPr>
        <p:spPr>
          <a:xfrm>
            <a:off x="6382512" y="5166359"/>
            <a:ext cx="5550408" cy="960120"/>
          </a:xfrm>
          <a:prstGeom prst="roundRect">
            <a:avLst>
              <a:gd name="adj" fmla="val 20000"/>
            </a:avLst>
          </a:prstGeom>
          <a:solidFill>
            <a:srgbClr val="5A4A8A"/>
          </a:solidFill>
          <a:ln>
            <a:solidFill>
              <a:srgbClr val="5A4A8A"/>
            </a:solidFill>
          </a:ln>
        </p:spPr>
        <p:txBody>
          <a:bodyPr spcFirstLastPara="0" wrap="square" lIns="45720" tIns="45720" rIns="45720" bIns="45720" anchor="ctr" anchorCtr="0">
            <a:normAutofit/>
          </a:bodyPr>
          <a:lstStyle/>
          <a:p>
            <a:pPr marL="0" indent="0" algn="l">
              <a:lnSpc>
                <a:spcPct val="90000"/>
              </a:lnSpc>
              <a:spcBef>
                <a:spcPts val="0"/>
              </a:spcBef>
              <a:spcAft>
                <a:spcPts val="0"/>
              </a:spcAft>
              <a:buNone/>
            </a:pPr>
            <a:r>
              <a:rPr lang="en-US" sz="1700" b="1" dirty="0">
                <a:solidFill>
                  <a:srgbClr val="C8973A"/>
                </a:solidFill>
                <a:latin typeface="Calibri"/>
                <a:ea typeface="Calibri"/>
                <a:cs typeface="Calibri"/>
                <a:sym typeface="Calibri"/>
              </a:rPr>
              <a:t>Policy Makers</a:t>
            </a:r>
          </a:p>
          <a:p>
            <a:pPr marL="0" indent="0" algn="l">
              <a:lnSpc>
                <a:spcPct val="95000"/>
              </a:lnSpc>
              <a:spcBef>
                <a:spcPts val="80"/>
              </a:spcBef>
              <a:spcAft>
                <a:spcPts val="0"/>
              </a:spcAft>
              <a:buNone/>
            </a:pPr>
            <a:r>
              <a:rPr lang="en-US" sz="1450" b="0" dirty="0">
                <a:solidFill>
                  <a:srgbClr val="FFFFFF"/>
                </a:solidFill>
                <a:latin typeface="Calibri"/>
                <a:ea typeface="Calibri"/>
                <a:cs typeface="Calibri"/>
                <a:sym typeface="Calibri"/>
              </a:rPr>
              <a:t>Global SHAP importance informs institutional attendance policy</a:t>
            </a:r>
          </a:p>
        </p:txBody>
      </p:sp>
      <p:sp>
        <p:nvSpPr>
          <p:cNvPr id="40" name="LimStrip"/>
          <p:cNvSpPr txBox="1">
            <a:spLocks/>
          </p:cNvSpPr>
          <p:nvPr/>
        </p:nvSpPr>
        <p:spPr>
          <a:xfrm>
            <a:off x="256032" y="6035040"/>
            <a:ext cx="11676888" cy="502920"/>
          </a:xfrm>
          <a:prstGeom prst="roundRect">
            <a:avLst>
              <a:gd name="adj" fmla="val 20000"/>
            </a:avLst>
          </a:prstGeom>
          <a:solidFill>
            <a:srgbClr val="F7F0F0"/>
          </a:solidFill>
          <a:ln>
            <a:solidFill>
              <a:srgbClr val="F7F0F0"/>
            </a:solidFill>
          </a:ln>
        </p:spPr>
        <p:txBody>
          <a:bodyPr spcFirstLastPara="0" wrap="square" lIns="45720" tIns="45720" rIns="45720" bIns="45720" anchor="ctr" anchorCtr="0">
            <a:normAutofit/>
          </a:bodyPr>
          <a:lstStyle/>
          <a:p>
            <a:pPr marL="0" indent="0" algn="ctr">
              <a:lnSpc>
                <a:spcPct val="90000"/>
              </a:lnSpc>
              <a:spcBef>
                <a:spcPts val="200"/>
              </a:spcBef>
              <a:spcAft>
                <a:spcPts val="0"/>
              </a:spcAft>
              <a:buNone/>
            </a:pPr>
            <a:r>
              <a:rPr lang="en-US" sz="1500" b="0" i="1" dirty="0">
                <a:solidFill>
                  <a:srgbClr val="1C2B4A"/>
                </a:solidFill>
                <a:latin typeface="Calibri"/>
                <a:ea typeface="Calibri"/>
                <a:cs typeface="Calibri"/>
                <a:sym typeface="Calibri"/>
              </a:rPr>
              <a:t>Limitations: Kaggle dataset (not real Indian school data) · Local deployment only · Binary classification · Static model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Grp"/>
        <p:cNvGrpSpPr/>
        <p:nvPr/>
      </p:nvGrpSpPr>
      <p:grpSpPr>
        <a:xfrm>
          <a:off x="0" y="0"/>
          <a:ext cx="0" cy="0"/>
          <a:chOff x="0" y="0"/>
          <a:chExt cx="0" cy="0"/>
        </a:xfrm>
      </p:grpSpPr>
      <p:sp>
        <p:nvSpPr>
          <p:cNvPr id="10" name="DarkBg"/>
          <p:cNvSpPr txBox="1">
            <a:spLocks/>
          </p:cNvSpPr>
          <p:nvPr/>
        </p:nvSpPr>
        <p:spPr>
          <a:xfrm>
            <a:off x="0" y="0"/>
            <a:ext cx="12188952" cy="6858000"/>
          </a:xfrm>
          <a:prstGeom prst="rect">
            <a:avLst/>
          </a:prstGeom>
          <a:solidFill>
            <a:srgbClr val="1C2B4A"/>
          </a:solidFill>
          <a:ln>
            <a:solidFill>
              <a:srgbClr val="1C2B4A"/>
            </a:solidFill>
          </a:ln>
        </p:spPr>
      </p:sp>
      <p:sp>
        <p:nvSpPr>
          <p:cNvPr id="11" name="AccentL"/>
          <p:cNvSpPr txBox="1">
            <a:spLocks/>
          </p:cNvSpPr>
          <p:nvPr/>
        </p:nvSpPr>
        <p:spPr>
          <a:xfrm>
            <a:off x="0" y="0"/>
            <a:ext cx="109728" cy="6858000"/>
          </a:xfrm>
          <a:prstGeom prst="rect">
            <a:avLst/>
          </a:prstGeom>
          <a:solidFill>
            <a:srgbClr val="8B0000"/>
          </a:solidFill>
          <a:ln>
            <a:solidFill>
              <a:srgbClr val="8B0000"/>
            </a:solidFill>
          </a:ln>
        </p:spPr>
      </p:sp>
      <p:sp>
        <p:nvSpPr>
          <p:cNvPr id="12" name="GoldT"/>
          <p:cNvSpPr txBox="1">
            <a:spLocks/>
          </p:cNvSpPr>
          <p:nvPr/>
        </p:nvSpPr>
        <p:spPr>
          <a:xfrm>
            <a:off x="109728" y="0"/>
            <a:ext cx="12079224" cy="54864"/>
          </a:xfrm>
          <a:prstGeom prst="rect">
            <a:avLst/>
          </a:prstGeom>
          <a:solidFill>
            <a:srgbClr val="C8973A"/>
          </a:solidFill>
          <a:ln>
            <a:solidFill>
              <a:srgbClr val="C8973A"/>
            </a:solidFill>
          </a:ln>
        </p:spPr>
      </p:sp>
      <p:sp>
        <p:nvSpPr>
          <p:cNvPr id="13" name="Title"/>
          <p:cNvSpPr txBox="1">
            <a:spLocks/>
          </p:cNvSpPr>
          <p:nvPr/>
        </p:nvSpPr>
        <p:spPr>
          <a:xfrm>
            <a:off x="457200" y="201168"/>
            <a:ext cx="11274552" cy="530352"/>
          </a:xfrm>
          <a:prstGeom prst="rect">
            <a:avLst/>
          </a:prstGeom>
          <a:noFill/>
          <a:ln>
            <a:noFill/>
          </a:ln>
        </p:spPr>
        <p:txBody>
          <a:bodyPr spcFirstLastPara="0" wrap="square" lIns="91425" tIns="45700" rIns="91425" bIns="45700" anchor="ctr" anchorCtr="0">
            <a:normAutofit fontScale="92500" lnSpcReduction="10000"/>
          </a:bodyPr>
          <a:lstStyle/>
          <a:p>
            <a:pPr marL="0" indent="0" algn="l">
              <a:lnSpc>
                <a:spcPct val="90000"/>
              </a:lnSpc>
              <a:spcBef>
                <a:spcPts val="0"/>
              </a:spcBef>
              <a:spcAft>
                <a:spcPts val="0"/>
              </a:spcAft>
              <a:buNone/>
            </a:pPr>
            <a:r>
              <a:rPr lang="en-US" sz="3600" b="1" dirty="0">
                <a:solidFill>
                  <a:srgbClr val="FFFFFF"/>
                </a:solidFill>
                <a:latin typeface="Calibri"/>
                <a:ea typeface="Calibri"/>
                <a:cs typeface="Calibri"/>
                <a:sym typeface="Calibri"/>
              </a:rPr>
              <a:t>Conclusion</a:t>
            </a:r>
          </a:p>
        </p:txBody>
      </p:sp>
      <p:sp>
        <p:nvSpPr>
          <p:cNvPr id="14" name="Sub"/>
          <p:cNvSpPr txBox="1">
            <a:spLocks/>
          </p:cNvSpPr>
          <p:nvPr/>
        </p:nvSpPr>
        <p:spPr>
          <a:xfrm>
            <a:off x="457200" y="749808"/>
            <a:ext cx="11274552" cy="347472"/>
          </a:xfrm>
          <a:prstGeom prst="rect">
            <a:avLst/>
          </a:prstGeom>
          <a:noFill/>
          <a:ln>
            <a:noFill/>
          </a:ln>
        </p:spPr>
        <p:txBody>
          <a:bodyPr spcFirstLastPara="0" wrap="square" lIns="91425" tIns="45700" rIns="91425" bIns="45700" anchor="ctr" anchorCtr="0">
            <a:normAutofit/>
          </a:bodyPr>
          <a:lstStyle/>
          <a:p>
            <a:pPr marL="0" indent="0" algn="l">
              <a:lnSpc>
                <a:spcPct val="90000"/>
              </a:lnSpc>
              <a:spcBef>
                <a:spcPts val="200"/>
              </a:spcBef>
              <a:spcAft>
                <a:spcPts val="0"/>
              </a:spcAft>
              <a:buNone/>
            </a:pPr>
            <a:r>
              <a:rPr lang="en-US" sz="1800" b="0" i="1" dirty="0">
                <a:solidFill>
                  <a:srgbClr val="C8973A"/>
                </a:solidFill>
                <a:latin typeface="Calibri"/>
                <a:ea typeface="Calibri"/>
                <a:cs typeface="Calibri"/>
                <a:sym typeface="Calibri"/>
              </a:rPr>
              <a:t>Three gaps identified. Three gaps solved. One tool that actually works.</a:t>
            </a:r>
          </a:p>
        </p:txBody>
      </p:sp>
      <p:sp>
        <p:nvSpPr>
          <p:cNvPr id="15" name="GoldLine"/>
          <p:cNvSpPr txBox="1">
            <a:spLocks/>
          </p:cNvSpPr>
          <p:nvPr/>
        </p:nvSpPr>
        <p:spPr>
          <a:xfrm>
            <a:off x="457200" y="1170432"/>
            <a:ext cx="11274552" cy="45720"/>
          </a:xfrm>
          <a:prstGeom prst="rect">
            <a:avLst/>
          </a:prstGeom>
          <a:solidFill>
            <a:srgbClr val="C8973A"/>
          </a:solidFill>
          <a:ln>
            <a:solidFill>
              <a:srgbClr val="C8973A"/>
            </a:solidFill>
          </a:ln>
        </p:spPr>
      </p:sp>
      <p:sp>
        <p:nvSpPr>
          <p:cNvPr id="20" name="Gap0"/>
          <p:cNvSpPr txBox="1">
            <a:spLocks/>
          </p:cNvSpPr>
          <p:nvPr/>
        </p:nvSpPr>
        <p:spPr>
          <a:xfrm>
            <a:off x="256032" y="1325880"/>
            <a:ext cx="3749039" cy="2286000"/>
          </a:xfrm>
          <a:prstGeom prst="roundRect">
            <a:avLst>
              <a:gd name="adj" fmla="val 20000"/>
            </a:avLst>
          </a:prstGeom>
          <a:solidFill>
            <a:srgbClr val="8B0000"/>
          </a:solidFill>
          <a:ln>
            <a:solidFill>
              <a:srgbClr val="8B0000"/>
            </a:solidFill>
          </a:ln>
        </p:spPr>
        <p:txBody>
          <a:bodyPr spcFirstLastPara="0" wrap="square" lIns="45720" tIns="45720" rIns="45720" bIns="45720" anchor="t" anchorCtr="0">
            <a:normAutofit/>
          </a:bodyPr>
          <a:lstStyle/>
          <a:p>
            <a:pPr marL="0" indent="0" algn="ctr">
              <a:lnSpc>
                <a:spcPct val="90000"/>
              </a:lnSpc>
              <a:spcBef>
                <a:spcPts val="0"/>
              </a:spcBef>
              <a:spcAft>
                <a:spcPts val="0"/>
              </a:spcAft>
              <a:buNone/>
            </a:pPr>
            <a:r>
              <a:rPr lang="en-US" sz="1300" b="1" dirty="0">
                <a:solidFill>
                  <a:srgbClr val="C8973A"/>
                </a:solidFill>
                <a:latin typeface="Calibri"/>
                <a:ea typeface="Calibri"/>
                <a:cs typeface="Calibri"/>
                <a:sym typeface="Calibri"/>
              </a:rPr>
              <a:t>GAP 1 SOLVED</a:t>
            </a:r>
          </a:p>
          <a:p>
            <a:pPr marL="0" indent="0" algn="ctr">
              <a:lnSpc>
                <a:spcPct val="90000"/>
              </a:lnSpc>
              <a:spcBef>
                <a:spcPts val="130"/>
              </a:spcBef>
              <a:spcAft>
                <a:spcPts val="0"/>
              </a:spcAft>
              <a:buNone/>
            </a:pPr>
            <a:r>
              <a:rPr lang="en-US" sz="1900" b="1" dirty="0">
                <a:solidFill>
                  <a:srgbClr val="FFFFFF"/>
                </a:solidFill>
                <a:latin typeface="Calibri"/>
                <a:ea typeface="Calibri"/>
                <a:cs typeface="Calibri"/>
                <a:sym typeface="Calibri"/>
              </a:rPr>
              <a:t>Black Box Problem</a:t>
            </a:r>
          </a:p>
          <a:p>
            <a:pPr marL="0" indent="0" algn="ctr">
              <a:lnSpc>
                <a:spcPct val="95000"/>
              </a:lnSpc>
              <a:spcBef>
                <a:spcPts val="160"/>
              </a:spcBef>
              <a:spcAft>
                <a:spcPts val="0"/>
              </a:spcAft>
              <a:buNone/>
            </a:pPr>
            <a:r>
              <a:rPr lang="en-US" sz="1400" b="0" dirty="0">
                <a:solidFill>
                  <a:srgbClr val="CCDDEF"/>
                </a:solidFill>
                <a:latin typeface="Calibri"/>
                <a:ea typeface="Calibri"/>
                <a:cs typeface="Calibri"/>
                <a:sym typeface="Calibri"/>
              </a:rPr>
              <a:t>SHAP TreeExplainer provides per-student waterfall explanations for every prediction</a:t>
            </a:r>
          </a:p>
        </p:txBody>
      </p:sp>
      <p:sp>
        <p:nvSpPr>
          <p:cNvPr id="21" name="Gap1"/>
          <p:cNvSpPr txBox="1">
            <a:spLocks/>
          </p:cNvSpPr>
          <p:nvPr/>
        </p:nvSpPr>
        <p:spPr>
          <a:xfrm>
            <a:off x="4261104" y="1325880"/>
            <a:ext cx="3749039" cy="2286000"/>
          </a:xfrm>
          <a:prstGeom prst="roundRect">
            <a:avLst>
              <a:gd name="adj" fmla="val 20000"/>
            </a:avLst>
          </a:prstGeom>
          <a:solidFill>
            <a:srgbClr val="243352"/>
          </a:solidFill>
          <a:ln>
            <a:solidFill>
              <a:srgbClr val="243352"/>
            </a:solidFill>
          </a:ln>
        </p:spPr>
        <p:txBody>
          <a:bodyPr spcFirstLastPara="0" wrap="square" lIns="45720" tIns="45720" rIns="45720" bIns="45720" anchor="t" anchorCtr="0">
            <a:normAutofit/>
          </a:bodyPr>
          <a:lstStyle/>
          <a:p>
            <a:pPr marL="0" indent="0" algn="ctr">
              <a:lnSpc>
                <a:spcPct val="90000"/>
              </a:lnSpc>
              <a:spcBef>
                <a:spcPts val="0"/>
              </a:spcBef>
              <a:spcAft>
                <a:spcPts val="0"/>
              </a:spcAft>
              <a:buNone/>
            </a:pPr>
            <a:r>
              <a:rPr lang="en-US" sz="1300" b="1" dirty="0">
                <a:solidFill>
                  <a:srgbClr val="C8973A"/>
                </a:solidFill>
                <a:latin typeface="Calibri"/>
                <a:ea typeface="Calibri"/>
                <a:cs typeface="Calibri"/>
                <a:sym typeface="Calibri"/>
              </a:rPr>
              <a:t>GAP 2 SOLVED</a:t>
            </a:r>
          </a:p>
          <a:p>
            <a:pPr marL="0" indent="0" algn="ctr">
              <a:lnSpc>
                <a:spcPct val="90000"/>
              </a:lnSpc>
              <a:spcBef>
                <a:spcPts val="130"/>
              </a:spcBef>
              <a:spcAft>
                <a:spcPts val="0"/>
              </a:spcAft>
              <a:buNone/>
            </a:pPr>
            <a:r>
              <a:rPr lang="en-US" sz="1900" b="1" dirty="0">
                <a:solidFill>
                  <a:srgbClr val="FFFFFF"/>
                </a:solidFill>
                <a:latin typeface="Calibri"/>
                <a:ea typeface="Calibri"/>
                <a:cs typeface="Calibri"/>
                <a:sym typeface="Calibri"/>
              </a:rPr>
              <a:t>Deployment Gap</a:t>
            </a:r>
          </a:p>
          <a:p>
            <a:pPr marL="0" indent="0" algn="ctr">
              <a:lnSpc>
                <a:spcPct val="95000"/>
              </a:lnSpc>
              <a:spcBef>
                <a:spcPts val="160"/>
              </a:spcBef>
              <a:spcAft>
                <a:spcPts val="0"/>
              </a:spcAft>
              <a:buNone/>
            </a:pPr>
            <a:r>
              <a:rPr lang="en-US" sz="1400" b="0" dirty="0">
                <a:solidFill>
                  <a:srgbClr val="CCDDEF"/>
                </a:solidFill>
                <a:latin typeface="Calibri"/>
                <a:ea typeface="Calibri"/>
                <a:cs typeface="Calibri"/>
                <a:sym typeface="Calibri"/>
              </a:rPr>
              <a:t>Streamlit web app: real-time prediction + explanation accessible to any educator in any browser</a:t>
            </a:r>
          </a:p>
        </p:txBody>
      </p:sp>
      <p:sp>
        <p:nvSpPr>
          <p:cNvPr id="22" name="Gap2"/>
          <p:cNvSpPr txBox="1">
            <a:spLocks/>
          </p:cNvSpPr>
          <p:nvPr/>
        </p:nvSpPr>
        <p:spPr>
          <a:xfrm>
            <a:off x="8266175" y="1325880"/>
            <a:ext cx="3749039" cy="2286000"/>
          </a:xfrm>
          <a:prstGeom prst="roundRect">
            <a:avLst>
              <a:gd name="adj" fmla="val 20000"/>
            </a:avLst>
          </a:prstGeom>
          <a:solidFill>
            <a:srgbClr val="1A6B7C"/>
          </a:solidFill>
          <a:ln>
            <a:solidFill>
              <a:srgbClr val="1A6B7C"/>
            </a:solidFill>
          </a:ln>
        </p:spPr>
        <p:txBody>
          <a:bodyPr spcFirstLastPara="0" wrap="square" lIns="45720" tIns="45720" rIns="45720" bIns="45720" anchor="t" anchorCtr="0">
            <a:normAutofit/>
          </a:bodyPr>
          <a:lstStyle/>
          <a:p>
            <a:pPr marL="0" indent="0" algn="ctr">
              <a:lnSpc>
                <a:spcPct val="90000"/>
              </a:lnSpc>
              <a:spcBef>
                <a:spcPts val="0"/>
              </a:spcBef>
              <a:spcAft>
                <a:spcPts val="0"/>
              </a:spcAft>
              <a:buNone/>
            </a:pPr>
            <a:r>
              <a:rPr lang="en-US" sz="1300" b="1" dirty="0">
                <a:solidFill>
                  <a:srgbClr val="C8973A"/>
                </a:solidFill>
                <a:latin typeface="Calibri"/>
                <a:ea typeface="Calibri"/>
                <a:cs typeface="Calibri"/>
                <a:sym typeface="Calibri"/>
              </a:rPr>
              <a:t>GAP 3 SOLVED</a:t>
            </a:r>
          </a:p>
          <a:p>
            <a:pPr marL="0" indent="0" algn="ctr">
              <a:lnSpc>
                <a:spcPct val="90000"/>
              </a:lnSpc>
              <a:spcBef>
                <a:spcPts val="130"/>
              </a:spcBef>
              <a:spcAft>
                <a:spcPts val="0"/>
              </a:spcAft>
              <a:buNone/>
            </a:pPr>
            <a:r>
              <a:rPr lang="en-US" sz="1900" b="1" dirty="0">
                <a:solidFill>
                  <a:srgbClr val="FFFFFF"/>
                </a:solidFill>
                <a:latin typeface="Calibri"/>
                <a:ea typeface="Calibri"/>
                <a:cs typeface="Calibri"/>
                <a:sym typeface="Calibri"/>
              </a:rPr>
              <a:t>Indian Grading Gap</a:t>
            </a:r>
          </a:p>
          <a:p>
            <a:pPr marL="0" indent="0" algn="ctr">
              <a:lnSpc>
                <a:spcPct val="95000"/>
              </a:lnSpc>
              <a:spcBef>
                <a:spcPts val="160"/>
              </a:spcBef>
              <a:spcAft>
                <a:spcPts val="0"/>
              </a:spcAft>
              <a:buNone/>
            </a:pPr>
            <a:r>
              <a:rPr lang="en-US" sz="1400" b="0" dirty="0">
                <a:solidFill>
                  <a:srgbClr val="CCDDEF"/>
                </a:solidFill>
                <a:latin typeface="Calibri"/>
                <a:ea typeface="Calibri"/>
                <a:cs typeface="Calibri"/>
                <a:sym typeface="Calibri"/>
              </a:rPr>
              <a:t>GPA &lt; 2.0 threshold applied — first time in reviewed literature (2025-2026)</a:t>
            </a:r>
          </a:p>
        </p:txBody>
      </p:sp>
      <p:sp>
        <p:nvSpPr>
          <p:cNvPr id="30" name="Ach0"/>
          <p:cNvSpPr txBox="1">
            <a:spLocks/>
          </p:cNvSpPr>
          <p:nvPr/>
        </p:nvSpPr>
        <p:spPr>
          <a:xfrm>
            <a:off x="256032" y="3767328"/>
            <a:ext cx="2743200" cy="960120"/>
          </a:xfrm>
          <a:prstGeom prst="rect">
            <a:avLst/>
          </a:prstGeom>
          <a:noFill/>
          <a:ln>
            <a:noFill/>
          </a:ln>
        </p:spPr>
        <p:txBody>
          <a:bodyPr spcFirstLastPara="0" wrap="square" lIns="91425" tIns="45700" rIns="91425" bIns="45700" anchor="ctr" anchorCtr="0">
            <a:normAutofit lnSpcReduction="10000"/>
          </a:bodyPr>
          <a:lstStyle/>
          <a:p>
            <a:pPr marL="0" indent="0" algn="ctr">
              <a:lnSpc>
                <a:spcPct val="90000"/>
              </a:lnSpc>
              <a:spcBef>
                <a:spcPts val="0"/>
              </a:spcBef>
              <a:spcAft>
                <a:spcPts val="0"/>
              </a:spcAft>
              <a:buNone/>
            </a:pPr>
            <a:r>
              <a:rPr lang="en-US" sz="4800" b="1" dirty="0">
                <a:solidFill>
                  <a:srgbClr val="C8973A"/>
                </a:solidFill>
                <a:latin typeface="Calibri"/>
                <a:ea typeface="Calibri"/>
                <a:cs typeface="Calibri"/>
                <a:sym typeface="Calibri"/>
              </a:rPr>
              <a:t>93.32%</a:t>
            </a:r>
          </a:p>
          <a:p>
            <a:pPr marL="0" indent="0" algn="ctr">
              <a:lnSpc>
                <a:spcPct val="90000"/>
              </a:lnSpc>
              <a:spcBef>
                <a:spcPts val="80"/>
              </a:spcBef>
              <a:spcAft>
                <a:spcPts val="0"/>
              </a:spcAft>
              <a:buNone/>
            </a:pPr>
            <a:r>
              <a:rPr lang="en-US" sz="1500" b="0" dirty="0">
                <a:solidFill>
                  <a:srgbClr val="8A9BB0"/>
                </a:solidFill>
                <a:latin typeface="Calibri"/>
                <a:ea typeface="Calibri"/>
                <a:cs typeface="Calibri"/>
                <a:sym typeface="Calibri"/>
              </a:rPr>
              <a:t>Accuracy</a:t>
            </a:r>
          </a:p>
        </p:txBody>
      </p:sp>
      <p:sp>
        <p:nvSpPr>
          <p:cNvPr id="31" name="Ach1"/>
          <p:cNvSpPr txBox="1">
            <a:spLocks/>
          </p:cNvSpPr>
          <p:nvPr/>
        </p:nvSpPr>
        <p:spPr>
          <a:xfrm>
            <a:off x="3209544" y="3767328"/>
            <a:ext cx="2743200" cy="960120"/>
          </a:xfrm>
          <a:prstGeom prst="rect">
            <a:avLst/>
          </a:prstGeom>
          <a:noFill/>
          <a:ln>
            <a:noFill/>
          </a:ln>
        </p:spPr>
        <p:txBody>
          <a:bodyPr spcFirstLastPara="0" wrap="square" lIns="91425" tIns="45700" rIns="91425" bIns="45700" anchor="ctr" anchorCtr="0">
            <a:normAutofit lnSpcReduction="10000"/>
          </a:bodyPr>
          <a:lstStyle/>
          <a:p>
            <a:pPr marL="0" indent="0" algn="ctr">
              <a:lnSpc>
                <a:spcPct val="90000"/>
              </a:lnSpc>
              <a:spcBef>
                <a:spcPts val="0"/>
              </a:spcBef>
              <a:spcAft>
                <a:spcPts val="0"/>
              </a:spcAft>
              <a:buNone/>
            </a:pPr>
            <a:r>
              <a:rPr lang="en-US" sz="4800" b="1" dirty="0">
                <a:solidFill>
                  <a:srgbClr val="C8973A"/>
                </a:solidFill>
                <a:latin typeface="Calibri"/>
                <a:ea typeface="Calibri"/>
                <a:cs typeface="Calibri"/>
                <a:sym typeface="Calibri"/>
              </a:rPr>
              <a:t>0.94</a:t>
            </a:r>
          </a:p>
          <a:p>
            <a:pPr marL="0" indent="0" algn="ctr">
              <a:lnSpc>
                <a:spcPct val="90000"/>
              </a:lnSpc>
              <a:spcBef>
                <a:spcPts val="80"/>
              </a:spcBef>
              <a:spcAft>
                <a:spcPts val="0"/>
              </a:spcAft>
              <a:buNone/>
            </a:pPr>
            <a:r>
              <a:rPr lang="en-US" sz="1500" b="0" dirty="0">
                <a:solidFill>
                  <a:srgbClr val="8A9BB0"/>
                </a:solidFill>
                <a:latin typeface="Calibri"/>
                <a:ea typeface="Calibri"/>
                <a:cs typeface="Calibri"/>
                <a:sym typeface="Calibri"/>
              </a:rPr>
              <a:t>At-Risk Recall</a:t>
            </a:r>
          </a:p>
        </p:txBody>
      </p:sp>
      <p:sp>
        <p:nvSpPr>
          <p:cNvPr id="32" name="Ach2"/>
          <p:cNvSpPr txBox="1">
            <a:spLocks/>
          </p:cNvSpPr>
          <p:nvPr/>
        </p:nvSpPr>
        <p:spPr>
          <a:xfrm>
            <a:off x="6163056" y="3767328"/>
            <a:ext cx="2743200" cy="960120"/>
          </a:xfrm>
          <a:prstGeom prst="rect">
            <a:avLst/>
          </a:prstGeom>
          <a:noFill/>
          <a:ln>
            <a:noFill/>
          </a:ln>
        </p:spPr>
        <p:txBody>
          <a:bodyPr spcFirstLastPara="0" wrap="square" lIns="91425" tIns="45700" rIns="91425" bIns="45700" anchor="ctr" anchorCtr="0">
            <a:normAutofit lnSpcReduction="10000"/>
          </a:bodyPr>
          <a:lstStyle/>
          <a:p>
            <a:pPr marL="0" indent="0" algn="ctr">
              <a:lnSpc>
                <a:spcPct val="90000"/>
              </a:lnSpc>
              <a:spcBef>
                <a:spcPts val="0"/>
              </a:spcBef>
              <a:spcAft>
                <a:spcPts val="0"/>
              </a:spcAft>
              <a:buNone/>
            </a:pPr>
            <a:r>
              <a:rPr lang="en-US" sz="4800" b="1" dirty="0">
                <a:solidFill>
                  <a:srgbClr val="C8973A"/>
                </a:solidFill>
                <a:latin typeface="Calibri"/>
                <a:ea typeface="Calibri"/>
                <a:cs typeface="Calibri"/>
                <a:sym typeface="Calibri"/>
              </a:rPr>
              <a:t>3</a:t>
            </a:r>
          </a:p>
          <a:p>
            <a:pPr marL="0" indent="0" algn="ctr">
              <a:lnSpc>
                <a:spcPct val="90000"/>
              </a:lnSpc>
              <a:spcBef>
                <a:spcPts val="80"/>
              </a:spcBef>
              <a:spcAft>
                <a:spcPts val="0"/>
              </a:spcAft>
              <a:buNone/>
            </a:pPr>
            <a:r>
              <a:rPr lang="en-US" sz="1500" b="0" dirty="0">
                <a:solidFill>
                  <a:srgbClr val="8A9BB0"/>
                </a:solidFill>
                <a:latin typeface="Calibri"/>
                <a:ea typeface="Calibri"/>
                <a:cs typeface="Calibri"/>
                <a:sym typeface="Calibri"/>
              </a:rPr>
              <a:t>Gaps Resolved</a:t>
            </a:r>
          </a:p>
        </p:txBody>
      </p:sp>
      <p:sp>
        <p:nvSpPr>
          <p:cNvPr id="33" name="Ach3"/>
          <p:cNvSpPr txBox="1">
            <a:spLocks/>
          </p:cNvSpPr>
          <p:nvPr/>
        </p:nvSpPr>
        <p:spPr>
          <a:xfrm>
            <a:off x="9116567" y="3767328"/>
            <a:ext cx="2743200" cy="960120"/>
          </a:xfrm>
          <a:prstGeom prst="rect">
            <a:avLst/>
          </a:prstGeom>
          <a:noFill/>
          <a:ln>
            <a:noFill/>
          </a:ln>
        </p:spPr>
        <p:txBody>
          <a:bodyPr spcFirstLastPara="0" wrap="square" lIns="91425" tIns="45700" rIns="91425" bIns="45700" anchor="ctr" anchorCtr="0">
            <a:normAutofit lnSpcReduction="10000"/>
          </a:bodyPr>
          <a:lstStyle/>
          <a:p>
            <a:pPr marL="0" indent="0" algn="ctr">
              <a:lnSpc>
                <a:spcPct val="90000"/>
              </a:lnSpc>
              <a:spcBef>
                <a:spcPts val="0"/>
              </a:spcBef>
              <a:spcAft>
                <a:spcPts val="0"/>
              </a:spcAft>
              <a:buNone/>
            </a:pPr>
            <a:r>
              <a:rPr lang="en-US" sz="4800" b="1" dirty="0">
                <a:solidFill>
                  <a:srgbClr val="C8973A"/>
                </a:solidFill>
                <a:latin typeface="Calibri"/>
                <a:ea typeface="Calibri"/>
                <a:cs typeface="Calibri"/>
                <a:sym typeface="Calibri"/>
              </a:rPr>
              <a:t>1st</a:t>
            </a:r>
          </a:p>
          <a:p>
            <a:pPr marL="0" indent="0" algn="ctr">
              <a:lnSpc>
                <a:spcPct val="90000"/>
              </a:lnSpc>
              <a:spcBef>
                <a:spcPts val="80"/>
              </a:spcBef>
              <a:spcAft>
                <a:spcPts val="0"/>
              </a:spcAft>
              <a:buNone/>
            </a:pPr>
            <a:r>
              <a:rPr lang="en-US" sz="1500" b="0" dirty="0">
                <a:solidFill>
                  <a:srgbClr val="8A9BB0"/>
                </a:solidFill>
                <a:latin typeface="Calibri"/>
                <a:ea typeface="Calibri"/>
                <a:cs typeface="Calibri"/>
                <a:sym typeface="Calibri"/>
              </a:rPr>
              <a:t>Indian Grading Tool</a:t>
            </a:r>
          </a:p>
        </p:txBody>
      </p:sp>
      <p:sp>
        <p:nvSpPr>
          <p:cNvPr id="40" name="Closing"/>
          <p:cNvSpPr txBox="1">
            <a:spLocks/>
          </p:cNvSpPr>
          <p:nvPr/>
        </p:nvSpPr>
        <p:spPr>
          <a:xfrm>
            <a:off x="256032" y="4892040"/>
            <a:ext cx="11676888" cy="804672"/>
          </a:xfrm>
          <a:prstGeom prst="roundRect">
            <a:avLst>
              <a:gd name="adj" fmla="val 20000"/>
            </a:avLst>
          </a:prstGeom>
          <a:solidFill>
            <a:srgbClr val="1A3A5A"/>
          </a:solidFill>
          <a:ln>
            <a:solidFill>
              <a:srgbClr val="1A3A5A"/>
            </a:solidFill>
          </a:ln>
        </p:spPr>
        <p:txBody>
          <a:bodyPr spcFirstLastPara="0" wrap="square" lIns="45720" tIns="45720" rIns="45720" bIns="45720" anchor="ctr" anchorCtr="0">
            <a:normAutofit/>
          </a:bodyPr>
          <a:lstStyle/>
          <a:p>
            <a:pPr marL="0" indent="0" algn="ctr">
              <a:lnSpc>
                <a:spcPct val="110000"/>
              </a:lnSpc>
              <a:spcBef>
                <a:spcPts val="200"/>
              </a:spcBef>
              <a:spcAft>
                <a:spcPts val="0"/>
              </a:spcAft>
              <a:buNone/>
            </a:pPr>
            <a:r>
              <a:rPr lang="en-US" sz="1750" b="0" dirty="0">
                <a:solidFill>
                  <a:srgbClr val="FFFFFF"/>
                </a:solidFill>
                <a:latin typeface="Calibri"/>
                <a:ea typeface="Calibri"/>
                <a:cs typeface="Calibri"/>
                <a:sym typeface="Calibri"/>
              </a:rPr>
              <a:t>Rather than staying confined to a research paper, this system delivers actionable, explainable predictions directly to the teachers and counselors who need them.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Grp"/>
        <p:cNvGrpSpPr/>
        <p:nvPr/>
      </p:nvGrpSpPr>
      <p:grpSpPr>
        <a:xfrm>
          <a:off x="0" y="0"/>
          <a:ext cx="0" cy="0"/>
          <a:chOff x="0" y="0"/>
          <a:chExt cx="0" cy="0"/>
        </a:xfrm>
      </p:grpSpPr>
      <p:sp>
        <p:nvSpPr>
          <p:cNvPr id="10" name="TitleStripe"/>
          <p:cNvSpPr txBox="1">
            <a:spLocks/>
          </p:cNvSpPr>
          <p:nvPr/>
        </p:nvSpPr>
        <p:spPr>
          <a:xfrm>
            <a:off x="242316" y="811530"/>
            <a:ext cx="64008" cy="658368"/>
          </a:xfrm>
          <a:prstGeom prst="rect">
            <a:avLst/>
          </a:prstGeom>
          <a:solidFill>
            <a:srgbClr val="8B0000"/>
          </a:solidFill>
          <a:ln>
            <a:solidFill>
              <a:srgbClr val="8B0000"/>
            </a:solidFill>
          </a:ln>
        </p:spPr>
      </p:sp>
      <p:sp>
        <p:nvSpPr>
          <p:cNvPr id="11" name="Title"/>
          <p:cNvSpPr txBox="1">
            <a:spLocks/>
          </p:cNvSpPr>
          <p:nvPr/>
        </p:nvSpPr>
        <p:spPr>
          <a:xfrm>
            <a:off x="338328" y="800100"/>
            <a:ext cx="11128248" cy="658368"/>
          </a:xfrm>
          <a:prstGeom prst="rect">
            <a:avLst/>
          </a:prstGeom>
          <a:noFill/>
          <a:ln>
            <a:noFill/>
          </a:ln>
        </p:spPr>
        <p:txBody>
          <a:bodyPr spcFirstLastPara="0" wrap="square" lIns="91425" tIns="45700" rIns="91425" bIns="45700" anchor="ctr" anchorCtr="0">
            <a:normAutofit/>
          </a:bodyPr>
          <a:lstStyle/>
          <a:p>
            <a:pPr marL="0" indent="0" algn="l">
              <a:lnSpc>
                <a:spcPct val="90000"/>
              </a:lnSpc>
              <a:spcBef>
                <a:spcPts val="0"/>
              </a:spcBef>
              <a:spcAft>
                <a:spcPts val="0"/>
              </a:spcAft>
              <a:buNone/>
            </a:pPr>
            <a:r>
              <a:rPr lang="en-US" sz="3200" b="1" dirty="0">
                <a:solidFill>
                  <a:srgbClr val="1C2B4A"/>
                </a:solidFill>
                <a:latin typeface="Calibri"/>
                <a:ea typeface="Calibri"/>
                <a:cs typeface="Calibri"/>
                <a:sym typeface="Calibri"/>
              </a:rPr>
              <a:t>Research Paper &amp; References</a:t>
            </a:r>
          </a:p>
        </p:txBody>
      </p:sp>
      <p:sp>
        <p:nvSpPr>
          <p:cNvPr id="12" name="Divider"/>
          <p:cNvSpPr txBox="1">
            <a:spLocks/>
          </p:cNvSpPr>
          <p:nvPr/>
        </p:nvSpPr>
        <p:spPr>
          <a:xfrm>
            <a:off x="338328" y="1352257"/>
            <a:ext cx="11311128" cy="36576"/>
          </a:xfrm>
          <a:prstGeom prst="rect">
            <a:avLst/>
          </a:prstGeom>
          <a:solidFill>
            <a:srgbClr val="E8ECF0"/>
          </a:solidFill>
          <a:ln>
            <a:solidFill>
              <a:srgbClr val="E8ECF0"/>
            </a:solidFill>
          </a:ln>
        </p:spPr>
      </p:sp>
      <p:sp>
        <p:nvSpPr>
          <p:cNvPr id="20" name="PaperCard"/>
          <p:cNvSpPr txBox="1">
            <a:spLocks/>
          </p:cNvSpPr>
          <p:nvPr/>
        </p:nvSpPr>
        <p:spPr>
          <a:xfrm>
            <a:off x="256032" y="1481328"/>
            <a:ext cx="11676888" cy="1078992"/>
          </a:xfrm>
          <a:prstGeom prst="roundRect">
            <a:avLst>
              <a:gd name="adj" fmla="val 20000"/>
            </a:avLst>
          </a:prstGeom>
          <a:solidFill>
            <a:srgbClr val="1C2B4A"/>
          </a:solidFill>
          <a:ln>
            <a:solidFill>
              <a:srgbClr val="1C2B4A"/>
            </a:solidFill>
          </a:ln>
        </p:spPr>
        <p:txBody>
          <a:bodyPr spcFirstLastPara="0" wrap="square" lIns="91425" tIns="45700" rIns="91425" bIns="45700" anchor="t" anchorCtr="0">
            <a:normAutofit/>
          </a:bodyPr>
          <a:lstStyle/>
          <a:p>
            <a:pPr marL="0" indent="0" algn="l">
              <a:lnSpc>
                <a:spcPct val="90000"/>
              </a:lnSpc>
              <a:spcBef>
                <a:spcPts val="0"/>
              </a:spcBef>
              <a:spcAft>
                <a:spcPts val="0"/>
              </a:spcAft>
              <a:buNone/>
            </a:pPr>
            <a:r>
              <a:rPr lang="en-US" sz="2200" b="1" dirty="0">
                <a:solidFill>
                  <a:srgbClr val="C8973A"/>
                </a:solidFill>
                <a:latin typeface="Calibri"/>
                <a:ea typeface="Calibri"/>
                <a:cs typeface="Calibri"/>
                <a:sym typeface="Calibri"/>
              </a:rPr>
              <a:t>Explainable Academic Risk Prediction Using XGBoost and SHAP for Indian Educational Standards</a:t>
            </a:r>
          </a:p>
          <a:p>
            <a:pPr marL="0" indent="0" algn="l">
              <a:lnSpc>
                <a:spcPct val="90000"/>
              </a:lnSpc>
              <a:spcBef>
                <a:spcPts val="100"/>
              </a:spcBef>
              <a:spcAft>
                <a:spcPts val="0"/>
              </a:spcAft>
              <a:buNone/>
            </a:pPr>
            <a:r>
              <a:rPr lang="en-US" sz="1600" b="0" dirty="0">
                <a:solidFill>
                  <a:srgbClr val="8A9BB0"/>
                </a:solidFill>
                <a:latin typeface="Calibri"/>
                <a:ea typeface="Calibri"/>
                <a:cs typeface="Calibri"/>
                <a:sym typeface="Calibri"/>
              </a:rPr>
              <a:t>Yadav Hitesh Shravan  ·  Mayank Jaiswal  ·  Ritesh Raj  ·  Shubham Thakur  · Alok  Kumar                                        Submitted: April  2026</a:t>
            </a:r>
          </a:p>
        </p:txBody>
      </p:sp>
      <p:sp>
        <p:nvSpPr>
          <p:cNvPr id="30" name="RefLabel"/>
          <p:cNvSpPr txBox="1">
            <a:spLocks/>
          </p:cNvSpPr>
          <p:nvPr/>
        </p:nvSpPr>
        <p:spPr>
          <a:xfrm>
            <a:off x="256032" y="2697480"/>
            <a:ext cx="5486400" cy="347472"/>
          </a:xfrm>
          <a:prstGeom prst="rect">
            <a:avLst/>
          </a:prstGeom>
          <a:noFill/>
          <a:ln>
            <a:noFill/>
          </a:ln>
        </p:spPr>
        <p:txBody>
          <a:bodyPr spcFirstLastPara="0" wrap="square" lIns="91425" tIns="45700" rIns="91425" bIns="45700" anchor="ctr" anchorCtr="0">
            <a:normAutofit/>
          </a:bodyPr>
          <a:lstStyle/>
          <a:p>
            <a:pPr marL="0" indent="0" algn="l">
              <a:lnSpc>
                <a:spcPct val="90000"/>
              </a:lnSpc>
              <a:spcBef>
                <a:spcPts val="200"/>
              </a:spcBef>
              <a:spcAft>
                <a:spcPts val="0"/>
              </a:spcAft>
              <a:buNone/>
            </a:pPr>
            <a:r>
              <a:rPr lang="en-US" sz="1700" b="1" dirty="0">
                <a:solidFill>
                  <a:srgbClr val="1C2B4A"/>
                </a:solidFill>
                <a:latin typeface="Calibri"/>
                <a:ea typeface="Calibri"/>
                <a:cs typeface="Calibri"/>
                <a:sym typeface="Calibri"/>
              </a:rPr>
              <a:t>Key References</a:t>
            </a:r>
          </a:p>
        </p:txBody>
      </p:sp>
      <p:sp>
        <p:nvSpPr>
          <p:cNvPr id="31" name="RefL0"/>
          <p:cNvSpPr txBox="1">
            <a:spLocks/>
          </p:cNvSpPr>
          <p:nvPr/>
        </p:nvSpPr>
        <p:spPr>
          <a:xfrm>
            <a:off x="256032" y="3090672"/>
            <a:ext cx="5623560" cy="804672"/>
          </a:xfrm>
          <a:prstGeom prst="roundRect">
            <a:avLst>
              <a:gd name="adj" fmla="val 20000"/>
            </a:avLst>
          </a:prstGeom>
          <a:solidFill>
            <a:srgbClr val="F0F4F8"/>
          </a:solidFill>
          <a:ln>
            <a:solidFill>
              <a:srgbClr val="F0F4F8"/>
            </a:solidFill>
          </a:ln>
        </p:spPr>
        <p:txBody>
          <a:bodyPr spcFirstLastPara="0" wrap="square" lIns="91425" tIns="45700" rIns="91425" bIns="45700" anchor="t" anchorCtr="0">
            <a:normAutofit/>
          </a:bodyPr>
          <a:lstStyle/>
          <a:p>
            <a:pPr marL="0" indent="0" algn="l">
              <a:lnSpc>
                <a:spcPct val="95000"/>
              </a:lnSpc>
              <a:spcBef>
                <a:spcPts val="200"/>
              </a:spcBef>
              <a:spcAft>
                <a:spcPts val="0"/>
              </a:spcAft>
              <a:buNone/>
            </a:pPr>
            <a:r>
              <a:rPr lang="en-US" sz="1450" b="0" dirty="0">
                <a:solidFill>
                  <a:srgbClr val="1A2535"/>
                </a:solidFill>
                <a:latin typeface="Calibri"/>
                <a:ea typeface="Calibri"/>
                <a:cs typeface="Calibri"/>
                <a:sym typeface="Calibri"/>
              </a:rPr>
              <a:t>[1]  Hamid et al. (2026) — XGBoost + SHAP. Journal of AI &amp; Engineering Applications, Vol.5</a:t>
            </a:r>
          </a:p>
        </p:txBody>
      </p:sp>
      <p:sp>
        <p:nvSpPr>
          <p:cNvPr id="32" name="RefL1"/>
          <p:cNvSpPr txBox="1">
            <a:spLocks/>
          </p:cNvSpPr>
          <p:nvPr/>
        </p:nvSpPr>
        <p:spPr>
          <a:xfrm>
            <a:off x="256032" y="4023360"/>
            <a:ext cx="5623560" cy="804672"/>
          </a:xfrm>
          <a:prstGeom prst="roundRect">
            <a:avLst>
              <a:gd name="adj" fmla="val 20000"/>
            </a:avLst>
          </a:prstGeom>
          <a:solidFill>
            <a:srgbClr val="F0F4F8"/>
          </a:solidFill>
          <a:ln>
            <a:solidFill>
              <a:srgbClr val="F0F4F8"/>
            </a:solidFill>
          </a:ln>
        </p:spPr>
        <p:txBody>
          <a:bodyPr spcFirstLastPara="0" wrap="square" lIns="91425" tIns="45700" rIns="91425" bIns="45700" anchor="t" anchorCtr="0">
            <a:normAutofit/>
          </a:bodyPr>
          <a:lstStyle/>
          <a:p>
            <a:pPr marL="0" indent="0" algn="l">
              <a:lnSpc>
                <a:spcPct val="95000"/>
              </a:lnSpc>
              <a:spcBef>
                <a:spcPts val="200"/>
              </a:spcBef>
              <a:spcAft>
                <a:spcPts val="0"/>
              </a:spcAft>
              <a:buNone/>
            </a:pPr>
            <a:r>
              <a:rPr lang="en-US" sz="1450" b="0" dirty="0">
                <a:solidFill>
                  <a:srgbClr val="1A2535"/>
                </a:solidFill>
                <a:latin typeface="Calibri"/>
                <a:ea typeface="Calibri"/>
                <a:cs typeface="Calibri"/>
                <a:sym typeface="Calibri"/>
              </a:rPr>
              <a:t>[2]  Chen &amp; Liu (2025) — ML for Academic Performance. Frontiers in Education, Vol.10</a:t>
            </a:r>
          </a:p>
        </p:txBody>
      </p:sp>
      <p:sp>
        <p:nvSpPr>
          <p:cNvPr id="33" name="RefL2"/>
          <p:cNvSpPr txBox="1">
            <a:spLocks/>
          </p:cNvSpPr>
          <p:nvPr/>
        </p:nvSpPr>
        <p:spPr>
          <a:xfrm>
            <a:off x="256032" y="4956048"/>
            <a:ext cx="5623560" cy="804672"/>
          </a:xfrm>
          <a:prstGeom prst="roundRect">
            <a:avLst>
              <a:gd name="adj" fmla="val 20000"/>
            </a:avLst>
          </a:prstGeom>
          <a:solidFill>
            <a:srgbClr val="F0F4F8"/>
          </a:solidFill>
          <a:ln>
            <a:solidFill>
              <a:srgbClr val="F0F4F8"/>
            </a:solidFill>
          </a:ln>
        </p:spPr>
        <p:txBody>
          <a:bodyPr spcFirstLastPara="0" wrap="square" lIns="91425" tIns="45700" rIns="91425" bIns="45700" anchor="t" anchorCtr="0">
            <a:normAutofit/>
          </a:bodyPr>
          <a:lstStyle/>
          <a:p>
            <a:pPr marL="0" indent="0" algn="l">
              <a:lnSpc>
                <a:spcPct val="95000"/>
              </a:lnSpc>
              <a:spcBef>
                <a:spcPts val="200"/>
              </a:spcBef>
              <a:spcAft>
                <a:spcPts val="0"/>
              </a:spcAft>
              <a:buNone/>
            </a:pPr>
            <a:r>
              <a:rPr lang="en-US" sz="1450" b="0" dirty="0">
                <a:solidFill>
                  <a:srgbClr val="1A2535"/>
                </a:solidFill>
                <a:latin typeface="Calibri"/>
                <a:ea typeface="Calibri"/>
                <a:cs typeface="Calibri"/>
                <a:sym typeface="Calibri"/>
              </a:rPr>
              <a:t>[3]  Rahman et al. (2025) — Hybrid XGBoost + SHAP for Dropout. PLOS One, Sep 2025</a:t>
            </a:r>
          </a:p>
        </p:txBody>
      </p:sp>
      <p:sp>
        <p:nvSpPr>
          <p:cNvPr id="40" name="RefR0"/>
          <p:cNvSpPr txBox="1">
            <a:spLocks/>
          </p:cNvSpPr>
          <p:nvPr/>
        </p:nvSpPr>
        <p:spPr>
          <a:xfrm>
            <a:off x="6080760" y="3090672"/>
            <a:ext cx="5852160" cy="804672"/>
          </a:xfrm>
          <a:prstGeom prst="roundRect">
            <a:avLst>
              <a:gd name="adj" fmla="val 20000"/>
            </a:avLst>
          </a:prstGeom>
          <a:solidFill>
            <a:srgbClr val="F0F4F8"/>
          </a:solidFill>
          <a:ln>
            <a:solidFill>
              <a:srgbClr val="F0F4F8"/>
            </a:solidFill>
          </a:ln>
        </p:spPr>
        <p:txBody>
          <a:bodyPr spcFirstLastPara="0" wrap="square" lIns="91425" tIns="45700" rIns="91425" bIns="45700" anchor="t" anchorCtr="0">
            <a:normAutofit/>
          </a:bodyPr>
          <a:lstStyle/>
          <a:p>
            <a:pPr marL="0" indent="0" algn="l">
              <a:lnSpc>
                <a:spcPct val="95000"/>
              </a:lnSpc>
              <a:spcBef>
                <a:spcPts val="200"/>
              </a:spcBef>
              <a:spcAft>
                <a:spcPts val="0"/>
              </a:spcAft>
              <a:buNone/>
            </a:pPr>
            <a:r>
              <a:rPr lang="en-US" sz="1450" b="0" dirty="0">
                <a:solidFill>
                  <a:srgbClr val="1A2535"/>
                </a:solidFill>
                <a:latin typeface="Calibri"/>
                <a:ea typeface="Calibri"/>
                <a:cs typeface="Calibri"/>
                <a:sym typeface="Calibri"/>
              </a:rPr>
              <a:t>[4]  Lundberg &amp; Lee (2017) — A Unified Approach to Interpreting Model Predictions. NeurIPS</a:t>
            </a:r>
          </a:p>
        </p:txBody>
      </p:sp>
      <p:sp>
        <p:nvSpPr>
          <p:cNvPr id="41" name="RefR1"/>
          <p:cNvSpPr txBox="1">
            <a:spLocks/>
          </p:cNvSpPr>
          <p:nvPr/>
        </p:nvSpPr>
        <p:spPr>
          <a:xfrm>
            <a:off x="6080760" y="4023360"/>
            <a:ext cx="5852160" cy="804672"/>
          </a:xfrm>
          <a:prstGeom prst="roundRect">
            <a:avLst>
              <a:gd name="adj" fmla="val 20000"/>
            </a:avLst>
          </a:prstGeom>
          <a:solidFill>
            <a:srgbClr val="F0F4F8"/>
          </a:solidFill>
          <a:ln>
            <a:solidFill>
              <a:srgbClr val="F0F4F8"/>
            </a:solidFill>
          </a:ln>
        </p:spPr>
        <p:txBody>
          <a:bodyPr spcFirstLastPara="0" wrap="square" lIns="91425" tIns="45700" rIns="91425" bIns="45700" anchor="t" anchorCtr="0">
            <a:normAutofit/>
          </a:bodyPr>
          <a:lstStyle/>
          <a:p>
            <a:pPr marL="0" indent="0" algn="l">
              <a:lnSpc>
                <a:spcPct val="95000"/>
              </a:lnSpc>
              <a:spcBef>
                <a:spcPts val="200"/>
              </a:spcBef>
              <a:spcAft>
                <a:spcPts val="0"/>
              </a:spcAft>
              <a:buNone/>
            </a:pPr>
            <a:r>
              <a:rPr lang="en-US" sz="1450" b="0" dirty="0">
                <a:solidFill>
                  <a:srgbClr val="1A2535"/>
                </a:solidFill>
                <a:latin typeface="Calibri"/>
                <a:ea typeface="Calibri"/>
                <a:cs typeface="Calibri"/>
                <a:sym typeface="Calibri"/>
              </a:rPr>
              <a:t>[5]  Chen &amp; Guestrin (2016) — XGBoost: A Scalable Tree Boosting System. KDD 2016</a:t>
            </a:r>
          </a:p>
        </p:txBody>
      </p:sp>
      <p:sp>
        <p:nvSpPr>
          <p:cNvPr id="42" name="RefR2"/>
          <p:cNvSpPr txBox="1">
            <a:spLocks/>
          </p:cNvSpPr>
          <p:nvPr/>
        </p:nvSpPr>
        <p:spPr>
          <a:xfrm>
            <a:off x="6080760" y="4956048"/>
            <a:ext cx="5852160" cy="804672"/>
          </a:xfrm>
          <a:prstGeom prst="roundRect">
            <a:avLst>
              <a:gd name="adj" fmla="val 20000"/>
            </a:avLst>
          </a:prstGeom>
          <a:solidFill>
            <a:srgbClr val="F0F4F8"/>
          </a:solidFill>
          <a:ln>
            <a:solidFill>
              <a:srgbClr val="F0F4F8"/>
            </a:solidFill>
          </a:ln>
        </p:spPr>
        <p:txBody>
          <a:bodyPr spcFirstLastPara="0" wrap="square" lIns="91425" tIns="45700" rIns="91425" bIns="45700" anchor="t" anchorCtr="0">
            <a:normAutofit/>
          </a:bodyPr>
          <a:lstStyle/>
          <a:p>
            <a:pPr marL="0" indent="0" algn="l">
              <a:lnSpc>
                <a:spcPct val="95000"/>
              </a:lnSpc>
              <a:spcBef>
                <a:spcPts val="200"/>
              </a:spcBef>
              <a:spcAft>
                <a:spcPts val="0"/>
              </a:spcAft>
              <a:buNone/>
            </a:pPr>
            <a:r>
              <a:rPr lang="en-US" sz="1450" b="0" dirty="0">
                <a:solidFill>
                  <a:srgbClr val="1A2535"/>
                </a:solidFill>
                <a:latin typeface="Calibri"/>
                <a:ea typeface="Calibri"/>
                <a:cs typeface="Calibri"/>
                <a:sym typeface="Calibri"/>
              </a:rPr>
              <a:t>[6]  El Kharoua (2024) — Students Performance Dataset. Kaggle</a:t>
            </a:r>
          </a:p>
        </p:txBody>
      </p:sp>
      <p:sp>
        <p:nvSpPr>
          <p:cNvPr id="50" name="Future"/>
          <p:cNvSpPr txBox="1">
            <a:spLocks/>
          </p:cNvSpPr>
          <p:nvPr/>
        </p:nvSpPr>
        <p:spPr>
          <a:xfrm>
            <a:off x="256032" y="5989320"/>
            <a:ext cx="11676888" cy="594360"/>
          </a:xfrm>
          <a:prstGeom prst="roundRect">
            <a:avLst>
              <a:gd name="adj" fmla="val 20000"/>
            </a:avLst>
          </a:prstGeom>
          <a:solidFill>
            <a:srgbClr val="1C2B4A"/>
          </a:solidFill>
          <a:ln>
            <a:solidFill>
              <a:srgbClr val="1C2B4A"/>
            </a:solidFill>
          </a:ln>
        </p:spPr>
        <p:txBody>
          <a:bodyPr spcFirstLastPara="0" wrap="square" lIns="45720" tIns="45720" rIns="45720" bIns="45720" anchor="ctr" anchorCtr="0">
            <a:normAutofit lnSpcReduction="10000"/>
          </a:bodyPr>
          <a:lstStyle/>
          <a:p>
            <a:pPr marL="0" indent="0" algn="ctr">
              <a:lnSpc>
                <a:spcPct val="90000"/>
              </a:lnSpc>
              <a:spcBef>
                <a:spcPts val="200"/>
              </a:spcBef>
              <a:spcAft>
                <a:spcPts val="0"/>
              </a:spcAft>
              <a:buNone/>
            </a:pPr>
            <a:r>
              <a:rPr lang="en-US" sz="1600" b="1" dirty="0">
                <a:solidFill>
                  <a:srgbClr val="C8973A"/>
                </a:solidFill>
                <a:latin typeface="Calibri"/>
                <a:ea typeface="Calibri"/>
                <a:cs typeface="Calibri"/>
                <a:sym typeface="Calibri"/>
              </a:rPr>
              <a:t>Future Work:  Streamlit Cloud deployment  ·  Real Indian school data  ·  Multi-class risk  ·  SHAP vs LIME comparison  ·  LSTM temporal modeling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Grp"/>
        <p:cNvGrpSpPr/>
        <p:nvPr/>
      </p:nvGrpSpPr>
      <p:grpSpPr>
        <a:xfrm>
          <a:off x="0" y="0"/>
          <a:ext cx="0" cy="0"/>
          <a:chOff x="0" y="0"/>
          <a:chExt cx="0" cy="0"/>
        </a:xfrm>
      </p:grpSpPr>
      <p:sp>
        <p:nvSpPr>
          <p:cNvPr id="10" name="DarkBg"/>
          <p:cNvSpPr txBox="1">
            <a:spLocks/>
          </p:cNvSpPr>
          <p:nvPr/>
        </p:nvSpPr>
        <p:spPr>
          <a:xfrm>
            <a:off x="0" y="0"/>
            <a:ext cx="12188952" cy="6858000"/>
          </a:xfrm>
          <a:prstGeom prst="rect">
            <a:avLst/>
          </a:prstGeom>
          <a:solidFill>
            <a:srgbClr val="1C2B4A"/>
          </a:solidFill>
          <a:ln>
            <a:solidFill>
              <a:srgbClr val="1C2B4A"/>
            </a:solidFill>
          </a:ln>
        </p:spPr>
      </p:sp>
      <p:sp>
        <p:nvSpPr>
          <p:cNvPr id="11" name="AccentL"/>
          <p:cNvSpPr txBox="1">
            <a:spLocks/>
          </p:cNvSpPr>
          <p:nvPr/>
        </p:nvSpPr>
        <p:spPr>
          <a:xfrm>
            <a:off x="0" y="0"/>
            <a:ext cx="109728" cy="6858000"/>
          </a:xfrm>
          <a:prstGeom prst="rect">
            <a:avLst/>
          </a:prstGeom>
          <a:solidFill>
            <a:srgbClr val="8B0000"/>
          </a:solidFill>
          <a:ln>
            <a:solidFill>
              <a:srgbClr val="8B0000"/>
            </a:solidFill>
          </a:ln>
        </p:spPr>
      </p:sp>
      <p:sp>
        <p:nvSpPr>
          <p:cNvPr id="12" name="GoldT"/>
          <p:cNvSpPr txBox="1">
            <a:spLocks/>
          </p:cNvSpPr>
          <p:nvPr/>
        </p:nvSpPr>
        <p:spPr>
          <a:xfrm>
            <a:off x="109728" y="0"/>
            <a:ext cx="12079224" cy="54864"/>
          </a:xfrm>
          <a:prstGeom prst="rect">
            <a:avLst/>
          </a:prstGeom>
          <a:solidFill>
            <a:srgbClr val="C8973A"/>
          </a:solidFill>
          <a:ln>
            <a:solidFill>
              <a:srgbClr val="C8973A"/>
            </a:solidFill>
          </a:ln>
        </p:spPr>
      </p:sp>
      <p:sp>
        <p:nvSpPr>
          <p:cNvPr id="13" name="Watermark"/>
          <p:cNvSpPr txBox="1">
            <a:spLocks/>
          </p:cNvSpPr>
          <p:nvPr/>
        </p:nvSpPr>
        <p:spPr>
          <a:xfrm>
            <a:off x="914400" y="2011680"/>
            <a:ext cx="10360152" cy="2286000"/>
          </a:xfrm>
          <a:prstGeom prst="rect">
            <a:avLst/>
          </a:prstGeom>
          <a:noFill/>
          <a:ln>
            <a:noFill/>
          </a:ln>
        </p:spPr>
        <p:txBody>
          <a:bodyPr spcFirstLastPara="0" wrap="square" lIns="91425" tIns="45700" rIns="91425" bIns="45700" anchor="ctr" anchorCtr="0">
            <a:normAutofit fontScale="92500" lnSpcReduction="10000"/>
          </a:bodyPr>
          <a:lstStyle/>
          <a:p>
            <a:pPr marL="0" indent="0" algn="ctr">
              <a:lnSpc>
                <a:spcPct val="90000"/>
              </a:lnSpc>
              <a:spcBef>
                <a:spcPts val="0"/>
              </a:spcBef>
              <a:spcAft>
                <a:spcPts val="0"/>
              </a:spcAft>
              <a:buNone/>
            </a:pPr>
            <a:r>
              <a:rPr lang="en-US" sz="18000" b="1" dirty="0">
                <a:solidFill>
                  <a:srgbClr val="1E3050"/>
                </a:solidFill>
                <a:latin typeface="Calibri"/>
                <a:ea typeface="Calibri"/>
                <a:cs typeface="Calibri"/>
                <a:sym typeface="Calibri"/>
              </a:rPr>
              <a:t>IILM</a:t>
            </a:r>
          </a:p>
        </p:txBody>
      </p:sp>
      <p:sp>
        <p:nvSpPr>
          <p:cNvPr id="14" name="WMsub"/>
          <p:cNvSpPr txBox="1">
            <a:spLocks/>
          </p:cNvSpPr>
          <p:nvPr/>
        </p:nvSpPr>
        <p:spPr>
          <a:xfrm>
            <a:off x="914400" y="3977639"/>
            <a:ext cx="10360152" cy="640080"/>
          </a:xfrm>
          <a:prstGeom prst="rect">
            <a:avLst/>
          </a:prstGeom>
          <a:noFill/>
          <a:ln>
            <a:noFill/>
          </a:ln>
        </p:spPr>
        <p:txBody>
          <a:bodyPr spcFirstLastPara="0" wrap="square" lIns="91425" tIns="45700" rIns="91425" bIns="45700" anchor="ctr" anchorCtr="0">
            <a:normAutofit/>
          </a:bodyPr>
          <a:lstStyle/>
          <a:p>
            <a:pPr marL="0" indent="0" algn="ctr">
              <a:lnSpc>
                <a:spcPct val="90000"/>
              </a:lnSpc>
              <a:spcBef>
                <a:spcPts val="0"/>
              </a:spcBef>
              <a:spcAft>
                <a:spcPts val="0"/>
              </a:spcAft>
              <a:buNone/>
            </a:pPr>
            <a:r>
              <a:rPr lang="en-US" sz="4000" b="1" dirty="0">
                <a:solidFill>
                  <a:srgbClr val="1E3050"/>
                </a:solidFill>
                <a:latin typeface="Calibri"/>
                <a:ea typeface="Calibri"/>
                <a:cs typeface="Calibri"/>
                <a:sym typeface="Calibri"/>
              </a:rPr>
              <a:t>UNIVERSITY</a:t>
            </a:r>
          </a:p>
        </p:txBody>
      </p:sp>
      <p:sp>
        <p:nvSpPr>
          <p:cNvPr id="15" name="TY"/>
          <p:cNvSpPr txBox="1">
            <a:spLocks/>
          </p:cNvSpPr>
          <p:nvPr/>
        </p:nvSpPr>
        <p:spPr>
          <a:xfrm>
            <a:off x="457200" y="1371600"/>
            <a:ext cx="11274552" cy="1280160"/>
          </a:xfrm>
          <a:prstGeom prst="rect">
            <a:avLst/>
          </a:prstGeom>
          <a:noFill/>
          <a:ln>
            <a:noFill/>
          </a:ln>
        </p:spPr>
        <p:txBody>
          <a:bodyPr spcFirstLastPara="0" wrap="square" lIns="91425" tIns="45700" rIns="91425" bIns="45700" anchor="ctr" anchorCtr="0">
            <a:normAutofit/>
          </a:bodyPr>
          <a:lstStyle/>
          <a:p>
            <a:pPr marL="0" indent="0" algn="ctr">
              <a:lnSpc>
                <a:spcPct val="90000"/>
              </a:lnSpc>
              <a:spcBef>
                <a:spcPts val="0"/>
              </a:spcBef>
              <a:spcAft>
                <a:spcPts val="0"/>
              </a:spcAft>
              <a:buNone/>
            </a:pPr>
            <a:r>
              <a:rPr lang="en-US" sz="7200" b="1" dirty="0">
                <a:solidFill>
                  <a:srgbClr val="FFFFFF"/>
                </a:solidFill>
                <a:latin typeface="Calibri"/>
                <a:ea typeface="Calibri"/>
                <a:cs typeface="Calibri"/>
                <a:sym typeface="Calibri"/>
              </a:rPr>
              <a:t>Thank You</a:t>
            </a:r>
          </a:p>
        </p:txBody>
      </p:sp>
      <p:sp>
        <p:nvSpPr>
          <p:cNvPr id="16" name="GLine"/>
          <p:cNvSpPr txBox="1">
            <a:spLocks/>
          </p:cNvSpPr>
          <p:nvPr/>
        </p:nvSpPr>
        <p:spPr>
          <a:xfrm>
            <a:off x="3200400" y="2834640"/>
            <a:ext cx="5788152" cy="54864"/>
          </a:xfrm>
          <a:prstGeom prst="rect">
            <a:avLst/>
          </a:prstGeom>
          <a:solidFill>
            <a:srgbClr val="C8973A"/>
          </a:solidFill>
          <a:ln>
            <a:solidFill>
              <a:srgbClr val="C8973A"/>
            </a:solidFill>
          </a:ln>
        </p:spPr>
      </p:sp>
      <p:sp>
        <p:nvSpPr>
          <p:cNvPr id="17" name="Team"/>
          <p:cNvSpPr txBox="1">
            <a:spLocks/>
          </p:cNvSpPr>
          <p:nvPr/>
        </p:nvSpPr>
        <p:spPr>
          <a:xfrm>
            <a:off x="457200" y="2999232"/>
            <a:ext cx="11274552" cy="594360"/>
          </a:xfrm>
          <a:prstGeom prst="rect">
            <a:avLst/>
          </a:prstGeom>
          <a:noFill/>
          <a:ln>
            <a:noFill/>
          </a:ln>
        </p:spPr>
        <p:txBody>
          <a:bodyPr spcFirstLastPara="0" wrap="square" lIns="91425" tIns="45700" rIns="91425" bIns="45700" anchor="ctr" anchorCtr="0">
            <a:normAutofit/>
          </a:bodyPr>
          <a:lstStyle/>
          <a:p>
            <a:pPr algn="ctr">
              <a:lnSpc>
                <a:spcPct val="90000"/>
              </a:lnSpc>
            </a:pPr>
            <a:r>
              <a:rPr lang="en-US" sz="2000" b="1" dirty="0">
                <a:solidFill>
                  <a:srgbClr val="FFFFFF"/>
                </a:solidFill>
                <a:latin typeface="Calibri"/>
                <a:ea typeface="Calibri"/>
                <a:cs typeface="Calibri"/>
                <a:sym typeface="Calibri"/>
              </a:rPr>
              <a:t>Yadav Hitesh Shravan  ·  Mayank Jaiswal  ·  Ritesh Raj  ·  Shubham Thakur · Alok Kumar</a:t>
            </a:r>
          </a:p>
        </p:txBody>
      </p:sp>
      <p:sp>
        <p:nvSpPr>
          <p:cNvPr id="18" name="Guide"/>
          <p:cNvSpPr txBox="1">
            <a:spLocks/>
          </p:cNvSpPr>
          <p:nvPr/>
        </p:nvSpPr>
        <p:spPr>
          <a:xfrm>
            <a:off x="457200" y="3639312"/>
            <a:ext cx="11274552" cy="411480"/>
          </a:xfrm>
          <a:prstGeom prst="rect">
            <a:avLst/>
          </a:prstGeom>
          <a:noFill/>
          <a:ln>
            <a:noFill/>
          </a:ln>
        </p:spPr>
        <p:txBody>
          <a:bodyPr spcFirstLastPara="0" wrap="square" lIns="91425" tIns="45700" rIns="91425" bIns="45700" anchor="ctr" anchorCtr="0">
            <a:normAutofit/>
          </a:bodyPr>
          <a:lstStyle/>
          <a:p>
            <a:pPr marL="0" indent="0" algn="ctr">
              <a:lnSpc>
                <a:spcPct val="90000"/>
              </a:lnSpc>
              <a:spcBef>
                <a:spcPts val="200"/>
              </a:spcBef>
              <a:spcAft>
                <a:spcPts val="0"/>
              </a:spcAft>
              <a:buNone/>
            </a:pPr>
            <a:r>
              <a:rPr lang="en-US" sz="1600" b="0" i="1" dirty="0">
                <a:solidFill>
                  <a:srgbClr val="8A9BB0"/>
                </a:solidFill>
                <a:latin typeface="Calibri"/>
                <a:ea typeface="Calibri"/>
                <a:cs typeface="Calibri"/>
                <a:sym typeface="Calibri"/>
              </a:rPr>
              <a:t>Guided by: Ms. Komal Salgotra  ·  IILM University, Greater Noida  ·  May 2026</a:t>
            </a:r>
          </a:p>
        </p:txBody>
      </p:sp>
      <p:sp>
        <p:nvSpPr>
          <p:cNvPr id="20" name="Stat0"/>
          <p:cNvSpPr txBox="1">
            <a:spLocks/>
          </p:cNvSpPr>
          <p:nvPr/>
        </p:nvSpPr>
        <p:spPr>
          <a:xfrm>
            <a:off x="1371600" y="4297680"/>
            <a:ext cx="2011680" cy="914400"/>
          </a:xfrm>
          <a:prstGeom prst="roundRect">
            <a:avLst>
              <a:gd name="adj" fmla="val 20000"/>
            </a:avLst>
          </a:prstGeom>
          <a:solidFill>
            <a:srgbClr val="1E3A5A"/>
          </a:solidFill>
          <a:ln>
            <a:solidFill>
              <a:srgbClr val="1E3A5A"/>
            </a:solidFill>
          </a:ln>
        </p:spPr>
        <p:txBody>
          <a:bodyPr spcFirstLastPara="0" wrap="square" lIns="45720" tIns="45720" rIns="45720" bIns="45720" anchor="ctr" anchorCtr="0">
            <a:normAutofit/>
          </a:bodyPr>
          <a:lstStyle/>
          <a:p>
            <a:pPr marL="0" indent="0" algn="ctr">
              <a:lnSpc>
                <a:spcPct val="90000"/>
              </a:lnSpc>
              <a:spcBef>
                <a:spcPts val="0"/>
              </a:spcBef>
              <a:spcAft>
                <a:spcPts val="0"/>
              </a:spcAft>
              <a:buNone/>
            </a:pPr>
            <a:r>
              <a:rPr lang="en-US" sz="2400" b="1" dirty="0">
                <a:solidFill>
                  <a:srgbClr val="C8973A"/>
                </a:solidFill>
                <a:latin typeface="Calibri"/>
                <a:ea typeface="Calibri"/>
                <a:cs typeface="Calibri"/>
                <a:sym typeface="Calibri"/>
              </a:rPr>
              <a:t>93.32%</a:t>
            </a:r>
          </a:p>
          <a:p>
            <a:pPr marL="0" indent="0" algn="ctr">
              <a:lnSpc>
                <a:spcPct val="90000"/>
              </a:lnSpc>
              <a:spcBef>
                <a:spcPts val="80"/>
              </a:spcBef>
              <a:spcAft>
                <a:spcPts val="0"/>
              </a:spcAft>
              <a:buNone/>
            </a:pPr>
            <a:r>
              <a:rPr lang="en-US" sz="1400" b="0" dirty="0">
                <a:solidFill>
                  <a:srgbClr val="8A9BB0"/>
                </a:solidFill>
                <a:latin typeface="Calibri"/>
                <a:ea typeface="Calibri"/>
                <a:cs typeface="Calibri"/>
                <a:sym typeface="Calibri"/>
              </a:rPr>
              <a:t>Accuracy</a:t>
            </a:r>
          </a:p>
        </p:txBody>
      </p:sp>
      <p:sp>
        <p:nvSpPr>
          <p:cNvPr id="21" name="Stat1"/>
          <p:cNvSpPr txBox="1">
            <a:spLocks/>
          </p:cNvSpPr>
          <p:nvPr/>
        </p:nvSpPr>
        <p:spPr>
          <a:xfrm>
            <a:off x="3749039" y="4297680"/>
            <a:ext cx="2011680" cy="914400"/>
          </a:xfrm>
          <a:prstGeom prst="roundRect">
            <a:avLst>
              <a:gd name="adj" fmla="val 20000"/>
            </a:avLst>
          </a:prstGeom>
          <a:solidFill>
            <a:srgbClr val="1E3A5A"/>
          </a:solidFill>
          <a:ln>
            <a:solidFill>
              <a:srgbClr val="1E3A5A"/>
            </a:solidFill>
          </a:ln>
        </p:spPr>
        <p:txBody>
          <a:bodyPr spcFirstLastPara="0" wrap="square" lIns="45720" tIns="45720" rIns="45720" bIns="45720" anchor="ctr" anchorCtr="0">
            <a:normAutofit/>
          </a:bodyPr>
          <a:lstStyle/>
          <a:p>
            <a:pPr marL="0" indent="0" algn="ctr">
              <a:lnSpc>
                <a:spcPct val="90000"/>
              </a:lnSpc>
              <a:spcBef>
                <a:spcPts val="0"/>
              </a:spcBef>
              <a:spcAft>
                <a:spcPts val="0"/>
              </a:spcAft>
              <a:buNone/>
            </a:pPr>
            <a:r>
              <a:rPr lang="en-US" sz="2400" b="1" dirty="0">
                <a:solidFill>
                  <a:srgbClr val="C8973A"/>
                </a:solidFill>
                <a:latin typeface="Calibri"/>
                <a:ea typeface="Calibri"/>
                <a:cs typeface="Calibri"/>
                <a:sym typeface="Calibri"/>
              </a:rPr>
              <a:t>0.94</a:t>
            </a:r>
          </a:p>
          <a:p>
            <a:pPr marL="0" indent="0" algn="ctr">
              <a:lnSpc>
                <a:spcPct val="90000"/>
              </a:lnSpc>
              <a:spcBef>
                <a:spcPts val="80"/>
              </a:spcBef>
              <a:spcAft>
                <a:spcPts val="0"/>
              </a:spcAft>
              <a:buNone/>
            </a:pPr>
            <a:r>
              <a:rPr lang="en-US" sz="1400" b="0" dirty="0">
                <a:solidFill>
                  <a:srgbClr val="8A9BB0"/>
                </a:solidFill>
                <a:latin typeface="Calibri"/>
                <a:ea typeface="Calibri"/>
                <a:cs typeface="Calibri"/>
                <a:sym typeface="Calibri"/>
              </a:rPr>
              <a:t>Recall</a:t>
            </a:r>
          </a:p>
        </p:txBody>
      </p:sp>
      <p:sp>
        <p:nvSpPr>
          <p:cNvPr id="22" name="Stat2"/>
          <p:cNvSpPr txBox="1">
            <a:spLocks/>
          </p:cNvSpPr>
          <p:nvPr/>
        </p:nvSpPr>
        <p:spPr>
          <a:xfrm>
            <a:off x="6126480" y="4297680"/>
            <a:ext cx="2011680" cy="914400"/>
          </a:xfrm>
          <a:prstGeom prst="roundRect">
            <a:avLst>
              <a:gd name="adj" fmla="val 20000"/>
            </a:avLst>
          </a:prstGeom>
          <a:solidFill>
            <a:srgbClr val="1E3A5A"/>
          </a:solidFill>
          <a:ln>
            <a:solidFill>
              <a:srgbClr val="1E3A5A"/>
            </a:solidFill>
          </a:ln>
        </p:spPr>
        <p:txBody>
          <a:bodyPr spcFirstLastPara="0" wrap="square" lIns="45720" tIns="45720" rIns="45720" bIns="45720" anchor="ctr" anchorCtr="0">
            <a:normAutofit/>
          </a:bodyPr>
          <a:lstStyle/>
          <a:p>
            <a:pPr marL="0" indent="0" algn="ctr">
              <a:lnSpc>
                <a:spcPct val="90000"/>
              </a:lnSpc>
              <a:spcBef>
                <a:spcPts val="0"/>
              </a:spcBef>
              <a:spcAft>
                <a:spcPts val="0"/>
              </a:spcAft>
              <a:buNone/>
            </a:pPr>
            <a:r>
              <a:rPr lang="en-US" sz="2400" b="1" dirty="0">
                <a:solidFill>
                  <a:srgbClr val="C8973A"/>
                </a:solidFill>
                <a:latin typeface="Calibri"/>
                <a:ea typeface="Calibri"/>
                <a:cs typeface="Calibri"/>
                <a:sym typeface="Calibri"/>
              </a:rPr>
              <a:t>3 Gaps</a:t>
            </a:r>
          </a:p>
          <a:p>
            <a:pPr marL="0" indent="0" algn="ctr">
              <a:lnSpc>
                <a:spcPct val="90000"/>
              </a:lnSpc>
              <a:spcBef>
                <a:spcPts val="80"/>
              </a:spcBef>
              <a:spcAft>
                <a:spcPts val="0"/>
              </a:spcAft>
              <a:buNone/>
            </a:pPr>
            <a:r>
              <a:rPr lang="en-US" sz="1400" b="0" dirty="0">
                <a:solidFill>
                  <a:srgbClr val="8A9BB0"/>
                </a:solidFill>
                <a:latin typeface="Calibri"/>
                <a:ea typeface="Calibri"/>
                <a:cs typeface="Calibri"/>
                <a:sym typeface="Calibri"/>
              </a:rPr>
              <a:t>Solved</a:t>
            </a:r>
          </a:p>
        </p:txBody>
      </p:sp>
      <p:sp>
        <p:nvSpPr>
          <p:cNvPr id="23" name="Stat3"/>
          <p:cNvSpPr txBox="1">
            <a:spLocks/>
          </p:cNvSpPr>
          <p:nvPr/>
        </p:nvSpPr>
        <p:spPr>
          <a:xfrm>
            <a:off x="8503920" y="4297680"/>
            <a:ext cx="2011680" cy="914400"/>
          </a:xfrm>
          <a:prstGeom prst="roundRect">
            <a:avLst>
              <a:gd name="adj" fmla="val 20000"/>
            </a:avLst>
          </a:prstGeom>
          <a:solidFill>
            <a:srgbClr val="1E3A5A"/>
          </a:solidFill>
          <a:ln>
            <a:solidFill>
              <a:srgbClr val="1E3A5A"/>
            </a:solidFill>
          </a:ln>
        </p:spPr>
        <p:txBody>
          <a:bodyPr spcFirstLastPara="0" wrap="square" lIns="45720" tIns="45720" rIns="45720" bIns="45720" anchor="ctr" anchorCtr="0">
            <a:normAutofit/>
          </a:bodyPr>
          <a:lstStyle/>
          <a:p>
            <a:pPr marL="0" indent="0" algn="ctr">
              <a:lnSpc>
                <a:spcPct val="90000"/>
              </a:lnSpc>
              <a:spcBef>
                <a:spcPts val="0"/>
              </a:spcBef>
              <a:spcAft>
                <a:spcPts val="0"/>
              </a:spcAft>
              <a:buNone/>
            </a:pPr>
            <a:r>
              <a:rPr lang="en-US" sz="2400" b="1" dirty="0">
                <a:solidFill>
                  <a:srgbClr val="C8973A"/>
                </a:solidFill>
                <a:latin typeface="Calibri"/>
                <a:ea typeface="Calibri"/>
                <a:cs typeface="Calibri"/>
                <a:sym typeface="Calibri"/>
              </a:rPr>
              <a:t>Streamlit</a:t>
            </a:r>
          </a:p>
          <a:p>
            <a:pPr marL="0" indent="0" algn="ctr">
              <a:lnSpc>
                <a:spcPct val="90000"/>
              </a:lnSpc>
              <a:spcBef>
                <a:spcPts val="80"/>
              </a:spcBef>
              <a:spcAft>
                <a:spcPts val="0"/>
              </a:spcAft>
              <a:buNone/>
            </a:pPr>
            <a:r>
              <a:rPr lang="en-US" sz="1400" b="0" dirty="0">
                <a:solidFill>
                  <a:srgbClr val="8A9BB0"/>
                </a:solidFill>
                <a:latin typeface="Calibri"/>
                <a:ea typeface="Calibri"/>
                <a:cs typeface="Calibri"/>
                <a:sym typeface="Calibri"/>
              </a:rPr>
              <a:t>Deployed</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1874</Words>
  <Application>Microsoft Office PowerPoint</Application>
  <PresentationFormat>Widescreen</PresentationFormat>
  <Paragraphs>359</Paragraphs>
  <Slides>15</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Courier New</vt:lpstr>
      <vt:lpstr>Arial</vt:lpstr>
      <vt:lpstr>Play</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School of Computer Science and Engineering B.Tech (CSE) ….. Semester</dc:title>
  <dc:creator>Anil Saroliya</dc:creator>
  <cp:lastModifiedBy>Mayank Jaiswal</cp:lastModifiedBy>
  <cp:revision>4</cp:revision>
  <dcterms:created xsi:type="dcterms:W3CDTF">2025-07-19T19:52:25Z</dcterms:created>
  <dcterms:modified xsi:type="dcterms:W3CDTF">2026-05-05T18:10:29Z</dcterms:modified>
</cp:coreProperties>
</file>